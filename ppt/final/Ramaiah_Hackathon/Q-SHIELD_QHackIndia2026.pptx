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66" r:id="rId17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8288000" cy="10287000"/>
  <p:notesSz cx="6858000" cy="9144000"/>
  <p:embeddedFontLst>
    <p:embeddedFont>
      <p:font typeface="IBM Plex Sans" charset="1" panose="020B05030502030002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6" Type="http://schemas.openxmlformats.org/officeDocument/2006/relationships/font" Target="fonts/font16.fntdata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name, lead name and track are left as [ to fill ]: they were not supplied and must not be invented. Problem statement title: Q-SHIELD, continuous device trust with post-quantum-signed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compromise on the timeline happens after a successful login, so the device keeps its access. The quantum angle is the motivation for post-quantum signatures on the evidence path (next slides).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Threat model from docs/architecture/trust-engine.md (sections 4.5, 5, 9). FIPS 203 and FIPS 204 were published by NIST in August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novelty is the loop, not one algorithm. Pink marks the two steps one-time authentication lacks: enforcement and earned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Shor's algorithm (1994) breaks factoring and discrete-log based schemes (RSA, ECDSA, ECDH). Grover's algorithm (1996) gives at most a quadratic speed-up for search, so 256-bit symmetric keys and SHA-256 keep a large margin. Numbers: docs/results/pqc-benchmark.json (i7-13700HX, pqcrypto 1.0.0, Python bindings). ECDSA P-256 raw signature: 64 bytes.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Pink outline = post-quantum components. The device lane authenticates with HMAC-SHA256; the vision lane uses an ML-KEM-768 session carrying ML-DSA-65 signed observations. The trust engine decides; the gateway enforces. Sources: backend/api/app.py, backend/trust/, backend/security/session.py.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Handshake: backend/security/session.py. Signed observations: backend/protocol/signed_observation.py. Evidence chain: backend/evidence/chain.py (context qshield/evidence/v1); not anchored externally, so cutting the tail needs an outside copy of the head. Numbers: docs/results/pqc-benchmark.json.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Weights and caps: docs/architecture/trust-engine.md (design choices, not calibrated). Camera checks: ai/vision/health.py and ai/vision/proximity.py; tested on synthetic frames; on the live USB webcam a moving person produced no false camera-health report in 2 x 90 s. Covering, turning and freezing the real camera have not been staged. Proximity is image-space: no distance is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marked REAL runs and is tested (785 Python and 40 JS tests). Device telemetry comes from a labelled software agent; attacks come from attack_simulation/ and are labelled; the ESP32 firmware has never been compiled. Repository: github.com/Zynx095/Q-shield.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run of scripts/demo_full.py --webcam --pace 2 --hold: 100 -&gt; 90 (real detections) -&gt; 80 (forged) -&gt; 72 SUSPICIOUS (replay) -&gt; 30 QUARANTINED (tamper + signed visual) -&gt; VERIFIED 30 -&gt; RECOVERED 80 -&gt; TRUSTED 85; evidence chain 26 entries, VERIFIED. Tests: python -m pytest (785 passed), node --test (40). ACVP: pqc/README.md. Detection accuracy has not been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from docs/hardware/hardware-architecture.md section 2 and docs/IMPLEMENTATION_STATUS.md 'What is left'. Nothing here has been done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links are public. The repository contains the specifications (docs/architecture), the test and benchmark results (docs/results, docs/testing.md) and the limitations (README.md).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notesSlide" Target="../notesSlides/notesSlide12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0647" y="2730987"/>
            <a:ext cx="5634028" cy="6185198"/>
            <a:chOff x="0" y="0"/>
            <a:chExt cx="15229294" cy="167191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29332" cy="16719131"/>
            </a:xfrm>
            <a:custGeom>
              <a:avLst/>
              <a:gdLst/>
              <a:ahLst/>
              <a:cxnLst/>
              <a:rect r="r" b="b" t="t" l="l"/>
              <a:pathLst>
                <a:path h="16719131" w="15229332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7" r="0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5554011" y="1808824"/>
            <a:ext cx="5931138" cy="1977046"/>
          </a:xfrm>
          <a:custGeom>
            <a:avLst/>
            <a:gdLst/>
            <a:ahLst/>
            <a:cxnLst/>
            <a:rect r="r" b="b" t="t" l="l"/>
            <a:pathLst>
              <a:path h="1977046" w="5931138">
                <a:moveTo>
                  <a:pt x="0" y="0"/>
                </a:moveTo>
                <a:lnTo>
                  <a:pt x="5931138" y="0"/>
                </a:lnTo>
                <a:lnTo>
                  <a:pt x="5931138" y="1977046"/>
                </a:lnTo>
                <a:lnTo>
                  <a:pt x="0" y="1977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91128" y="4301489"/>
            <a:ext cx="3086100" cy="613411"/>
            <a:chOff x="0" y="0"/>
            <a:chExt cx="812800" cy="1615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61557"/>
            </a:xfrm>
            <a:custGeom>
              <a:avLst/>
              <a:gdLst/>
              <a:ahLst/>
              <a:cxnLst/>
              <a:rect r="r" b="b" t="t" l="l"/>
              <a:pathLst>
                <a:path h="161557" w="812800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1128" y="5253037"/>
            <a:ext cx="4142956" cy="613411"/>
            <a:chOff x="0" y="0"/>
            <a:chExt cx="1091149" cy="16155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1149" cy="161557"/>
            </a:xfrm>
            <a:custGeom>
              <a:avLst/>
              <a:gdLst/>
              <a:ahLst/>
              <a:cxnLst/>
              <a:rect r="r" b="b" t="t" l="l"/>
              <a:pathLst>
                <a:path h="161557" w="1091149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91128" y="6152199"/>
            <a:ext cx="2306166" cy="613411"/>
            <a:chOff x="0" y="0"/>
            <a:chExt cx="607385" cy="1615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7385" cy="161557"/>
            </a:xfrm>
            <a:custGeom>
              <a:avLst/>
              <a:gdLst/>
              <a:ahLst/>
              <a:cxnLst/>
              <a:rect r="r" b="b" t="t" l="l"/>
              <a:pathLst>
                <a:path h="161557" w="607385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91128" y="7046598"/>
            <a:ext cx="5382396" cy="641986"/>
            <a:chOff x="0" y="0"/>
            <a:chExt cx="1417586" cy="16908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040466" y="491958"/>
            <a:ext cx="5063940" cy="701725"/>
          </a:xfrm>
          <a:custGeom>
            <a:avLst/>
            <a:gdLst/>
            <a:ahLst/>
            <a:cxnLst/>
            <a:rect r="r" b="b" t="t" l="l"/>
            <a:pathLst>
              <a:path h="701725" w="5063940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3680" r="0" b="-92978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797895" y="180935"/>
            <a:ext cx="1288097" cy="1323772"/>
          </a:xfrm>
          <a:custGeom>
            <a:avLst/>
            <a:gdLst/>
            <a:ahLst/>
            <a:cxnLst/>
            <a:rect r="r" b="b" t="t" l="l"/>
            <a:pathLst>
              <a:path h="1323772" w="1288097">
                <a:moveTo>
                  <a:pt x="0" y="0"/>
                </a:moveTo>
                <a:lnTo>
                  <a:pt x="1288097" y="0"/>
                </a:lnTo>
                <a:lnTo>
                  <a:pt x="1288097" y="1323771"/>
                </a:lnTo>
                <a:lnTo>
                  <a:pt x="0" y="13237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5" t="-25223" r="-28835" b="-18316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83426" y="378579"/>
            <a:ext cx="3690501" cy="1185729"/>
          </a:xfrm>
          <a:custGeom>
            <a:avLst/>
            <a:gdLst/>
            <a:ahLst/>
            <a:cxnLst/>
            <a:rect r="r" b="b" t="t" l="l"/>
            <a:pathLst>
              <a:path h="1185729" w="3690501">
                <a:moveTo>
                  <a:pt x="0" y="0"/>
                </a:moveTo>
                <a:lnTo>
                  <a:pt x="3690501" y="0"/>
                </a:lnTo>
                <a:lnTo>
                  <a:pt x="3690501" y="1185729"/>
                </a:lnTo>
                <a:lnTo>
                  <a:pt x="0" y="11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0769" r="0" b="-7813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66719" y="336677"/>
            <a:ext cx="3036860" cy="1012287"/>
          </a:xfrm>
          <a:custGeom>
            <a:avLst/>
            <a:gdLst/>
            <a:ahLst/>
            <a:cxnLst/>
            <a:rect r="r" b="b" t="t" l="l"/>
            <a:pathLst>
              <a:path h="1012287" w="3036860">
                <a:moveTo>
                  <a:pt x="0" y="0"/>
                </a:moveTo>
                <a:lnTo>
                  <a:pt x="3036860" y="0"/>
                </a:lnTo>
                <a:lnTo>
                  <a:pt x="3036860" y="1012287"/>
                </a:lnTo>
                <a:lnTo>
                  <a:pt x="0" y="1012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4634084" y="173017"/>
            <a:ext cx="2192261" cy="1276152"/>
          </a:xfrm>
          <a:custGeom>
            <a:avLst/>
            <a:gdLst/>
            <a:ahLst/>
            <a:cxnLst/>
            <a:rect r="r" b="b" t="t" l="l"/>
            <a:pathLst>
              <a:path h="1276152" w="2192261">
                <a:moveTo>
                  <a:pt x="0" y="0"/>
                </a:moveTo>
                <a:lnTo>
                  <a:pt x="2192261" y="0"/>
                </a:lnTo>
                <a:lnTo>
                  <a:pt x="2192261" y="1276152"/>
                </a:lnTo>
                <a:lnTo>
                  <a:pt x="0" y="12761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4297680"/>
            <a:ext cx="2816352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Team Name: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13048" y="4297680"/>
            <a:ext cx="4572000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[ to fill 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5248656"/>
            <a:ext cx="3867912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Team Lead Name: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5248656"/>
            <a:ext cx="4572000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[ to fill 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6153912"/>
            <a:ext cx="2029968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Track: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26664" y="6153912"/>
            <a:ext cx="4572000" cy="6126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[ to fill 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7050024"/>
            <a:ext cx="5111496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Problem Statement title: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7818120"/>
            <a:ext cx="10972800" cy="1691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Q-SHIELD: continuous device trust with post-quantum-signed evidence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Authentication answers </a:t>
            </a:r>
            <a:r>
              <a:rPr sz="19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who are you</a:t>
            </a: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 once. Q-SHIELD keeps asking </a:t>
            </a:r>
            <a:r>
              <a:rPr sz="19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can you still be trusted</a:t>
            </a: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211399" y="1893761"/>
            <a:ext cx="3009085" cy="641986"/>
            <a:chOff x="0" y="0"/>
            <a:chExt cx="79251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2516" cy="169083"/>
            </a:xfrm>
            <a:custGeom>
              <a:avLst/>
              <a:gdLst/>
              <a:ahLst/>
              <a:cxnLst/>
              <a:rect r="r" b="b" t="t" l="l"/>
              <a:pathLst>
                <a:path h="169083" w="792516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6662759" y="1893761"/>
            <a:ext cx="4106365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A device that authenticated can still be compromised, and nothing asks again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280160" y="4343400"/>
            <a:ext cx="14813280" cy="0"/>
          </a:xfrm>
          <a:prstGeom prst="line">
            <a:avLst/>
          </a:prstGeom>
          <a:ln w="2540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554480" y="4206240"/>
            <a:ext cx="274320" cy="27432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3246120"/>
            <a:ext cx="146304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t0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authenticate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98848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trusted</a:t>
            </a:r>
          </a:p>
        </p:txBody>
      </p:sp>
      <p:sp>
        <p:nvSpPr>
          <p:cNvPr id="31" name="Oval 30"/>
          <p:cNvSpPr/>
          <p:nvPr/>
        </p:nvSpPr>
        <p:spPr>
          <a:xfrm>
            <a:off x="4434840" y="4206240"/>
            <a:ext cx="274320" cy="274320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40" y="32918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enclosure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opened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498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34" name="Oval 33"/>
          <p:cNvSpPr/>
          <p:nvPr/>
        </p:nvSpPr>
        <p:spPr>
          <a:xfrm>
            <a:off x="7543800" y="4206240"/>
            <a:ext cx="274320" cy="274320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2918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configuration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drift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498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37" name="Oval 36"/>
          <p:cNvSpPr/>
          <p:nvPr/>
        </p:nvSpPr>
        <p:spPr>
          <a:xfrm>
            <a:off x="10652760" y="4206240"/>
            <a:ext cx="274320" cy="274320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09760" y="32918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camera covered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or turned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498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sp>
        <p:nvSpPr>
          <p:cNvPr id="40" name="Oval 39"/>
          <p:cNvSpPr/>
          <p:nvPr/>
        </p:nvSpPr>
        <p:spPr>
          <a:xfrm>
            <a:off x="13761720" y="4206240"/>
            <a:ext cx="274320" cy="274320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618720" y="3291840"/>
            <a:ext cx="256032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forged 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replayed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618720" y="4498848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still trusted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434840" y="5074920"/>
            <a:ext cx="9601200" cy="0"/>
          </a:xfrm>
          <a:prstGeom prst="line">
            <a:avLst/>
          </a:prstGeom>
          <a:ln w="44450">
            <a:solidFill>
              <a:srgbClr val="FA7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34840" y="4873752"/>
            <a:ext cx="0" cy="201168"/>
          </a:xfrm>
          <a:prstGeom prst="line">
            <a:avLst/>
          </a:prstGeom>
          <a:ln w="44450">
            <a:solidFill>
              <a:srgbClr val="FA7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4036040" y="4873752"/>
            <a:ext cx="0" cy="201168"/>
          </a:xfrm>
          <a:prstGeom prst="line">
            <a:avLst/>
          </a:prstGeom>
          <a:ln w="44450">
            <a:solidFill>
              <a:srgbClr val="FA7C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434840" y="5148072"/>
            <a:ext cx="9601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trust should change here</a:t>
            </a:r>
            <a:r>
              <a:rPr sz="18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, but authentication never asks again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80160" y="5897880"/>
            <a:ext cx="4754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0" y="6035040"/>
            <a:ext cx="425196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Context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AIoT devices at the edge (sensors, cameras, controllers) authenticate once with a provisioned key, then run unattended.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5897880"/>
            <a:ext cx="4754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6035040"/>
            <a:ext cx="425196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The gap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Authentication proves who is talking, not whether the device is still in a trustworthy state.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1430000" y="5897880"/>
            <a:ext cx="47548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704320" y="6035040"/>
            <a:ext cx="4251960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The quantum angle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8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Evidence signed today with RSA or ECDSA could be forged once large quantum computers exist.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93915" y="1893761"/>
            <a:ext cx="3272797" cy="641986"/>
            <a:chOff x="0" y="0"/>
            <a:chExt cx="86197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1971" cy="169083"/>
            </a:xfrm>
            <a:custGeom>
              <a:avLst/>
              <a:gdLst/>
              <a:ahLst/>
              <a:cxnLst/>
              <a:rect r="r" b="b" t="t" l="l"/>
              <a:pathLst>
                <a:path h="169083" w="861971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6445275" y="1893761"/>
            <a:ext cx="4370077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Who is exposed, and what each attack looks like with and without Q-SHIELD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2461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Who faces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703320"/>
            <a:ext cx="4572000" cy="23774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Research labs and server rooms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Smart buildings and campuses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Critical-infrastructure sites</a:t>
            </a:r>
          </a:p>
          <a:p>
            <a:pPr algn="l" marL="292608" indent="-292608">
              <a:lnSpc>
                <a:spcPct val="108000"/>
              </a:lnSpc>
              <a:spcAft>
                <a:spcPts val="4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Any fleet of unattended AIoT devices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98932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Why now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6446520"/>
            <a:ext cx="45262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published </a:t>
            </a: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FIPS 203</a:t>
            </a: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 (ML-KEM) and </a:t>
            </a: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FIPS 204</a:t>
            </a: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 (ML-DSA) in August 2024: evidence signed today should already be post-quantum.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2461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Threat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2461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Authentication alone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0" y="32461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With Q-SHIELD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172200" y="3657600"/>
            <a:ext cx="10012680" cy="0"/>
          </a:xfrm>
          <a:prstGeom prst="line">
            <a:avLst/>
          </a:prstGeom>
          <a:ln w="15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172200" y="3703320"/>
            <a:ext cx="32461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Forged or replayed message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5480" y="370332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rejected, then forgotten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0" y="3703320"/>
            <a:ext cx="4160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bounded pressure (≤ 25 points); 3 replays in 10 min hold the score at 65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172200" y="4453128"/>
            <a:ext cx="1001268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172200" y="4453128"/>
            <a:ext cx="32461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Enclosure opened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5480" y="4453128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nothing to see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0" y="4453128"/>
            <a:ext cx="4160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physical factor CRITICAL; score held at 55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72200" y="5202936"/>
            <a:ext cx="1001268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72200" y="5202936"/>
            <a:ext cx="32461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Camera covered, frozen or turned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5202936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nothing to see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0" y="5202936"/>
            <a:ext cx="4160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signed camera-health report; visual factor HIGH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72200" y="5952744"/>
            <a:ext cx="1001268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126480" y="5989320"/>
            <a:ext cx="10104120" cy="676656"/>
          </a:xfrm>
          <a:prstGeom prst="roundRect">
            <a:avLst>
              <a:gd name="adj" fmla="val 15000"/>
            </a:avLst>
          </a:prstGeom>
          <a:solidFill>
            <a:srgbClr val="F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5952744"/>
            <a:ext cx="32461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Tamper + camera or visual evidence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55480" y="5952744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nothing to see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0" y="5952744"/>
            <a:ext cx="4160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confirmed incident: score 30, </a:t>
            </a:r>
            <a:r>
              <a:rPr sz="16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quarantine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172200" y="6702552"/>
            <a:ext cx="1001268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172200" y="6702552"/>
            <a:ext cx="32461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Quantum adversary recording traffic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55480" y="6702552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classical signatures forgeable later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0" y="6702552"/>
            <a:ext cx="4160520" cy="7498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ML-DSA-65 signs the evidence; ML-KEM-768 keys the session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172200" y="7452360"/>
            <a:ext cx="1001268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6172200" y="7635240"/>
            <a:ext cx="10012680" cy="731520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No single signal quarantines a device. Two independent authenticated signals within 60 s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71046" y="1893761"/>
            <a:ext cx="4012244" cy="641986"/>
            <a:chOff x="0" y="0"/>
            <a:chExt cx="1056723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6723" cy="169083"/>
            </a:xfrm>
            <a:custGeom>
              <a:avLst/>
              <a:gdLst/>
              <a:ahLst/>
              <a:cxnLst/>
              <a:rect r="r" b="b" t="t" l="l"/>
              <a:pathLst>
                <a:path h="169083" w="105672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638528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7" name="TextBox 26"/>
          <p:cNvSpPr txBox="1"/>
          <p:nvPr/>
        </p:nvSpPr>
        <p:spPr>
          <a:xfrm>
            <a:off x="6322406" y="1893761"/>
            <a:ext cx="5109524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Proposed 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 closed loop around every device: trust is computed continuously, enforced, and earned back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8962" y="4498518"/>
            <a:ext cx="274983" cy="95257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0908" y="5495544"/>
            <a:ext cx="0" cy="969264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926243" y="7378878"/>
            <a:ext cx="274983" cy="95257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4154615" y="7384865"/>
            <a:ext cx="274983" cy="95257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897652" y="5513832"/>
            <a:ext cx="0" cy="969264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4137334" y="4504505"/>
            <a:ext cx="274983" cy="95257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434840" y="365760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OBSERVE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device and camera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06468" y="461772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VERIFY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HMAC, ML-DSA-65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6468" y="653796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SCORE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trust engine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34840" y="749808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ENFORCE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quarantine at gateway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663212" y="653796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RECOVER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verified, earned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63212" y="4617720"/>
            <a:ext cx="24688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PROVE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signed evidence chain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5577840"/>
            <a:ext cx="201168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continuous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trust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3291840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What we are building</a:t>
            </a:r>
          </a:p>
        </p:txBody>
      </p:sp>
      <p:sp>
        <p:nvSpPr>
          <p:cNvPr id="43" name="Oval 42"/>
          <p:cNvSpPr/>
          <p:nvPr/>
        </p:nvSpPr>
        <p:spPr>
          <a:xfrm>
            <a:off x="10094976" y="3922776"/>
            <a:ext cx="201168" cy="201168"/>
          </a:xfrm>
          <a:prstGeom prst="ellipse">
            <a:avLst/>
          </a:prstGeom>
          <a:solidFill>
            <a:srgbClr val="FA7CB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9880" y="38404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Continuous six-factor trust engine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every score change lists the reasons that sum to it</a:t>
            </a:r>
          </a:p>
        </p:txBody>
      </p:sp>
      <p:sp>
        <p:nvSpPr>
          <p:cNvPr id="45" name="Oval 44"/>
          <p:cNvSpPr/>
          <p:nvPr/>
        </p:nvSpPr>
        <p:spPr>
          <a:xfrm>
            <a:off x="10094976" y="4837176"/>
            <a:ext cx="201168" cy="201168"/>
          </a:xfrm>
          <a:prstGeom prst="ellipse">
            <a:avLst/>
          </a:prstGeom>
          <a:solidFill>
            <a:srgbClr val="FA7CB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9880" y="47548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The camera as part of the security boundary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covered, frozen or turned is signed evidence</a:t>
            </a:r>
          </a:p>
        </p:txBody>
      </p:sp>
      <p:sp>
        <p:nvSpPr>
          <p:cNvPr id="47" name="Oval 46"/>
          <p:cNvSpPr/>
          <p:nvPr/>
        </p:nvSpPr>
        <p:spPr>
          <a:xfrm>
            <a:off x="10094976" y="5751576"/>
            <a:ext cx="201168" cy="201168"/>
          </a:xfrm>
          <a:prstGeom prst="ellipse">
            <a:avLst/>
          </a:prstGeom>
          <a:solidFill>
            <a:srgbClr val="FA7CB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69880" y="56692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Quarantine enforced at the gateway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the device's normal channel is refused (403)</a:t>
            </a:r>
          </a:p>
        </p:txBody>
      </p:sp>
      <p:sp>
        <p:nvSpPr>
          <p:cNvPr id="49" name="Oval 48"/>
          <p:cNvSpPr/>
          <p:nvPr/>
        </p:nvSpPr>
        <p:spPr>
          <a:xfrm>
            <a:off x="10094976" y="6665976"/>
            <a:ext cx="201168" cy="201168"/>
          </a:xfrm>
          <a:prstGeom prst="ellipse">
            <a:avLst/>
          </a:prstGeom>
          <a:solidFill>
            <a:srgbClr val="FA7CB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69880" y="65836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Verified, earned recovery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health checks first, then trust rebuilt from fresh evidence</a:t>
            </a:r>
          </a:p>
        </p:txBody>
      </p:sp>
      <p:sp>
        <p:nvSpPr>
          <p:cNvPr id="51" name="Oval 50"/>
          <p:cNvSpPr/>
          <p:nvPr/>
        </p:nvSpPr>
        <p:spPr>
          <a:xfrm>
            <a:off x="10094976" y="7580376"/>
            <a:ext cx="201168" cy="201168"/>
          </a:xfrm>
          <a:prstGeom prst="ellipse">
            <a:avLst/>
          </a:prstGeom>
          <a:solidFill>
            <a:srgbClr val="FA7CB5"/>
          </a:solidFill>
          <a:ln w="1270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69880" y="7498080"/>
            <a:ext cx="57150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Post-quantum evidence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ML-DSA-65 signatures, ML-KEM-768 sessions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06921" y="1893761"/>
            <a:ext cx="3533419" cy="641986"/>
            <a:chOff x="0" y="0"/>
            <a:chExt cx="930612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0612" cy="169083"/>
            </a:xfrm>
            <a:custGeom>
              <a:avLst/>
              <a:gdLst/>
              <a:ahLst/>
              <a:cxnLst/>
              <a:rect r="r" b="b" t="t" l="l"/>
              <a:pathLst>
                <a:path h="169083" w="930612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135716" y="-2857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525717" y="8546310"/>
            <a:ext cx="1467166" cy="1525339"/>
            <a:chOff x="0" y="0"/>
            <a:chExt cx="3890124" cy="40443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890137" cy="4044315"/>
            </a:xfrm>
            <a:custGeom>
              <a:avLst/>
              <a:gdLst/>
              <a:ahLst/>
              <a:cxnLst/>
              <a:rect r="r" b="b" t="t" l="l"/>
              <a:pathLst>
                <a:path h="4044315" w="3890137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6358281" y="1893761"/>
            <a:ext cx="4630699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Why Quantum?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Quantum computing is the threat model; post-quantum cryptography is how Q-SHIELD answers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2004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Quantum capability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200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What it breaks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20040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Q-SHIELD's answer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0160" y="3611880"/>
            <a:ext cx="3108960" cy="868680"/>
          </a:xfrm>
          <a:prstGeom prst="roundRect">
            <a:avLst>
              <a:gd name="adj" fmla="val 3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Shor's algorithm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434840" y="404164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800600" y="3611880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60" y="3611880"/>
            <a:ext cx="39776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RSA, ECDSA, ECDH:
today's signatures and key exchange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052560" y="404164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418320" y="3611880"/>
            <a:ext cx="6675120" cy="868680"/>
          </a:xfrm>
          <a:prstGeom prst="roundRect">
            <a:avLst>
              <a:gd name="adj" fmla="val 3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36118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ML-DSA-65 (FIPS 204) signs observations and evidence;
ML-KEM-768 (FIPS 203) agrees session keys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80160" y="4663440"/>
            <a:ext cx="3108960" cy="868680"/>
          </a:xfrm>
          <a:prstGeom prst="roundRect">
            <a:avLst>
              <a:gd name="adj" fmla="val 3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Grover's algorithm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34840" y="509320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800600" y="4663440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4663440"/>
            <a:ext cx="39776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at most a square-root speed-up
on brute-force key search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52560" y="509320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418320" y="4663440"/>
            <a:ext cx="6675120" cy="868680"/>
          </a:xfrm>
          <a:prstGeom prst="roundRect">
            <a:avLst>
              <a:gd name="adj" fmla="val 3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0" y="466344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AES-256-GCM, SHA-256 and 256-bit HMAC keys
keep a large security margin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80160" y="5715000"/>
            <a:ext cx="3108960" cy="868680"/>
          </a:xfrm>
          <a:prstGeom prst="roundRect">
            <a:avLst>
              <a:gd name="adj" fmla="val 3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Harvest now, forge later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434840" y="614476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800600" y="5715000"/>
            <a:ext cx="420624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5715000"/>
            <a:ext cx="39776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long-lived evidence
recorded today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052560" y="6144768"/>
            <a:ext cx="32004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418320" y="5715000"/>
            <a:ext cx="6675120" cy="868680"/>
          </a:xfrm>
          <a:prstGeom prst="roundRect">
            <a:avLst>
              <a:gd name="adj" fmla="val 3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571500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every evidence-chain entry is signed with ML-DSA-65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" y="690372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The cost of going post-quantum (measured, laptop CPU)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80160" y="7315200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signature size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97680" y="7315200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ML-DSA-65 3309 B vs ECDSA P-256 64 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80160" y="769924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sign / verify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7680" y="7699248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9.42 ms / 0.188 ms (median)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80160" y="8083296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ML-KEM-768 encapsulate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808329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0.069 ms (median)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8467344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full session handshake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97680" y="8467344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10.0 ms (median)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18320" y="6949440"/>
            <a:ext cx="6675120" cy="11887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0" y="7022592"/>
            <a:ext cx="635508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Honest scope: </a:t>
            </a: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Q-SHIELD runs no quantum circuits and no quantum hardware. Its quantum-relevant part is post-quantum cryptography on the evidence path; the ESP32 device path is HMAC-SHA256, not a post-quantum signature.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97750" y="1893761"/>
            <a:ext cx="5382396" cy="641986"/>
            <a:chOff x="0" y="0"/>
            <a:chExt cx="141758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5249110" y="1893761"/>
            <a:ext cx="6479676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Implementation and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1 of 3: how the parts work together, quantum-safe and classical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246120"/>
            <a:ext cx="251460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ESP32 / device agent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simulated today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60520" y="3246120"/>
            <a:ext cx="283464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Identity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HMAC-SHA256 + counter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39896" y="367588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88720" y="4617720"/>
            <a:ext cx="251460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Vision service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camera + YOLO11n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4617720"/>
            <a:ext cx="2834640" cy="868680"/>
          </a:xfrm>
          <a:prstGeom prst="roundRect">
            <a:avLst>
              <a:gd name="adj" fmla="val 22000"/>
            </a:avLst>
          </a:prstGeom>
          <a:solidFill>
            <a:srgbClr val="FDE3EF"/>
          </a:solidFill>
          <a:ln w="2540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PQC session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ML-KEM-768, AES-256-GCM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52360" y="4617720"/>
            <a:ext cx="2743200" cy="868680"/>
          </a:xfrm>
          <a:prstGeom prst="roundRect">
            <a:avLst>
              <a:gd name="adj" fmla="val 22000"/>
            </a:avLst>
          </a:prstGeom>
          <a:solidFill>
            <a:srgbClr val="FDE3EF"/>
          </a:solidFill>
          <a:ln w="2540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Signed observations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ML-DSA-65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39896" y="504748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31736" y="504748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698480" y="3246120"/>
            <a:ext cx="2331720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Gateway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authenticate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enforce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record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31736" y="3675888"/>
            <a:ext cx="36301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232136" y="5047488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13487400" y="3246120"/>
            <a:ext cx="2514600" cy="2240280"/>
          </a:xfrm>
          <a:prstGeom prst="roundRect">
            <a:avLst>
              <a:gd name="adj" fmla="val 22000"/>
            </a:avLst>
          </a:prstGeom>
          <a:solidFill>
            <a:srgbClr val="1E1E1E"/>
          </a:solidFill>
          <a:ln w="15875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Trust engine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six factors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caps, decay</a:t>
            </a:r>
          </a:p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state machine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3066776" y="436168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iamond 39"/>
          <p:cNvSpPr/>
          <p:nvPr/>
        </p:nvSpPr>
        <p:spPr>
          <a:xfrm>
            <a:off x="13734288" y="5833872"/>
            <a:ext cx="2011680" cy="10972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Decision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740128" y="5522976"/>
            <a:ext cx="0" cy="27432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3350240" y="7589520"/>
            <a:ext cx="26517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TRUSTED or SUSPICIOUS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normal access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740128" y="6949440"/>
            <a:ext cx="0" cy="603504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4813280" y="7022592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≥ 50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98480" y="5961888"/>
            <a:ext cx="2331720" cy="822960"/>
          </a:xfrm>
          <a:prstGeom prst="roundRect">
            <a:avLst>
              <a:gd name="adj" fmla="val 22000"/>
            </a:avLst>
          </a:prstGeom>
          <a:solidFill>
            <a:srgbClr val="FA7CB5"/>
          </a:solidFill>
          <a:ln w="15875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QUARANTINE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normal channel 403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13066776" y="6373368"/>
            <a:ext cx="649224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3121640" y="5961888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&lt; 50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5961888"/>
            <a:ext cx="274320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Recovery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operator-started, verified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0232136" y="6373368"/>
            <a:ext cx="42976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160520" y="5961888"/>
            <a:ext cx="283464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VERIFIED → TRUSTED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trust re-earned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7031736" y="6373368"/>
            <a:ext cx="384048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188720" y="7360920"/>
            <a:ext cx="457200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Digital twin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expected vs self-reported state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7360920"/>
            <a:ext cx="5897880" cy="914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2540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Evidence chain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every decision SHA-256 linked, ML-DSA-65 signed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88720" y="8503920"/>
            <a:ext cx="4846320" cy="731520"/>
          </a:xfrm>
          <a:prstGeom prst="roundRect">
            <a:avLst>
              <a:gd name="adj" fmla="val 5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17320" y="850392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Quantum-safe: </a:t>
            </a: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ML-KEM-768, ML-DSA-65 (pqcrypto)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63640" y="8503920"/>
            <a:ext cx="48463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92240" y="850392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Classical: </a:t>
            </a: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FastAPI, trust engine, SQLite, YOLO11n, OpenCV, dashboard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338560" y="8503920"/>
            <a:ext cx="4846320" cy="7315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567160" y="850392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Device path: </a:t>
            </a: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HMAC-SHA256 with a counter (not post-quantum)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97750" y="1893761"/>
            <a:ext cx="5382396" cy="641986"/>
            <a:chOff x="0" y="0"/>
            <a:chExt cx="141758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5249110" y="1893761"/>
            <a:ext cx="6479676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Implementation and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2 of 3: the post-quantum evidence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20040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ML-KEM-768 session (vision service ↔ gateway)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88720" y="365760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98448" y="3767328"/>
            <a:ext cx="402336" cy="402336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365760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Gateway key pair, provisioned once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client pins the public key, 1184 B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88720" y="438912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98448" y="4498848"/>
            <a:ext cx="402336" cy="402336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438912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Client encapsulates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→ shared secret + ciphertext, 1088 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512064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298448" y="5230368"/>
            <a:ext cx="402336" cy="402336"/>
          </a:xfrm>
          <a:prstGeom prst="ellipse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512064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Init signed with ML-DSA-65; gateway verifies, decapsulates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→ shared secret, 32 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585216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298448" y="5961888"/>
            <a:ext cx="402336" cy="402336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5216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HKDF-SHA256 on both sides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salt = both nonces, info = transcript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" y="658368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98448" y="6693408"/>
            <a:ext cx="402336" cy="402336"/>
          </a:xfrm>
          <a:prstGeom prst="ellipse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658368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Key confirmation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a wrong pinned key: nothing is sent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7315200"/>
            <a:ext cx="7315200" cy="621792"/>
          </a:xfrm>
          <a:prstGeom prst="roundRect">
            <a:avLst>
              <a:gd name="adj" fmla="val 30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298448" y="7424928"/>
            <a:ext cx="402336" cy="402336"/>
          </a:xfrm>
          <a:prstGeom prst="ellipse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0" y="7315200"/>
            <a:ext cx="6583680" cy="62179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AES-256-GCM session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per-direction keys, 64-bit counters, AAD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809244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median, laptop: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encaps 0.069 ms, decaps 0.091 ms, handshake 10.0 ms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Composed by us from standard primitives: not TLS, not externally reviewed.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20040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ML-DSA-65 signed observation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52560" y="3657600"/>
            <a:ext cx="713232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Observation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device, object, zone, confidence, time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2618720" y="4242816"/>
            <a:ext cx="0" cy="1097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052560" y="4370832"/>
            <a:ext cx="713232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Canonical encoding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length-prefixed fields, never JSON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2618720" y="4956048"/>
            <a:ext cx="0" cy="1097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52560" y="5084064"/>
            <a:ext cx="7132320" cy="566928"/>
          </a:xfrm>
          <a:prstGeom prst="roundRect">
            <a:avLst>
              <a:gd name="adj" fmla="val 22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ML-DSA-65 sign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context qshield/signed-observation/v1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2618720" y="5669280"/>
            <a:ext cx="0" cy="1097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052560" y="5797296"/>
            <a:ext cx="7132320" cy="56692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Signature, 3309 B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bound to signer, source and allowed devices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2618720" y="6382512"/>
            <a:ext cx="0" cy="10972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052560" y="6510528"/>
            <a:ext cx="7132320" cy="566928"/>
          </a:xfrm>
          <a:prstGeom prst="roundRect">
            <a:avLst>
              <a:gd name="adj" fmla="val 22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Gateway verify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active signer, in scope, ±300 s, not seen before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2618720" y="7077456"/>
            <a:ext cx="0" cy="1280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744200" y="7205472"/>
            <a:ext cx="37490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744200" y="7205472"/>
            <a:ext cx="0" cy="15544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4493240" y="7205472"/>
            <a:ext cx="0" cy="155448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052560" y="7388352"/>
            <a:ext cx="338328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ACCEPT 200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→ trust engine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801600" y="7388352"/>
            <a:ext cx="3383280" cy="658368"/>
          </a:xfrm>
          <a:prstGeom prst="roundRect">
            <a:avLst>
              <a:gd name="adj" fmla="val 22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REJECT</a:t>
            </a:r>
          </a:p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401 forged or stale, 409 replay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0" y="8183880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Evidence chain: </a:t>
            </a: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every decision SHA-256 linked and ML-DSA-65 signed; </a:t>
            </a: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26 entries VERIFIED</a:t>
            </a: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 in the live demo.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97750" y="1893761"/>
            <a:ext cx="5382396" cy="641986"/>
            <a:chOff x="0" y="0"/>
            <a:chExt cx="1417586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17586" cy="169083"/>
            </a:xfrm>
            <a:custGeom>
              <a:avLst/>
              <a:gdLst/>
              <a:ahLst/>
              <a:cxnLst/>
              <a:rect r="r" b="b" t="t" l="l"/>
              <a:pathLst>
                <a:path h="169083" w="1417586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5249110" y="1893761"/>
            <a:ext cx="6479676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Implementation and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3 of 3: the trust engine and the camera as part of the security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3200400"/>
            <a:ext cx="70408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Six-factor trust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363931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Identity / crypto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69080" y="3749040"/>
            <a:ext cx="3108960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9480" y="3639312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25%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114800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Physical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69080" y="4224528"/>
            <a:ext cx="2487168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47688" y="4114800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20%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590288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Configuration integrity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4700016"/>
            <a:ext cx="1865376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25896" y="4590288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065776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Sensor consistency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80" y="5175504"/>
            <a:ext cx="1865376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25896" y="5065776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541264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Visual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69080" y="5650992"/>
            <a:ext cx="1865376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25896" y="5541264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6016752"/>
            <a:ext cx="28346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Network liveness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069080" y="6126480"/>
            <a:ext cx="1243584" cy="22860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04104" y="6016752"/>
            <a:ext cx="822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6537960"/>
            <a:ext cx="713232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score = min(100 − Σ wᵢ·pᵢ − pressure, caps)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88720" y="7040880"/>
            <a:ext cx="3520440" cy="5029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QUARANTINED  &lt; 50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709160" y="7040880"/>
            <a:ext cx="2112264" cy="502920"/>
          </a:xfrm>
          <a:prstGeom prst="rect">
            <a:avLst/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SUSPICIOUS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21424" y="7040880"/>
            <a:ext cx="1408176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TRUSTED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88720" y="7635240"/>
            <a:ext cx="71323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back to TRUSTED only at 85; pressure ≤ 25, so forged traffic alone never quarantines; only clean authenticated evidence earns recovery time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3200400"/>
            <a:ext cx="74066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Camera checks (signed by the vision service)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61188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State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361188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How it is measured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813280" y="3611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Effect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778240" y="4023360"/>
            <a:ext cx="7406640" cy="0"/>
          </a:xfrm>
          <a:prstGeom prst="line">
            <a:avLst/>
          </a:prstGeom>
          <a:ln w="158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732520" y="4105656"/>
            <a:ext cx="7498080" cy="384048"/>
          </a:xfrm>
          <a:prstGeom prst="roundRect">
            <a:avLst>
              <a:gd name="adj" fmla="val 15000"/>
            </a:avLst>
          </a:prstGeom>
          <a:solidFill>
            <a:srgbClr val="F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4069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Occluded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07040" y="40690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dark, flat or blinded for 2 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4813280" y="40690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HIGH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778240" y="45262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732520" y="4562856"/>
            <a:ext cx="7498080" cy="384048"/>
          </a:xfrm>
          <a:prstGeom prst="roundRect">
            <a:avLst>
              <a:gd name="adj" fmla="val 15000"/>
            </a:avLst>
          </a:prstGeom>
          <a:solidFill>
            <a:srgbClr val="F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778240" y="45262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Moved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45262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shifted, or similarity &lt; 0.7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813280" y="45262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HIGH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778240" y="49834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8732520" y="5020056"/>
            <a:ext cx="7498080" cy="384048"/>
          </a:xfrm>
          <a:prstGeom prst="roundRect">
            <a:avLst>
              <a:gd name="adj" fmla="val 15000"/>
            </a:avLst>
          </a:prstGeom>
          <a:solidFill>
            <a:srgbClr val="F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0" y="49834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Frozen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49834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the same frame repeated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813280" y="49834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HIGH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778240" y="54406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778240" y="54406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Degraded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607040" y="54406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low light or blur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813280" y="54406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MEDIUM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778240" y="58978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778240" y="58978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Too close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40" y="58978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box &gt; 35% of frame, not a distance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13280" y="58978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LOW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778240" y="63550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778240" y="6355080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Source lost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6355080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no frames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813280" y="6355080"/>
            <a:ext cx="12344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MEDIUM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8778240" y="6812280"/>
            <a:ext cx="7406640" cy="0"/>
          </a:xfrm>
          <a:prstGeom prst="line">
            <a:avLst/>
          </a:prstGeom>
          <a:ln w="9525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Rounded Rectangle 82"/>
          <p:cNvSpPr/>
          <p:nvPr/>
        </p:nvSpPr>
        <p:spPr>
          <a:xfrm>
            <a:off x="8778240" y="7086600"/>
            <a:ext cx="1920240" cy="6858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Tamper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HMAC report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698480" y="7086600"/>
            <a:ext cx="36576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0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+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1064240" y="7086600"/>
            <a:ext cx="2377440" cy="685800"/>
          </a:xfrm>
          <a:prstGeom prst="roundRect">
            <a:avLst>
              <a:gd name="adj" fmla="val 22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Camera interference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signed, within 60 s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13487400" y="7424928"/>
            <a:ext cx="365760" cy="0"/>
          </a:xfrm>
          <a:prstGeom prst="line">
            <a:avLst/>
          </a:prstGeom>
          <a:ln w="2222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ounded Rectangle 86"/>
          <p:cNvSpPr/>
          <p:nvPr/>
        </p:nvSpPr>
        <p:spPr>
          <a:xfrm>
            <a:off x="13898880" y="708660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QUARANTINE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confirmed, score 30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78240" y="7909560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Camera alone: a penalty, never quarantine. A camera report and a detection from the same signer count once.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68821" y="1903286"/>
            <a:ext cx="3925250" cy="641986"/>
            <a:chOff x="0" y="0"/>
            <a:chExt cx="1033811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3811" cy="169083"/>
            </a:xfrm>
            <a:custGeom>
              <a:avLst/>
              <a:gdLst/>
              <a:ahLst/>
              <a:cxnLst/>
              <a:rect r="r" b="b" t="t" l="l"/>
              <a:pathLst>
                <a:path h="169083" w="1033811">
                  <a:moveTo>
                    <a:pt x="84541" y="0"/>
                  </a:moveTo>
                  <a:lnTo>
                    <a:pt x="949269" y="0"/>
                  </a:lnTo>
                  <a:cubicBezTo>
                    <a:pt x="971691" y="0"/>
                    <a:pt x="993195" y="8907"/>
                    <a:pt x="1009049" y="24762"/>
                  </a:cubicBezTo>
                  <a:cubicBezTo>
                    <a:pt x="1024904" y="40616"/>
                    <a:pt x="1033811" y="62120"/>
                    <a:pt x="1033811" y="84541"/>
                  </a:cubicBezTo>
                  <a:lnTo>
                    <a:pt x="1033811" y="84541"/>
                  </a:lnTo>
                  <a:cubicBezTo>
                    <a:pt x="1033811" y="106963"/>
                    <a:pt x="1024904" y="128467"/>
                    <a:pt x="1009049" y="144321"/>
                  </a:cubicBezTo>
                  <a:cubicBezTo>
                    <a:pt x="993195" y="160176"/>
                    <a:pt x="971691" y="169083"/>
                    <a:pt x="949269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033811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14703" y="-21778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6320181" y="1903286"/>
            <a:ext cx="5022530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Minimal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What we have actually built: running software, tested end to 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3200400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32461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Gateway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FastAPI + SQLite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3200400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32461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Trust engine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six factors, caps, states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3200400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0" y="32461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PQC layer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ML-KEM-768, ML-DSA-65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573000" y="3200400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55880" y="3246120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Vision service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YOLO11n + camera checks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4187952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71600" y="423367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Quarantine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enforced after authentication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983480" y="4187952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60" y="423367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Recovery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orchestrator + deadlines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4187952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423367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Digital twin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expected vs reported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573000" y="4187952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755880" y="423367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Evidence chain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linked, signed, verified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" y="5175504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71600" y="5221224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Dashboard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live view + presentation mode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83480" y="5175504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66360" y="5221224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Device agent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SIMULATED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software, labelled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5175504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FDE3EF"/>
          </a:solidFill>
          <a:ln w="19050">
            <a:solidFill>
              <a:srgbClr val="FA7C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0" y="5221224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Attack simulator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SIMULATED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synthetic, labelled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2573000" y="5175504"/>
            <a:ext cx="3611880" cy="868680"/>
          </a:xfrm>
          <a:prstGeom prst="roundRect">
            <a:avLst>
              <a:gd name="adj" fmla="val 25000"/>
            </a:avLst>
          </a:prstGeom>
          <a:solidFill>
            <a:srgbClr val="E0E0E0"/>
          </a:solidFill>
          <a:ln w="19050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755880" y="5221224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ESP32 firmware</a:t>
            </a:r>
            <a:r>
              <a:rPr sz="13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   NOT YET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skeleton, not compiled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6263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Self-healing recovery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88720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Quarantine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944368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081528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Authorize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35808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operator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837176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974336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Remediate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28616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known-good config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729984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867144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Health checks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21424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3 clean reports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622792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8759952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Twin match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14232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expected = reported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0515600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10652760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Verified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07040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ramp begins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2408408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12545568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Recovered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499848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score ≥ 50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4301216" y="6995160"/>
            <a:ext cx="118872" cy="0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14438376" y="6675120"/>
            <a:ext cx="1737360" cy="640080"/>
          </a:xfrm>
          <a:prstGeom prst="roundRect">
            <a:avLst>
              <a:gd name="adj" fmla="val 50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IBM Plex Sans"/>
                <a:ea typeface="IBM Plex Sans"/>
                <a:cs typeface="IBM Plex Sans"/>
              </a:rPr>
              <a:t>Trusted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92656" y="734263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score ≥ 85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88720" y="7726680"/>
            <a:ext cx="14630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any failure → QUARANTINED: </a:t>
            </a:r>
            <a:r>
              <a:rPr sz="14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an authenticated fault, the 15-min verification deadline, the 2-h ramp deadline, revocation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88720" y="8229600"/>
            <a:ext cx="14630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Run it:  </a:t>
            </a:r>
            <a:r>
              <a:rPr sz="16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python scripts/demo_full.py --webcam --pace 2 --hold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045033" y="1893761"/>
            <a:ext cx="3482300" cy="641986"/>
            <a:chOff x="0" y="0"/>
            <a:chExt cx="91714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7149" cy="169083"/>
            </a:xfrm>
            <a:custGeom>
              <a:avLst/>
              <a:gdLst/>
              <a:ahLst/>
              <a:cxnLst/>
              <a:rect r="r" b="b" t="t" l="l"/>
              <a:pathLst>
                <a:path h="169083" w="917149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7" name="TextBox 26"/>
          <p:cNvSpPr txBox="1"/>
          <p:nvPr/>
        </p:nvSpPr>
        <p:spPr>
          <a:xfrm>
            <a:off x="6496393" y="1893761"/>
            <a:ext cx="4579580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Results /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Validated on the real gateway with a real USB webcam; attacks are simulated and labelled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3200400"/>
            <a:ext cx="740664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74520" y="4914900"/>
            <a:ext cx="6400800" cy="139446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4520" y="4078224"/>
            <a:ext cx="6400800" cy="836676"/>
          </a:xfrm>
          <a:prstGeom prst="rect">
            <a:avLst/>
          </a:prstGeom>
          <a:solidFill>
            <a:srgbClr val="FDE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614476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750308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3913632"/>
            <a:ext cx="45720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7672" y="494233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quarantine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47672" y="4105656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suspicious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874520" y="3520440"/>
            <a:ext cx="914400" cy="27889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88920" y="3799332"/>
            <a:ext cx="914400" cy="278892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03320" y="4078224"/>
            <a:ext cx="914400" cy="223114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17720" y="4301338"/>
            <a:ext cx="914400" cy="1171346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532120" y="5472684"/>
            <a:ext cx="914400" cy="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6446520" y="4078224"/>
            <a:ext cx="914400" cy="1394460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60920" y="3938778"/>
            <a:ext cx="914400" cy="139446"/>
          </a:xfrm>
          <a:prstGeom prst="line">
            <a:avLst/>
          </a:prstGeom>
          <a:ln w="28575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783080" y="3429000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17320" y="3099816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join</a:t>
            </a:r>
          </a:p>
        </p:txBody>
      </p:sp>
      <p:sp>
        <p:nvSpPr>
          <p:cNvPr id="47" name="Oval 46"/>
          <p:cNvSpPr/>
          <p:nvPr/>
        </p:nvSpPr>
        <p:spPr>
          <a:xfrm>
            <a:off x="2697480" y="370789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31720" y="337870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90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402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webcam</a:t>
            </a:r>
          </a:p>
        </p:txBody>
      </p:sp>
      <p:sp>
        <p:nvSpPr>
          <p:cNvPr id="50" name="Oval 49"/>
          <p:cNvSpPr/>
          <p:nvPr/>
        </p:nvSpPr>
        <p:spPr>
          <a:xfrm>
            <a:off x="3611880" y="39867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4612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546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forged</a:t>
            </a:r>
          </a:p>
        </p:txBody>
      </p:sp>
      <p:sp>
        <p:nvSpPr>
          <p:cNvPr id="53" name="Oval 52"/>
          <p:cNvSpPr/>
          <p:nvPr/>
        </p:nvSpPr>
        <p:spPr>
          <a:xfrm>
            <a:off x="4526280" y="420989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60520" y="388071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0690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replay</a:t>
            </a:r>
          </a:p>
        </p:txBody>
      </p:sp>
      <p:sp>
        <p:nvSpPr>
          <p:cNvPr id="56" name="Oval 55"/>
          <p:cNvSpPr/>
          <p:nvPr/>
        </p:nvSpPr>
        <p:spPr>
          <a:xfrm>
            <a:off x="5440680" y="5381244"/>
            <a:ext cx="182880" cy="182880"/>
          </a:xfrm>
          <a:prstGeom prst="ellipse">
            <a:avLst/>
          </a:prstGeom>
          <a:solidFill>
            <a:srgbClr val="FA7CB5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74920" y="55641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834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tamper</a:t>
            </a:r>
          </a:p>
        </p:txBody>
      </p:sp>
      <p:sp>
        <p:nvSpPr>
          <p:cNvPr id="59" name="Oval 58"/>
          <p:cNvSpPr/>
          <p:nvPr/>
        </p:nvSpPr>
        <p:spPr>
          <a:xfrm>
            <a:off x="6355080" y="5381244"/>
            <a:ext cx="182880" cy="182880"/>
          </a:xfrm>
          <a:prstGeom prst="ellipse">
            <a:avLst/>
          </a:prstGeom>
          <a:solidFill>
            <a:srgbClr val="FA7CB5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556412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30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verified</a:t>
            </a:r>
          </a:p>
        </p:txBody>
      </p:sp>
      <p:sp>
        <p:nvSpPr>
          <p:cNvPr id="62" name="Oval 61"/>
          <p:cNvSpPr/>
          <p:nvPr/>
        </p:nvSpPr>
        <p:spPr>
          <a:xfrm>
            <a:off x="7269480" y="3986784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03720" y="36576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recovered</a:t>
            </a:r>
          </a:p>
        </p:txBody>
      </p:sp>
      <p:sp>
        <p:nvSpPr>
          <p:cNvPr id="65" name="Oval 64"/>
          <p:cNvSpPr/>
          <p:nvPr/>
        </p:nvSpPr>
        <p:spPr>
          <a:xfrm>
            <a:off x="8183880" y="3847338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818120" y="3518154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3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85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63550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trusted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88720" y="6858000"/>
            <a:ext cx="7406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Live run, 2026-10-02; recovery shown in announced time-lapse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98280" y="3200400"/>
            <a:ext cx="7086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72600" y="320040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Forged observation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984480" y="3310128"/>
            <a:ext cx="3063240" cy="49377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REJECTED 401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98280" y="4023360"/>
            <a:ext cx="7086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72600" y="402336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Replayed observation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984480" y="4133088"/>
            <a:ext cx="3063240" cy="49377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REJECTED 409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098280" y="4846320"/>
            <a:ext cx="7086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72600" y="484632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Tamper + signed visual evidence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2984480" y="4956048"/>
            <a:ext cx="3063240" cy="493776"/>
          </a:xfrm>
          <a:prstGeom prst="roundRect">
            <a:avLst>
              <a:gd name="adj" fmla="val 50000"/>
            </a:avLst>
          </a:prstGeom>
          <a:solidFill>
            <a:srgbClr val="FA7C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QUARANTINED, score 30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98280" y="5669280"/>
            <a:ext cx="7086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372600" y="566928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Forged 'all clear' in quarantine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2984480" y="5779008"/>
            <a:ext cx="3063240" cy="49377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401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98280" y="6492240"/>
            <a:ext cx="7086600" cy="7132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72600" y="6492240"/>
            <a:ext cx="3657600" cy="7132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Verified recovery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2984480" y="6601968"/>
            <a:ext cx="3063240" cy="493776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TRUSTED 85; chain VERIFIED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88720" y="7498080"/>
            <a:ext cx="2852928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71600" y="7543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785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71600" y="81198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Python tests passing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224528" y="7498080"/>
            <a:ext cx="2852928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07408" y="7543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40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407408" y="81198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JavaScript tests passing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260336" y="7498080"/>
            <a:ext cx="2852928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443216" y="7543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70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443216" y="81198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NIST ACVP vectors agree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296144" y="7498080"/>
            <a:ext cx="2852928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79024" y="7543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10.0 ms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79024" y="81198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full PQC handshake (median)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3331952" y="7498080"/>
            <a:ext cx="2852928" cy="1325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3514832" y="7543800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~5 fps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3514832" y="8119872"/>
            <a:ext cx="256032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live USB webcam, no false camera alarm in 2 × 90 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0E0E0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798248" y="1922336"/>
            <a:ext cx="2642092" cy="641986"/>
            <a:chOff x="0" y="0"/>
            <a:chExt cx="695860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5860" cy="169083"/>
            </a:xfrm>
            <a:custGeom>
              <a:avLst/>
              <a:gdLst/>
              <a:ahLst/>
              <a:cxnLst/>
              <a:rect r="r" b="b" t="t" l="l"/>
              <a:pathLst>
                <a:path h="169083" w="695860">
                  <a:moveTo>
                    <a:pt x="84541" y="0"/>
                  </a:moveTo>
                  <a:lnTo>
                    <a:pt x="611318" y="0"/>
                  </a:lnTo>
                  <a:cubicBezTo>
                    <a:pt x="633740" y="0"/>
                    <a:pt x="655243" y="8907"/>
                    <a:pt x="671098" y="24762"/>
                  </a:cubicBezTo>
                  <a:cubicBezTo>
                    <a:pt x="686953" y="40616"/>
                    <a:pt x="695860" y="62120"/>
                    <a:pt x="695860" y="84541"/>
                  </a:cubicBezTo>
                  <a:lnTo>
                    <a:pt x="695860" y="84541"/>
                  </a:lnTo>
                  <a:cubicBezTo>
                    <a:pt x="695860" y="106963"/>
                    <a:pt x="686953" y="128467"/>
                    <a:pt x="671098" y="144321"/>
                  </a:cubicBezTo>
                  <a:cubicBezTo>
                    <a:pt x="655243" y="160176"/>
                    <a:pt x="633740" y="169083"/>
                    <a:pt x="61131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95860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990242" y="-236831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200432" y="8538631"/>
            <a:ext cx="1365659" cy="1173861"/>
            <a:chOff x="0" y="0"/>
            <a:chExt cx="4028567" cy="34627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3462782"/>
            </a:xfrm>
            <a:custGeom>
              <a:avLst/>
              <a:gdLst/>
              <a:ahLst/>
              <a:cxnLst/>
              <a:rect r="r" b="b" t="t" l="l"/>
              <a:pathLst>
                <a:path h="3462782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5" name="TextBox 24"/>
          <p:cNvSpPr txBox="1"/>
          <p:nvPr/>
        </p:nvSpPr>
        <p:spPr>
          <a:xfrm>
            <a:off x="7249608" y="1922336"/>
            <a:ext cx="3739372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Roadmap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454545"/>
                </a:solidFill>
                <a:latin typeface="IBM Plex Sans"/>
                <a:ea typeface="IBM Plex Sans"/>
                <a:cs typeface="IBM Plex Sans"/>
              </a:rPr>
              <a:t>If selected for Round 2: from software prototype to a validated hardware deployment</a:t>
            </a:r>
          </a:p>
        </p:txBody>
      </p:sp>
      <p:sp>
        <p:nvSpPr>
          <p:cNvPr id="27" name="Oval 26"/>
          <p:cNvSpPr/>
          <p:nvPr/>
        </p:nvSpPr>
        <p:spPr>
          <a:xfrm>
            <a:off x="1188720" y="3291840"/>
            <a:ext cx="548640" cy="548640"/>
          </a:xfrm>
          <a:prstGeom prst="ellipse">
            <a:avLst/>
          </a:prstGeom>
          <a:solidFill>
            <a:srgbClr val="FA7CB5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1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773936" y="3566160"/>
            <a:ext cx="242316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88720" y="39776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Hardware bring-up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526280"/>
            <a:ext cx="2816352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617720"/>
            <a:ext cx="258775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compile and flash the ESP32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match the 7 byte-exact protocol test vectors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reed switch, then BME280 and MPU6050</a:t>
            </a:r>
          </a:p>
        </p:txBody>
      </p:sp>
      <p:sp>
        <p:nvSpPr>
          <p:cNvPr id="32" name="Oval 31"/>
          <p:cNvSpPr/>
          <p:nvPr/>
        </p:nvSpPr>
        <p:spPr>
          <a:xfrm>
            <a:off x="4233672" y="32918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818888" y="3566160"/>
            <a:ext cx="242316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233672" y="39776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Staged validation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33672" y="4526280"/>
            <a:ext cx="2816352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70832" y="4617720"/>
            <a:ext cx="258775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cover, turn, freeze and unplug the camera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open the enclosure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record false alarms and misses</a:t>
            </a:r>
          </a:p>
        </p:txBody>
      </p:sp>
      <p:sp>
        <p:nvSpPr>
          <p:cNvPr id="37" name="Oval 36"/>
          <p:cNvSpPr/>
          <p:nvPr/>
        </p:nvSpPr>
        <p:spPr>
          <a:xfrm>
            <a:off x="7278624" y="32918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63840" y="3566160"/>
            <a:ext cx="242316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278624" y="39776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Calibrate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78624" y="4526280"/>
            <a:ext cx="2816352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15784" y="4617720"/>
            <a:ext cx="258775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set camera thresholds from recorded data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tune trust weights from incidents, not the demo</a:t>
            </a:r>
          </a:p>
        </p:txBody>
      </p:sp>
      <p:sp>
        <p:nvSpPr>
          <p:cNvPr id="42" name="Oval 41"/>
          <p:cNvSpPr/>
          <p:nvPr/>
        </p:nvSpPr>
        <p:spPr>
          <a:xfrm>
            <a:off x="10323576" y="32918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4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908792" y="3566160"/>
            <a:ext cx="2423160" cy="0"/>
          </a:xfrm>
          <a:prstGeom prst="line">
            <a:avLst/>
          </a:prstGeom>
          <a:ln w="19050">
            <a:solidFill>
              <a:srgbClr val="11111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323576" y="39776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Harden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323576" y="4526280"/>
            <a:ext cx="2816352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60736" y="4617720"/>
            <a:ext cx="258775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anchor the evidence head externally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key rotation, TLS by default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more than one gateway</a:t>
            </a:r>
          </a:p>
        </p:txBody>
      </p:sp>
      <p:sp>
        <p:nvSpPr>
          <p:cNvPr id="47" name="Oval 46"/>
          <p:cNvSpPr/>
          <p:nvPr/>
        </p:nvSpPr>
        <p:spPr>
          <a:xfrm>
            <a:off x="13368528" y="3291840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368528" y="3977640"/>
            <a:ext cx="281635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Research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368528" y="4526280"/>
            <a:ext cx="2816352" cy="2240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505688" y="4617720"/>
            <a:ext cx="2587752" cy="2103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measure ML-KEM / ML-DSA on an ESP32-class device</a:t>
            </a:r>
          </a:p>
          <a:p>
            <a:pPr algn="l" marL="292608" indent="-292608">
              <a:lnSpc>
                <a:spcPct val="108000"/>
              </a:lnSpc>
              <a:spcAft>
                <a:spcPts val="8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5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 post-quantum device path if feasible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88720" y="7086600"/>
            <a:ext cx="1444752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 i="0">
                <a:solidFill>
                  <a:srgbClr val="4C1D95"/>
                </a:solidFill>
                <a:latin typeface="IBM Plex Sans"/>
                <a:ea typeface="IBM Plex Sans"/>
                <a:cs typeface="IBM Plex Sans"/>
              </a:rPr>
              <a:t>Hardware is an adapter step: </a:t>
            </a:r>
            <a:r>
              <a:rPr sz="17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same protocol, same gateway, same trust engine (docs/hardware/).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8AF7"/>
        </a:solidFill>
      </p:bgPr>
    </p:bg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0">
            <a:off x="-1597105" y="2516808"/>
            <a:ext cx="2625805" cy="830953"/>
            <a:chOff x="0" y="0"/>
            <a:chExt cx="5816600" cy="184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28206" y="9780631"/>
            <a:ext cx="2625805" cy="830953"/>
            <a:chOff x="0" y="0"/>
            <a:chExt cx="5816600" cy="1840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367623" y="9656173"/>
            <a:ext cx="2625805" cy="830953"/>
            <a:chOff x="0" y="0"/>
            <a:chExt cx="5816600" cy="1840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990242" y="9984655"/>
            <a:ext cx="173987" cy="17398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353346" y="9948585"/>
            <a:ext cx="173987" cy="17398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75310" y="1893761"/>
            <a:ext cx="4381968" cy="641986"/>
            <a:chOff x="0" y="0"/>
            <a:chExt cx="1154099" cy="1690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4099" cy="169083"/>
            </a:xfrm>
            <a:custGeom>
              <a:avLst/>
              <a:gdLst/>
              <a:ahLst/>
              <a:cxnLst/>
              <a:rect r="r" b="b" t="t" l="l"/>
              <a:pathLst>
                <a:path h="169083" w="1154099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3002366" y="-47625"/>
            <a:ext cx="5063940" cy="1941386"/>
          </a:xfrm>
          <a:custGeom>
            <a:avLst/>
            <a:gdLst/>
            <a:ahLst/>
            <a:cxnLst/>
            <a:rect r="r" b="b" t="t" l="l"/>
            <a:pathLst>
              <a:path h="1941386" w="5063940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8316142" y="9882546"/>
            <a:ext cx="1743273" cy="26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Q-Hack India 2026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590903" y="-208256"/>
            <a:ext cx="2134862" cy="2130592"/>
          </a:xfrm>
          <a:custGeom>
            <a:avLst/>
            <a:gdLst/>
            <a:ahLst/>
            <a:cxnLst/>
            <a:rect r="r" b="b" t="t" l="l"/>
            <a:pathLst>
              <a:path h="2130592" w="2134862">
                <a:moveTo>
                  <a:pt x="0" y="0"/>
                </a:moveTo>
                <a:lnTo>
                  <a:pt x="2134862" y="0"/>
                </a:lnTo>
                <a:lnTo>
                  <a:pt x="2134862" y="2130592"/>
                </a:lnTo>
                <a:lnTo>
                  <a:pt x="0" y="2130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6388711" y="8987334"/>
            <a:ext cx="1677594" cy="1065265"/>
            <a:chOff x="0" y="0"/>
            <a:chExt cx="4028567" cy="25581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8567" cy="2558161"/>
            </a:xfrm>
            <a:custGeom>
              <a:avLst/>
              <a:gdLst/>
              <a:ahLst/>
              <a:cxnLst/>
              <a:rect r="r" b="b" t="t" l="l"/>
              <a:pathLst>
                <a:path h="2558161" w="4028567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564806" y="3523271"/>
            <a:ext cx="2625805" cy="830953"/>
            <a:chOff x="0" y="0"/>
            <a:chExt cx="5816600" cy="1840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16600" cy="1840738"/>
            </a:xfrm>
            <a:custGeom>
              <a:avLst/>
              <a:gdLst/>
              <a:ahLst/>
              <a:cxnLst/>
              <a:rect r="r" b="b" t="t" l="l"/>
              <a:pathLst>
                <a:path h="1840738" w="5816600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2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64376" y="407706"/>
            <a:ext cx="3092172" cy="1030724"/>
          </a:xfrm>
          <a:custGeom>
            <a:avLst/>
            <a:gdLst/>
            <a:ahLst/>
            <a:cxnLst/>
            <a:rect r="r" b="b" t="t" l="l"/>
            <a:pathLst>
              <a:path h="1030724" w="3092172">
                <a:moveTo>
                  <a:pt x="0" y="0"/>
                </a:moveTo>
                <a:lnTo>
                  <a:pt x="3092172" y="0"/>
                </a:lnTo>
                <a:lnTo>
                  <a:pt x="3092172" y="1030724"/>
                </a:lnTo>
                <a:lnTo>
                  <a:pt x="0" y="103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id="27" name="TextBox 26"/>
          <p:cNvSpPr txBox="1"/>
          <p:nvPr/>
        </p:nvSpPr>
        <p:spPr>
          <a:xfrm>
            <a:off x="6126670" y="1893761"/>
            <a:ext cx="5479248" cy="6419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References and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633472"/>
            <a:ext cx="14996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9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Standards, research, libraries and our repository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20040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Standards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3657600"/>
            <a:ext cx="7223760" cy="23042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767328"/>
            <a:ext cx="6903720" cy="2304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FIPS 203, ML-KEM (2024)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doi.org/10.6028/NIST.FIPS.203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FIPS 204, ML-DSA (2024)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doi.org/10.6028/NIST.FIPS.204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SP 800-38D, GCM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doi.org/10.6028/NIST.SP.800-38D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FIPS 180-4, SHA-256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doi.org/10.6028/NIST.FIPS.180-4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RFC 5869 HKDF, RFC 2104 HMAC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rfc-editor.org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NIST ACVP test vectors  </a:t>
            </a:r>
            <a:r>
              <a:rPr sz="1400" b="0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github.com/usnistgov/ACVP-Server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6281928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Research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6739128"/>
            <a:ext cx="7223760" cy="12893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848856"/>
            <a:ext cx="6903720" cy="1289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P. W. Shor, Algorithms for quantum computation: discrete logarithms and factoring, FOCS 1994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L. K. Grover, A fast quantum mechanical algorithm for database search, STOC 1996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320040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Libraries and tools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15400" y="3657600"/>
            <a:ext cx="7223760" cy="1965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3767328"/>
            <a:ext cx="6903720" cy="1965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pqcrypto 1.0.0 (Apache-2.0): ML-KEM-768, ML-DSA-65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cryptography (PyCA): AES-256-GCM, HKDF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kyber-py, dilithium-py: test-only cross-checks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Ultralytics YOLO11n (AGPL-3.0), OpenCV, NumPy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FastAPI, Pydantic, SQLite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943600"/>
            <a:ext cx="72237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Our work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15400" y="6400800"/>
            <a:ext cx="7223760" cy="16276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98280" y="6510528"/>
            <a:ext cx="6903720" cy="1627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1" i="0">
                <a:solidFill>
                  <a:srgbClr val="111111"/>
                </a:solidFill>
                <a:latin typeface="Consolas"/>
                <a:ea typeface="Consolas"/>
                <a:cs typeface="Consolas"/>
              </a:rPr>
              <a:t>github.com/Zynx095/Q-shield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an original repository, not a fork; third-party libraries are dependencies under their licences</a:t>
            </a:r>
          </a:p>
          <a:p>
            <a:pPr algn="l" marL="292608" indent="-292608">
              <a:lnSpc>
                <a:spcPct val="100000"/>
              </a:lnSpc>
              <a:spcAft>
                <a:spcPts val="300"/>
              </a:spcAft>
              <a:buClr>
                <a:srgbClr val="FA7CB5"/>
              </a:buClr>
              <a:buSzPct val="70000"/>
              <a:buFont typeface="Arial"/>
              <a:buChar char="■"/>
            </a:pPr>
            <a:r>
              <a:rPr sz="1400" b="0" i="0">
                <a:solidFill>
                  <a:srgbClr val="111111"/>
                </a:solidFill>
                <a:latin typeface="IBM Plex Sans"/>
                <a:ea typeface="IBM Plex Sans"/>
                <a:cs typeface="IBM Plex Sans"/>
              </a:rPr>
              <a:t>docs/: specifications, test results and limitations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DAHWTXXNjRc</dc:identifier>
  <dcterms:modified xsi:type="dcterms:W3CDTF">2011-08-01T06:04:30Z</dcterms:modified>
  <cp:revision>1</cp:revision>
  <dc:title>Q-Hack_India26</dc:title>
</cp:coreProperties>
</file>