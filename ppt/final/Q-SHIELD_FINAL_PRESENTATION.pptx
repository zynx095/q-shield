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" charset="1" panose="02020603050405020304"/>
      <p:regular r:id="rId14"/>
    </p:embeddedFont>
    <p:embeddedFont>
      <p:font typeface="Times New Roman Bold" charset="1" panose="02020803070505020304"/>
      <p:regular r:id="rId15"/>
    </p:embeddedFont>
    <p:embeddedFont>
      <p:font typeface="Canva Sans" charset="1" panose="020B05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jpeg" Type="http://schemas.openxmlformats.org/officeDocument/2006/relationships/image"/><Relationship Id="rId8" Target="../media/image4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5" id="5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7" id="7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6294" r="1" b="-8599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350872" y="9407052"/>
            <a:ext cx="25187234" cy="908523"/>
            <a:chOff x="0" y="0"/>
            <a:chExt cx="33582978" cy="12113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610501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7212" y="2398062"/>
            <a:ext cx="9296390" cy="666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1. Participant Information &amp; Topic Name</a:t>
            </a:r>
          </a:p>
          <a:p>
            <a:pPr algn="l">
              <a:lnSpc>
                <a:spcPts val="1600"/>
              </a:lnSpc>
            </a:pPr>
          </a:p>
          <a:p>
            <a:pPr algn="l"/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Q-SHIELD</a:t>
            </a:r>
          </a:p>
          <a:p>
            <a:pPr algn="l">
              <a:lnSpc>
                <a:spcPts val="2000"/>
              </a:lnSpc>
            </a:pPr>
            <a:r>
              <a:rPr lang="en-US" sz="1700" i="true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Continuous trust, not one-time trust.</a:t>
            </a:r>
          </a:p>
          <a:p>
            <a:pPr algn="l">
              <a:lnSpc>
                <a:spcPts val="2200"/>
              </a:lnSpc>
            </a:pP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Team Name –</a:t>
            </a: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Team Lead Name –</a:t>
            </a: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Team Lead Contact No –</a:t>
            </a:r>
          </a:p>
          <a:p>
            <a:pPr algn="l">
              <a:lnSpc>
                <a:spcPts val="1200"/>
              </a:lnSpc>
            </a:pP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Selected Track:</a:t>
            </a:r>
          </a:p>
          <a:p>
            <a:pPr algn="l" marL="1079068" indent="-359689" lvl="2">
              <a:lnSpc>
                <a:spcPts val="2800"/>
              </a:lnSpc>
              <a:buFont typeface="Arial"/>
              <a:buChar char="●"/>
            </a:pPr>
            <a:r>
              <a:rPr lang="en-US" sz="20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Post-Quantum Cryptography (PQC)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300000" cy="55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2. Problem Definition</a:t>
            </a:r>
          </a:p>
          <a:p>
            <a:pPr algn="l">
              <a:lnSpc>
                <a:spcPts val="1600"/>
              </a:lnSpc>
            </a:pPr>
          </a:p>
          <a:p>
            <a:pPr algn="l"/>
            <a:r>
              <a:rPr lang="en-US" sz="15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THE PROBLEM</a:t>
            </a:r>
          </a:p>
          <a:p>
            <a:pPr algn="l">
              <a:lnSpc>
                <a:spcPts val="1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Authentication answers:</a:t>
            </a:r>
          </a:p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“Who are you?”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AIoT security must keep asking:</a:t>
            </a:r>
          </a:p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“Can you still be trusted?”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TextBox 1201" id="1201"/>
          <p:cNvSpPr txBox="true"/>
          <p:nvPr/>
        </p:nvSpPr>
        <p:spPr>
          <a:xfrm rot="0">
            <a:off x="12600000" y="2050000"/>
            <a:ext cx="3100000" cy="4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 b="true">
                <a:solidFill>
                  <a:srgbClr val="8C8C8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AUTHENTICATE ONCE</a:t>
            </a:r>
          </a:p>
        </p:txBody>
      </p:sp>
      <p:sp>
        <p:nvSpPr>
          <p:cNvPr name="Hex 1202" id="1202"/>
          <p:cNvSpPr/>
          <p:nvPr/>
        </p:nvSpPr>
        <p:spPr>
          <a:xfrm>
            <a:off x="12810000" y="2610000"/>
            <a:ext cx="180000" cy="180000"/>
          </a:xfrm>
          <a:prstGeom prst="hexagon">
            <a:avLst/>
          </a:prstGeom>
          <a:solidFill>
            <a:srgbClr val="E8E8E8"/>
          </a:solidFill>
          <a:ln w="9525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name="TextBox 1203" id="1203"/>
          <p:cNvSpPr txBox="true"/>
          <p:nvPr/>
        </p:nvSpPr>
        <p:spPr>
          <a:xfrm rot="0">
            <a:off x="13130000" y="2530000"/>
            <a:ext cx="26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DEVICE</a:t>
            </a:r>
          </a:p>
        </p:txBody>
      </p:sp>
      <p:cxnSp>
        <p:nvCxnSpPr>
          <p:cNvPr name="Line 1204" id="1204"/>
          <p:cNvCxnSpPr/>
          <p:nvPr/>
        </p:nvCxnSpPr>
        <p:spPr>
          <a:xfrm flipH="false" flipV="false">
            <a:off x="12900000" y="2792000"/>
            <a:ext cx="1" cy="816000"/>
          </a:xfrm>
          <a:prstGeom prst="line">
            <a:avLst/>
          </a:prstGeom>
          <a:ln w="15875">
            <a:solidFill>
              <a:srgbClr val="8C8C8C"/>
            </a:solidFill>
          </a:ln>
        </p:spPr>
      </p:cxnSp>
      <p:sp>
        <p:nvSpPr>
          <p:cNvPr name="Hex 1205" id="1205"/>
          <p:cNvSpPr/>
          <p:nvPr/>
        </p:nvSpPr>
        <p:spPr>
          <a:xfrm>
            <a:off x="12810000" y="3610000"/>
            <a:ext cx="180000" cy="180000"/>
          </a:xfrm>
          <a:prstGeom prst="hexagon">
            <a:avLst/>
          </a:prstGeom>
          <a:solidFill>
            <a:srgbClr val="E8E8E8"/>
          </a:solidFill>
          <a:ln w="9525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name="TextBox 1206" id="1206"/>
          <p:cNvSpPr txBox="true"/>
          <p:nvPr/>
        </p:nvSpPr>
        <p:spPr>
          <a:xfrm rot="0">
            <a:off x="13130000" y="3530000"/>
            <a:ext cx="26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AUTHENTICATED</a:t>
            </a:r>
          </a:p>
        </p:txBody>
      </p:sp>
      <p:cxnSp>
        <p:nvCxnSpPr>
          <p:cNvPr name="Line 1207" id="1207"/>
          <p:cNvCxnSpPr/>
          <p:nvPr/>
        </p:nvCxnSpPr>
        <p:spPr>
          <a:xfrm flipH="false" flipV="false">
            <a:off x="12900000" y="3792000"/>
            <a:ext cx="1" cy="816000"/>
          </a:xfrm>
          <a:prstGeom prst="line">
            <a:avLst/>
          </a:prstGeom>
          <a:ln w="15875">
            <a:solidFill>
              <a:srgbClr val="8C8C8C"/>
            </a:solidFill>
          </a:ln>
        </p:spPr>
      </p:cxnSp>
      <p:sp>
        <p:nvSpPr>
          <p:cNvPr name="Hex 1208" id="1208"/>
          <p:cNvSpPr/>
          <p:nvPr/>
        </p:nvSpPr>
        <p:spPr>
          <a:xfrm>
            <a:off x="12810000" y="4610000"/>
            <a:ext cx="180000" cy="180000"/>
          </a:xfrm>
          <a:prstGeom prst="hexagon">
            <a:avLst/>
          </a:prstGeom>
          <a:solidFill>
            <a:srgbClr val="D9A98A"/>
          </a:solidFill>
          <a:ln w="9525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name="TextBox 1209" id="1209"/>
          <p:cNvSpPr txBox="true"/>
          <p:nvPr/>
        </p:nvSpPr>
        <p:spPr>
          <a:xfrm rot="0">
            <a:off x="13130000" y="4530000"/>
            <a:ext cx="26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TRUSTED FOREVER</a:t>
            </a:r>
          </a:p>
        </p:txBody>
      </p:sp>
      <p:sp>
        <p:nvSpPr>
          <p:cNvPr name="TextBox 1210" id="1210"/>
          <p:cNvSpPr txBox="true"/>
          <p:nvPr/>
        </p:nvSpPr>
        <p:spPr>
          <a:xfrm rot="0">
            <a:off x="13130000" y="4890000"/>
            <a:ext cx="26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← the gap</a:t>
            </a:r>
          </a:p>
        </p:txBody>
      </p:sp>
      <p:sp>
        <p:nvSpPr>
          <p:cNvPr name="TextBox 1211" id="1211"/>
          <p:cNvSpPr txBox="true"/>
          <p:nvPr/>
        </p:nvSpPr>
        <p:spPr>
          <a:xfrm rot="0">
            <a:off x="15700000" y="2050000"/>
            <a:ext cx="3300000" cy="4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Q-SHIELD</a:t>
            </a:r>
          </a:p>
        </p:txBody>
      </p:sp>
      <p:sp>
        <p:nvSpPr>
          <p:cNvPr name="Hex 1212" id="1212"/>
          <p:cNvSpPr/>
          <p:nvPr/>
        </p:nvSpPr>
        <p:spPr>
          <a:xfrm>
            <a:off x="15920000" y="2620000"/>
            <a:ext cx="160000" cy="160000"/>
          </a:xfrm>
          <a:prstGeom prst="hexagon">
            <a:avLst/>
          </a:prstGeom>
          <a:solidFill>
            <a:srgbClr val="FF914D"/>
          </a:solidFill>
          <a:ln w="9525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13" id="1213"/>
          <p:cNvSpPr txBox="true"/>
          <p:nvPr/>
        </p:nvSpPr>
        <p:spPr>
          <a:xfrm rot="0">
            <a:off x="16230000" y="253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AUTHENTICATE</a:t>
            </a:r>
          </a:p>
        </p:txBody>
      </p:sp>
      <p:cxnSp>
        <p:nvCxnSpPr>
          <p:cNvPr name="Line 1214" id="1214"/>
          <p:cNvCxnSpPr/>
          <p:nvPr/>
        </p:nvCxnSpPr>
        <p:spPr>
          <a:xfrm flipH="false" flipV="false">
            <a:off x="16000000" y="2782000"/>
            <a:ext cx="1" cy="556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Hex 1215" id="1215"/>
          <p:cNvSpPr/>
          <p:nvPr/>
        </p:nvSpPr>
        <p:spPr>
          <a:xfrm>
            <a:off x="15920000" y="3340000"/>
            <a:ext cx="160000" cy="160000"/>
          </a:xfrm>
          <a:prstGeom prst="hexagon">
            <a:avLst/>
          </a:prstGeom>
          <a:solidFill>
            <a:srgbClr val="FF914D"/>
          </a:solidFill>
          <a:ln w="9525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16" id="1216"/>
          <p:cNvSpPr txBox="true"/>
          <p:nvPr/>
        </p:nvSpPr>
        <p:spPr>
          <a:xfrm rot="0">
            <a:off x="16230000" y="325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OBSERVE</a:t>
            </a:r>
          </a:p>
        </p:txBody>
      </p:sp>
      <p:cxnSp>
        <p:nvCxnSpPr>
          <p:cNvPr name="Line 1217" id="1217"/>
          <p:cNvCxnSpPr/>
          <p:nvPr/>
        </p:nvCxnSpPr>
        <p:spPr>
          <a:xfrm flipH="false" flipV="false">
            <a:off x="16000000" y="3502000"/>
            <a:ext cx="1" cy="556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Hex 1218" id="1218"/>
          <p:cNvSpPr/>
          <p:nvPr/>
        </p:nvSpPr>
        <p:spPr>
          <a:xfrm>
            <a:off x="15920000" y="4060000"/>
            <a:ext cx="160000" cy="160000"/>
          </a:xfrm>
          <a:prstGeom prst="hexagon">
            <a:avLst/>
          </a:prstGeom>
          <a:solidFill>
            <a:srgbClr val="FF914D"/>
          </a:solidFill>
          <a:ln w="9525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19" id="1219"/>
          <p:cNvSpPr txBox="true"/>
          <p:nvPr/>
        </p:nvSpPr>
        <p:spPr>
          <a:xfrm rot="0">
            <a:off x="16230000" y="397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CORRELATE</a:t>
            </a:r>
          </a:p>
        </p:txBody>
      </p:sp>
      <p:cxnSp>
        <p:nvCxnSpPr>
          <p:cNvPr name="Line 1220" id="1220"/>
          <p:cNvCxnSpPr/>
          <p:nvPr/>
        </p:nvCxnSpPr>
        <p:spPr>
          <a:xfrm flipH="false" flipV="false">
            <a:off x="16000000" y="4222000"/>
            <a:ext cx="1" cy="556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Hex 1221" id="1221"/>
          <p:cNvSpPr/>
          <p:nvPr/>
        </p:nvSpPr>
        <p:spPr>
          <a:xfrm>
            <a:off x="15920000" y="4780000"/>
            <a:ext cx="160000" cy="160000"/>
          </a:xfrm>
          <a:prstGeom prst="hexagon">
            <a:avLst/>
          </a:prstGeom>
          <a:solidFill>
            <a:srgbClr val="FF914D"/>
          </a:solidFill>
          <a:ln w="9525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22" id="1222"/>
          <p:cNvSpPr txBox="true"/>
          <p:nvPr/>
        </p:nvSpPr>
        <p:spPr>
          <a:xfrm rot="0">
            <a:off x="16230000" y="469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</a:t>
            </a:r>
          </a:p>
        </p:txBody>
      </p:sp>
      <p:cxnSp>
        <p:nvCxnSpPr>
          <p:cNvPr name="Line 1223" id="1223"/>
          <p:cNvCxnSpPr/>
          <p:nvPr/>
        </p:nvCxnSpPr>
        <p:spPr>
          <a:xfrm flipH="false" flipV="false">
            <a:off x="16000000" y="4942000"/>
            <a:ext cx="1" cy="556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Hex 1224" id="1224"/>
          <p:cNvSpPr/>
          <p:nvPr/>
        </p:nvSpPr>
        <p:spPr>
          <a:xfrm>
            <a:off x="15920000" y="5500000"/>
            <a:ext cx="160000" cy="160000"/>
          </a:xfrm>
          <a:prstGeom prst="hexagon">
            <a:avLst/>
          </a:prstGeom>
          <a:solidFill>
            <a:srgbClr val="FF914D"/>
          </a:solidFill>
          <a:ln w="9525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25" id="1225"/>
          <p:cNvSpPr txBox="true"/>
          <p:nvPr/>
        </p:nvSpPr>
        <p:spPr>
          <a:xfrm rot="0">
            <a:off x="16230000" y="541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RESPOND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3000"/>
              </a:blip>
              <a:stretch>
                <a:fillRect l="0" t="0" r="-1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94" r="1" b="-8599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88" t="-27243" r="-4375" b="-528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17212" y="2398062"/>
            <a:ext cx="8600000" cy="63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3. Proposed Solution &amp; Execution Plan</a:t>
            </a:r>
          </a:p>
          <a:p>
            <a:pPr algn="l">
              <a:lnSpc>
                <a:spcPts val="1400"/>
              </a:lnSpc>
            </a:pPr>
          </a:p>
          <a:p>
            <a:pPr algn="l"/>
            <a:r>
              <a:rPr lang="en-US" sz="26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CONTINUOUS TRUST,</a:t>
            </a:r>
          </a:p>
          <a:p>
            <a:pPr algn="l">
              <a:lnSpc>
                <a:spcPts val="3400"/>
              </a:lnSpc>
            </a:pPr>
            <a:r>
              <a:rPr lang="en-US" sz="2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NOT ONE-TIME TRUST.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Every device message and every AI observation is authenticated,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then fused into one deterministic, explainable trust score.</a:t>
            </a:r>
          </a:p>
          <a:p>
            <a:pPr algn="l">
              <a:lnSpc>
                <a:spcPts val="16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 valid signature never raises trust by itself —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trust is earned only by what the evidence actually says.</a:t>
            </a:r>
          </a:p>
        </p:txBody>
      </p:sp>
      <p:sp>
        <p:nvSpPr>
          <p:cNvPr name="TextBox 1226" id="1226"/>
          <p:cNvSpPr txBox="true"/>
          <p:nvPr/>
        </p:nvSpPr>
        <p:spPr>
          <a:xfrm rot="0">
            <a:off x="12300000" y="2240000"/>
            <a:ext cx="2000000" cy="3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ESP32</a:t>
            </a:r>
          </a:p>
        </p:txBody>
      </p:sp>
      <p:sp>
        <p:nvSpPr>
          <p:cNvPr name="TextBox 1227" id="1227"/>
          <p:cNvSpPr txBox="true"/>
          <p:nvPr/>
        </p:nvSpPr>
        <p:spPr>
          <a:xfrm rot="0">
            <a:off x="12300000" y="2560000"/>
            <a:ext cx="20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Telemetry / Sensors</a:t>
            </a:r>
          </a:p>
        </p:txBody>
      </p:sp>
      <p:sp>
        <p:nvSpPr>
          <p:cNvPr name="Node 1228" id="1228"/>
          <p:cNvSpPr/>
          <p:nvPr/>
        </p:nvSpPr>
        <p:spPr>
          <a:xfrm>
            <a:off x="13230000" y="2430000"/>
            <a:ext cx="140000" cy="14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1229" id="1229"/>
          <p:cNvSpPr txBox="true"/>
          <p:nvPr/>
        </p:nvSpPr>
        <p:spPr>
          <a:xfrm rot="0">
            <a:off x="14250000" y="2240000"/>
            <a:ext cx="2000000" cy="3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Camera</a:t>
            </a:r>
          </a:p>
        </p:txBody>
      </p:sp>
      <p:sp>
        <p:nvSpPr>
          <p:cNvPr name="TextBox 1230" id="1230"/>
          <p:cNvSpPr txBox="true"/>
          <p:nvPr/>
        </p:nvSpPr>
        <p:spPr>
          <a:xfrm rot="0">
            <a:off x="14250000" y="2560000"/>
            <a:ext cx="20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YOLO11n → Signed Obs.</a:t>
            </a:r>
          </a:p>
        </p:txBody>
      </p:sp>
      <p:sp>
        <p:nvSpPr>
          <p:cNvPr name="Node 1231" id="1231"/>
          <p:cNvSpPr/>
          <p:nvPr/>
        </p:nvSpPr>
        <p:spPr>
          <a:xfrm>
            <a:off x="15180000" y="2430000"/>
            <a:ext cx="140000" cy="14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cxnSp>
        <p:nvCxnSpPr>
          <p:cNvPr name="Line 1232" id="1232"/>
          <p:cNvCxnSpPr/>
          <p:nvPr/>
        </p:nvCxnSpPr>
        <p:spPr>
          <a:xfrm flipH="false" flipV="false">
            <a:off x="13300000" y="2570000"/>
            <a:ext cx="975000" cy="710000"/>
          </a:xfrm>
          <a:prstGeom prst="line">
            <a:avLst/>
          </a:prstGeom>
          <a:ln w="12700">
            <a:solidFill>
              <a:srgbClr val="8C8C8C"/>
            </a:solidFill>
          </a:ln>
        </p:spPr>
      </p:cxnSp>
      <p:cxnSp>
        <p:nvCxnSpPr>
          <p:cNvPr name="Line 1233" id="1233"/>
          <p:cNvCxnSpPr/>
          <p:nvPr/>
        </p:nvCxnSpPr>
        <p:spPr>
          <a:xfrm flipH="true" flipV="false">
            <a:off x="14275000" y="2570000"/>
            <a:ext cx="975000" cy="710000"/>
          </a:xfrm>
          <a:prstGeom prst="line">
            <a:avLst/>
          </a:prstGeom>
          <a:ln w="12700">
            <a:solidFill>
              <a:srgbClr val="8C8C8C"/>
            </a:solidFill>
          </a:ln>
        </p:spPr>
      </p:cxnSp>
      <p:sp>
        <p:nvSpPr>
          <p:cNvPr name="Node 1234" id="1234"/>
          <p:cNvSpPr/>
          <p:nvPr/>
        </p:nvSpPr>
        <p:spPr>
          <a:xfrm>
            <a:off x="14190000" y="3265000"/>
            <a:ext cx="170000" cy="17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35" id="1235"/>
          <p:cNvSpPr txBox="true"/>
          <p:nvPr/>
        </p:nvSpPr>
        <p:spPr>
          <a:xfrm rot="0">
            <a:off x="14535000" y="3030000"/>
            <a:ext cx="27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PQC SECURITY LAYER</a:t>
            </a:r>
          </a:p>
        </p:txBody>
      </p:sp>
      <p:sp>
        <p:nvSpPr>
          <p:cNvPr name="TextBox 1236" id="1236"/>
          <p:cNvSpPr txBox="true"/>
          <p:nvPr/>
        </p:nvSpPr>
        <p:spPr>
          <a:xfrm rot="0">
            <a:off x="14535000" y="3330000"/>
            <a:ext cx="27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ML-KEM-768  ·  ML-DSA-65</a:t>
            </a:r>
          </a:p>
        </p:txBody>
      </p:sp>
      <p:cxnSp>
        <p:nvCxnSpPr>
          <p:cNvPr name="Line 1237" id="1237"/>
          <p:cNvCxnSpPr/>
          <p:nvPr/>
        </p:nvCxnSpPr>
        <p:spPr>
          <a:xfrm flipH="false" flipV="false">
            <a:off x="14275000" y="3435000"/>
            <a:ext cx="1" cy="730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Node 1238" id="1238"/>
          <p:cNvSpPr/>
          <p:nvPr/>
        </p:nvSpPr>
        <p:spPr>
          <a:xfrm>
            <a:off x="14190000" y="4165000"/>
            <a:ext cx="170000" cy="17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39" id="1239"/>
          <p:cNvSpPr txBox="true"/>
          <p:nvPr/>
        </p:nvSpPr>
        <p:spPr>
          <a:xfrm rot="0">
            <a:off x="14535000" y="4080000"/>
            <a:ext cx="29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DYNAMIC TRUST ENGINE</a:t>
            </a:r>
          </a:p>
        </p:txBody>
      </p:sp>
      <p:cxnSp>
        <p:nvCxnSpPr>
          <p:cNvPr name="Line 1240" id="1240"/>
          <p:cNvCxnSpPr/>
          <p:nvPr/>
        </p:nvCxnSpPr>
        <p:spPr>
          <a:xfrm flipH="false" flipV="false">
            <a:off x="14275000" y="4335000"/>
            <a:ext cx="1" cy="465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TextBox 1241" id="1241"/>
          <p:cNvSpPr txBox="true"/>
          <p:nvPr/>
        </p:nvSpPr>
        <p:spPr>
          <a:xfrm rot="0">
            <a:off x="12375000" y="4800000"/>
            <a:ext cx="38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 STATE</a:t>
            </a:r>
          </a:p>
        </p:txBody>
      </p:sp>
      <p:sp>
        <p:nvSpPr>
          <p:cNvPr name="Node 1242" id="1242"/>
          <p:cNvSpPr/>
          <p:nvPr/>
        </p:nvSpPr>
        <p:spPr>
          <a:xfrm>
            <a:off x="12790000" y="5175000"/>
            <a:ext cx="70000" cy="7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43" id="1243"/>
          <p:cNvSpPr txBox="true"/>
          <p:nvPr/>
        </p:nvSpPr>
        <p:spPr>
          <a:xfrm rot="0">
            <a:off x="12975000" y="511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TRUSTED</a:t>
            </a:r>
          </a:p>
        </p:txBody>
      </p:sp>
      <p:sp>
        <p:nvSpPr>
          <p:cNvPr name="Node 1244" id="1244"/>
          <p:cNvSpPr/>
          <p:nvPr/>
        </p:nvSpPr>
        <p:spPr>
          <a:xfrm>
            <a:off x="14240000" y="517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1245" id="1245"/>
          <p:cNvSpPr txBox="true"/>
          <p:nvPr/>
        </p:nvSpPr>
        <p:spPr>
          <a:xfrm rot="0">
            <a:off x="14425000" y="511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SUSPICIOUS</a:t>
            </a:r>
          </a:p>
        </p:txBody>
      </p:sp>
      <p:sp>
        <p:nvSpPr>
          <p:cNvPr name="Node 1246" id="1246"/>
          <p:cNvSpPr/>
          <p:nvPr/>
        </p:nvSpPr>
        <p:spPr>
          <a:xfrm>
            <a:off x="12790000" y="559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1247" id="1247"/>
          <p:cNvSpPr txBox="true"/>
          <p:nvPr/>
        </p:nvSpPr>
        <p:spPr>
          <a:xfrm rot="0">
            <a:off x="12975000" y="553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QUARANTINED</a:t>
            </a:r>
          </a:p>
        </p:txBody>
      </p:sp>
      <p:sp>
        <p:nvSpPr>
          <p:cNvPr name="Node 1248" id="1248"/>
          <p:cNvSpPr/>
          <p:nvPr/>
        </p:nvSpPr>
        <p:spPr>
          <a:xfrm>
            <a:off x="14240000" y="559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1249" id="1249"/>
          <p:cNvSpPr txBox="true"/>
          <p:nvPr/>
        </p:nvSpPr>
        <p:spPr>
          <a:xfrm rot="0">
            <a:off x="14425000" y="553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RECOVERING</a:t>
            </a:r>
          </a:p>
        </p:txBody>
      </p:sp>
      <p:sp>
        <p:nvSpPr>
          <p:cNvPr name="Node 1250" id="1250"/>
          <p:cNvSpPr/>
          <p:nvPr/>
        </p:nvSpPr>
        <p:spPr>
          <a:xfrm>
            <a:off x="12790000" y="601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1251" id="1251"/>
          <p:cNvSpPr txBox="true"/>
          <p:nvPr/>
        </p:nvSpPr>
        <p:spPr>
          <a:xfrm rot="0">
            <a:off x="12975000" y="595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VERIFIED</a:t>
            </a:r>
          </a:p>
        </p:txBody>
      </p:sp>
      <p:sp>
        <p:nvSpPr>
          <p:cNvPr name="Node 1252" id="1252"/>
          <p:cNvSpPr/>
          <p:nvPr/>
        </p:nvSpPr>
        <p:spPr>
          <a:xfrm>
            <a:off x="14240000" y="601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1253" id="1253"/>
          <p:cNvSpPr txBox="true"/>
          <p:nvPr/>
        </p:nvSpPr>
        <p:spPr>
          <a:xfrm rot="0">
            <a:off x="14425000" y="595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RECOVERED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300000" cy="5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4. Technical Design</a:t>
            </a:r>
          </a:p>
          <a:p>
            <a:pPr algn="l">
              <a:lnSpc>
                <a:spcPts val="16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Five layers. Trust computation never touches the detector,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the camera, the firmware or the crypto code.</a:t>
            </a:r>
          </a:p>
          <a:p>
            <a:pPr algn="l">
              <a:lnSpc>
                <a:spcPts val="2000"/>
              </a:lnSpc>
            </a:pPr>
          </a:p>
          <a:p>
            <a:pPr algn="l" marL="539749" indent="-269875" lvl="1">
              <a:lnSpc>
                <a:spcPts val="1889"/>
              </a:lnSpc>
              <a:buFont typeface="Arial"/>
              <a:buChar char="■"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Orange hexagon = implemented, tested</a:t>
            </a:r>
          </a:p>
          <a:p>
            <a:pPr algn="l" marL="539749" indent="-269875" lvl="1">
              <a:lnSpc>
                <a:spcPts val="1889"/>
              </a:lnSpc>
              <a:buFont typeface="Arial"/>
              <a:buChar char="■"/>
            </a:pPr>
            <a:r>
              <a:rPr lang="en-US" sz="13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Gray hexagon = designed, not yet built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Hex 1254" id="1254"/>
          <p:cNvSpPr/>
          <p:nvPr/>
        </p:nvSpPr>
        <p:spPr>
          <a:xfrm>
            <a:off x="12040000" y="1990000"/>
            <a:ext cx="920000" cy="920000"/>
          </a:xfrm>
          <a:prstGeom prst="hexagon">
            <a:avLst/>
          </a:prstGeom>
          <a:solidFill>
            <a:srgbClr val="FF914D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55" id="1255"/>
          <p:cNvSpPr txBox="true"/>
          <p:nvPr/>
        </p:nvSpPr>
        <p:spPr>
          <a:xfrm rot="0">
            <a:off x="12070000" y="2320000"/>
            <a:ext cx="8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AIoT DEVICE</a:t>
            </a:r>
          </a:p>
        </p:txBody>
      </p:sp>
      <p:sp>
        <p:nvSpPr>
          <p:cNvPr name="TextBox 1256" id="1256"/>
          <p:cNvSpPr txBox="true"/>
          <p:nvPr/>
        </p:nvSpPr>
        <p:spPr>
          <a:xfrm rot="0">
            <a:off x="12070000" y="2460000"/>
            <a:ext cx="860000" cy="2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ESP32 · HMAC</a:t>
            </a:r>
          </a:p>
        </p:txBody>
      </p:sp>
      <p:sp>
        <p:nvSpPr>
          <p:cNvPr name="TextBox 1257" id="1257"/>
          <p:cNvSpPr txBox="true"/>
          <p:nvPr/>
        </p:nvSpPr>
        <p:spPr>
          <a:xfrm rot="0">
            <a:off x="13830000" y="2350000"/>
            <a:ext cx="155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8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sp>
        <p:nvSpPr>
          <p:cNvPr name="Hex 1258" id="1258"/>
          <p:cNvSpPr/>
          <p:nvPr/>
        </p:nvSpPr>
        <p:spPr>
          <a:xfrm>
            <a:off x="12730000" y="2864000"/>
            <a:ext cx="920000" cy="920000"/>
          </a:xfrm>
          <a:prstGeom prst="hexagon">
            <a:avLst/>
          </a:prstGeom>
          <a:solidFill>
            <a:srgbClr val="FF914D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59" id="1259"/>
          <p:cNvSpPr txBox="true"/>
          <p:nvPr/>
        </p:nvSpPr>
        <p:spPr>
          <a:xfrm rot="0">
            <a:off x="12760000" y="3194000"/>
            <a:ext cx="8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VISION</a:t>
            </a:r>
          </a:p>
        </p:txBody>
      </p:sp>
      <p:sp>
        <p:nvSpPr>
          <p:cNvPr name="TextBox 1260" id="1260"/>
          <p:cNvSpPr txBox="true"/>
          <p:nvPr/>
        </p:nvSpPr>
        <p:spPr>
          <a:xfrm rot="0">
            <a:off x="12760000" y="3334000"/>
            <a:ext cx="860000" cy="2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YOLO11n</a:t>
            </a:r>
          </a:p>
        </p:txBody>
      </p:sp>
      <p:sp>
        <p:nvSpPr>
          <p:cNvPr name="TextBox 1261" id="1261"/>
          <p:cNvSpPr txBox="true"/>
          <p:nvPr/>
        </p:nvSpPr>
        <p:spPr>
          <a:xfrm rot="0">
            <a:off x="13830000" y="3224000"/>
            <a:ext cx="155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8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sp>
        <p:nvSpPr>
          <p:cNvPr name="Hex 1262" id="1262"/>
          <p:cNvSpPr/>
          <p:nvPr/>
        </p:nvSpPr>
        <p:spPr>
          <a:xfrm>
            <a:off x="12040000" y="3738000"/>
            <a:ext cx="920000" cy="920000"/>
          </a:xfrm>
          <a:prstGeom prst="hexagon">
            <a:avLst/>
          </a:prstGeom>
          <a:solidFill>
            <a:srgbClr val="FF914D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63" id="1263"/>
          <p:cNvSpPr txBox="true"/>
          <p:nvPr/>
        </p:nvSpPr>
        <p:spPr>
          <a:xfrm rot="0">
            <a:off x="12070000" y="4068000"/>
            <a:ext cx="8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SECURITY</a:t>
            </a:r>
          </a:p>
        </p:txBody>
      </p:sp>
      <p:sp>
        <p:nvSpPr>
          <p:cNvPr name="TextBox 1264" id="1264"/>
          <p:cNvSpPr txBox="true"/>
          <p:nvPr/>
        </p:nvSpPr>
        <p:spPr>
          <a:xfrm rot="0">
            <a:off x="12070000" y="4208000"/>
            <a:ext cx="860000" cy="2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ML-DSA · ML-KEM</a:t>
            </a:r>
          </a:p>
        </p:txBody>
      </p:sp>
      <p:sp>
        <p:nvSpPr>
          <p:cNvPr name="TextBox 1265" id="1265"/>
          <p:cNvSpPr txBox="true"/>
          <p:nvPr/>
        </p:nvSpPr>
        <p:spPr>
          <a:xfrm rot="0">
            <a:off x="13830000" y="4098000"/>
            <a:ext cx="155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8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sp>
        <p:nvSpPr>
          <p:cNvPr name="Hex 1266" id="1266"/>
          <p:cNvSpPr/>
          <p:nvPr/>
        </p:nvSpPr>
        <p:spPr>
          <a:xfrm>
            <a:off x="12730000" y="4612000"/>
            <a:ext cx="920000" cy="920000"/>
          </a:xfrm>
          <a:prstGeom prst="hexagon">
            <a:avLst/>
          </a:prstGeom>
          <a:solidFill>
            <a:srgbClr val="FF914D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name="TextBox 1267" id="1267"/>
          <p:cNvSpPr txBox="true"/>
          <p:nvPr/>
        </p:nvSpPr>
        <p:spPr>
          <a:xfrm rot="0">
            <a:off x="12760000" y="4942000"/>
            <a:ext cx="8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 ENGINE</a:t>
            </a:r>
          </a:p>
        </p:txBody>
      </p:sp>
      <p:sp>
        <p:nvSpPr>
          <p:cNvPr name="TextBox 1268" id="1268"/>
          <p:cNvSpPr txBox="true"/>
          <p:nvPr/>
        </p:nvSpPr>
        <p:spPr>
          <a:xfrm rot="0">
            <a:off x="12760000" y="5082000"/>
            <a:ext cx="860000" cy="2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scoring · fusion</a:t>
            </a:r>
          </a:p>
        </p:txBody>
      </p:sp>
      <p:sp>
        <p:nvSpPr>
          <p:cNvPr name="TextBox 1269" id="1269"/>
          <p:cNvSpPr txBox="true"/>
          <p:nvPr/>
        </p:nvSpPr>
        <p:spPr>
          <a:xfrm rot="0">
            <a:off x="13830000" y="4972000"/>
            <a:ext cx="155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8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sp>
        <p:nvSpPr>
          <p:cNvPr name="Hex 1270" id="1270"/>
          <p:cNvSpPr/>
          <p:nvPr/>
        </p:nvSpPr>
        <p:spPr>
          <a:xfrm>
            <a:off x="12040000" y="5486000"/>
            <a:ext cx="920000" cy="920000"/>
          </a:xfrm>
          <a:prstGeom prst="hexagon">
            <a:avLst/>
          </a:prstGeom>
          <a:solidFill>
            <a:srgbClr val="D9D9D9"/>
          </a:solidFill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name="TextBox 1271" id="1271"/>
          <p:cNvSpPr txBox="true"/>
          <p:nvPr/>
        </p:nvSpPr>
        <p:spPr>
          <a:xfrm rot="0">
            <a:off x="12070000" y="5816000"/>
            <a:ext cx="8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55555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RESPONSE</a:t>
            </a:r>
          </a:p>
        </p:txBody>
      </p:sp>
      <p:sp>
        <p:nvSpPr>
          <p:cNvPr name="TextBox 1272" id="1272"/>
          <p:cNvSpPr txBox="true"/>
          <p:nvPr/>
        </p:nvSpPr>
        <p:spPr>
          <a:xfrm rot="0">
            <a:off x="12070000" y="5956000"/>
            <a:ext cx="860000" cy="2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6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quarantine</a:t>
            </a:r>
          </a:p>
        </p:txBody>
      </p:sp>
      <p:sp>
        <p:nvSpPr>
          <p:cNvPr name="TextBox 1273" id="1273"/>
          <p:cNvSpPr txBox="true"/>
          <p:nvPr/>
        </p:nvSpPr>
        <p:spPr>
          <a:xfrm rot="0">
            <a:off x="13830000" y="5846000"/>
            <a:ext cx="155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850" b="true">
                <a:solidFill>
                  <a:srgbClr val="8C8C8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DESIGNED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600000" cy="55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5. Feasibility &amp; Innovation</a:t>
            </a:r>
          </a:p>
          <a:p>
            <a:pPr algn="l">
              <a:lnSpc>
                <a:spcPts val="1600"/>
              </a:lnSpc>
            </a:p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Real gateway. Real webcam. Real forged attack,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rejected — and the score fell because of it.</a:t>
            </a:r>
          </a:p>
          <a:p>
            <a:pPr algn="l">
              <a:lnSpc>
                <a:spcPts val="22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USP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Continuous trust across cyber, physical and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visual signals — secured by post-quantum crypto.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TextBox 1274" id="1274"/>
          <p:cNvSpPr txBox="true"/>
          <p:nvPr/>
        </p:nvSpPr>
        <p:spPr>
          <a:xfrm rot="0">
            <a:off x="12500000" y="2550000"/>
            <a:ext cx="3200000" cy="6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3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544</a:t>
            </a:r>
          </a:p>
        </p:txBody>
      </p:sp>
      <p:sp>
        <p:nvSpPr>
          <p:cNvPr name="TextBox 1275" id="1275"/>
          <p:cNvSpPr txBox="true"/>
          <p:nvPr/>
        </p:nvSpPr>
        <p:spPr>
          <a:xfrm rot="0">
            <a:off x="12520000" y="3110000"/>
            <a:ext cx="32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TESTS PASSING</a:t>
            </a:r>
          </a:p>
        </p:txBody>
      </p:sp>
      <p:sp>
        <p:nvSpPr>
          <p:cNvPr name="TextBox 1276" id="1276"/>
          <p:cNvSpPr txBox="true"/>
          <p:nvPr/>
        </p:nvSpPr>
        <p:spPr>
          <a:xfrm rot="0">
            <a:off x="12500000" y="3330000"/>
            <a:ext cx="3200000" cy="6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3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53 µs</a:t>
            </a:r>
          </a:p>
        </p:txBody>
      </p:sp>
      <p:sp>
        <p:nvSpPr>
          <p:cNvPr name="TextBox 1277" id="1277"/>
          <p:cNvSpPr txBox="true"/>
          <p:nvPr/>
        </p:nvSpPr>
        <p:spPr>
          <a:xfrm rot="0">
            <a:off x="12520000" y="3890000"/>
            <a:ext cx="32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MEAN TRUST APPLY</a:t>
            </a:r>
          </a:p>
        </p:txBody>
      </p:sp>
      <p:sp>
        <p:nvSpPr>
          <p:cNvPr name="TextBox 1278" id="1278"/>
          <p:cNvSpPr txBox="true"/>
          <p:nvPr/>
        </p:nvSpPr>
        <p:spPr>
          <a:xfrm rot="0">
            <a:off x="12500000" y="4110000"/>
            <a:ext cx="3200000" cy="6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3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73 µs</a:t>
            </a:r>
          </a:p>
        </p:txBody>
      </p:sp>
      <p:sp>
        <p:nvSpPr>
          <p:cNvPr name="TextBox 1279" id="1279"/>
          <p:cNvSpPr txBox="true"/>
          <p:nvPr/>
        </p:nvSpPr>
        <p:spPr>
          <a:xfrm rot="0">
            <a:off x="12520000" y="4670000"/>
            <a:ext cx="32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P99 LATENCY</a:t>
            </a:r>
          </a:p>
        </p:txBody>
      </p:sp>
      <p:cxnSp>
        <p:nvCxnSpPr>
          <p:cNvPr name="Line 1280" id="1280"/>
          <p:cNvCxnSpPr/>
          <p:nvPr/>
        </p:nvCxnSpPr>
        <p:spPr>
          <a:xfrm flipH="false" flipV="false">
            <a:off x="12500000" y="4930000"/>
            <a:ext cx="3200000" cy="1"/>
          </a:xfrm>
          <a:prstGeom prst="line">
            <a:avLst/>
          </a:prstGeom>
          <a:ln w="9525">
            <a:solidFill>
              <a:srgbClr val="FF914D"/>
            </a:solidFill>
          </a:ln>
        </p:spPr>
      </p:cxnSp>
      <p:sp>
        <p:nvSpPr>
          <p:cNvPr name="TextBox 1281" id="1281"/>
          <p:cNvSpPr txBox="true"/>
          <p:nvPr/>
        </p:nvSpPr>
        <p:spPr>
          <a:xfrm rot="0">
            <a:off x="12500000" y="5020000"/>
            <a:ext cx="34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ML-KEM-768</a:t>
            </a:r>
          </a:p>
        </p:txBody>
      </p:sp>
      <p:sp>
        <p:nvSpPr>
          <p:cNvPr name="TextBox 1282" id="1282"/>
          <p:cNvSpPr txBox="true"/>
          <p:nvPr/>
        </p:nvSpPr>
        <p:spPr>
          <a:xfrm rot="0">
            <a:off x="12500000" y="5320000"/>
            <a:ext cx="34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ML-DSA-65</a:t>
            </a:r>
          </a:p>
        </p:txBody>
      </p:sp>
      <p:sp>
        <p:nvSpPr>
          <p:cNvPr name="Node 1283" id="1283"/>
          <p:cNvSpPr/>
          <p:nvPr/>
        </p:nvSpPr>
        <p:spPr>
          <a:xfrm>
            <a:off x="12392500" y="579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84" id="1284"/>
          <p:cNvSpPr txBox="true"/>
          <p:nvPr/>
        </p:nvSpPr>
        <p:spPr>
          <a:xfrm rot="0">
            <a:off x="12120000" y="595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OBSERVE</a:t>
            </a:r>
          </a:p>
        </p:txBody>
      </p:sp>
      <p:sp>
        <p:nvSpPr>
          <p:cNvPr name="Node 1285" id="1285"/>
          <p:cNvSpPr/>
          <p:nvPr/>
        </p:nvSpPr>
        <p:spPr>
          <a:xfrm>
            <a:off x="13172500" y="579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86" id="1286"/>
          <p:cNvSpPr txBox="true"/>
          <p:nvPr/>
        </p:nvSpPr>
        <p:spPr>
          <a:xfrm rot="0">
            <a:off x="12900000" y="595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VERIFY</a:t>
            </a:r>
          </a:p>
        </p:txBody>
      </p:sp>
      <p:sp>
        <p:nvSpPr>
          <p:cNvPr name="Node 1287" id="1287"/>
          <p:cNvSpPr/>
          <p:nvPr/>
        </p:nvSpPr>
        <p:spPr>
          <a:xfrm>
            <a:off x="13952500" y="579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88" id="1288"/>
          <p:cNvSpPr txBox="true"/>
          <p:nvPr/>
        </p:nvSpPr>
        <p:spPr>
          <a:xfrm rot="0">
            <a:off x="13680000" y="595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</a:t>
            </a:r>
          </a:p>
        </p:txBody>
      </p:sp>
      <p:sp>
        <p:nvSpPr>
          <p:cNvPr name="Node 1289" id="1289"/>
          <p:cNvSpPr/>
          <p:nvPr/>
        </p:nvSpPr>
        <p:spPr>
          <a:xfrm>
            <a:off x="13952500" y="643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90" id="1290"/>
          <p:cNvSpPr txBox="true"/>
          <p:nvPr/>
        </p:nvSpPr>
        <p:spPr>
          <a:xfrm rot="0">
            <a:off x="13680000" y="659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RESPOND</a:t>
            </a:r>
          </a:p>
        </p:txBody>
      </p:sp>
      <p:sp>
        <p:nvSpPr>
          <p:cNvPr name="Node 1291" id="1291"/>
          <p:cNvSpPr/>
          <p:nvPr/>
        </p:nvSpPr>
        <p:spPr>
          <a:xfrm>
            <a:off x="13172500" y="643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92" id="1292"/>
          <p:cNvSpPr txBox="true"/>
          <p:nvPr/>
        </p:nvSpPr>
        <p:spPr>
          <a:xfrm rot="0">
            <a:off x="12900000" y="659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RECOVER</a:t>
            </a:r>
          </a:p>
        </p:txBody>
      </p:sp>
      <p:sp>
        <p:nvSpPr>
          <p:cNvPr name="Node 1293" id="1293"/>
          <p:cNvSpPr/>
          <p:nvPr/>
        </p:nvSpPr>
        <p:spPr>
          <a:xfrm>
            <a:off x="12392500" y="643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294" id="1294"/>
          <p:cNvSpPr txBox="true"/>
          <p:nvPr/>
        </p:nvSpPr>
        <p:spPr>
          <a:xfrm rot="0">
            <a:off x="12120000" y="659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RE-TRUST</a:t>
            </a:r>
          </a:p>
        </p:txBody>
      </p:sp>
      <p:cxnSp>
        <p:nvCxnSpPr>
          <p:cNvPr name="Line 1295" id="1295"/>
          <p:cNvCxnSpPr/>
          <p:nvPr/>
        </p:nvCxnSpPr>
        <p:spPr>
          <a:xfrm flipH="false" flipV="false">
            <a:off x="12495000" y="584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296" id="1296"/>
          <p:cNvCxnSpPr/>
          <p:nvPr/>
        </p:nvCxnSpPr>
        <p:spPr>
          <a:xfrm flipH="false" flipV="false">
            <a:off x="13275000" y="584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297" id="1297"/>
          <p:cNvCxnSpPr/>
          <p:nvPr/>
        </p:nvCxnSpPr>
        <p:spPr>
          <a:xfrm flipH="false" flipV="false">
            <a:off x="14000000" y="5895000"/>
            <a:ext cx="1" cy="530000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298" id="1298"/>
          <p:cNvCxnSpPr/>
          <p:nvPr/>
        </p:nvCxnSpPr>
        <p:spPr>
          <a:xfrm flipH="true" flipV="false">
            <a:off x="13275000" y="648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299" id="1299"/>
          <p:cNvCxnSpPr/>
          <p:nvPr/>
        </p:nvCxnSpPr>
        <p:spPr>
          <a:xfrm flipH="true" flipV="false">
            <a:off x="12495000" y="648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397527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4671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600000" cy="52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6. Expected Outcome</a:t>
            </a:r>
          </a:p>
          <a:p>
            <a:pPr algn="l">
              <a:lnSpc>
                <a:spcPts val="16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Demonstrated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Live gateway, real detection, real rejected attack,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real score drop — not simulated.</a:t>
            </a:r>
          </a:p>
          <a:p>
            <a:pPr algn="l">
              <a:lnSpc>
                <a:spcPts val="12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Honest gap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Quarantine and recovery are validated states —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not yet enforced. That is next.</a:t>
            </a:r>
          </a:p>
          <a:p>
            <a:pPr algn="l">
              <a:lnSpc>
                <a:spcPts val="12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Future scope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Enforcement, recovery orchestration, evidence chain,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digital twin, dashboard (Phases 5–10).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28787" y="7715612"/>
            <a:ext cx="4630426" cy="48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 : export and upload as pdf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DAHUTjJQEdw</dc:identifier>
  <dcterms:modified xsi:type="dcterms:W3CDTF">2011-08-01T06:04:30Z</dcterms:modified>
  <cp:revision>1</cp:revision>
  <dc:title>Quant-A-Maze 3.O Hackathon</dc:title>
</cp:coreProperties>
</file>