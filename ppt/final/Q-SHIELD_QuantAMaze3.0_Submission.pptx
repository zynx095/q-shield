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  <p:embeddedFont>
      <p:font typeface="Canva Sans" charset="1" panose="020B05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.jpeg" Type="http://schemas.openxmlformats.org/officeDocument/2006/relationships/image"/><Relationship Id="rId8" Target="../media/image4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6.jpeg" Type="http://schemas.openxmlformats.org/officeDocument/2006/relationships/image"/></Relationships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5" id="5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7" id="7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6294" r="1" b="-8599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350872" y="9407052"/>
            <a:ext cx="25187234" cy="908523"/>
            <a:chOff x="0" y="0"/>
            <a:chExt cx="33582978" cy="12113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610501" y="0"/>
              <a:ext cx="19972477" cy="1211364"/>
            </a:xfrm>
            <a:custGeom>
              <a:avLst/>
              <a:gdLst/>
              <a:ahLst/>
              <a:cxnLst/>
              <a:rect r="r" b="b" t="t" l="l"/>
              <a:pathLst>
                <a:path h="1211364" w="19972477">
                  <a:moveTo>
                    <a:pt x="0" y="0"/>
                  </a:moveTo>
                  <a:lnTo>
                    <a:pt x="19972477" y="0"/>
                  </a:lnTo>
                  <a:lnTo>
                    <a:pt x="19972477" y="1211364"/>
                  </a:lnTo>
                  <a:lnTo>
                    <a:pt x="0" y="1211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17212" y="2398062"/>
            <a:ext cx="9296390" cy="666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1. Participant Information &amp; Topic Name</a:t>
            </a:r>
          </a:p>
          <a:p>
            <a:pPr algn="l">
              <a:lnSpc>
                <a:spcPts val="1600"/>
              </a:lnSpc>
            </a:pPr>
          </a:p>
          <a:p>
            <a:pPr algn="l"/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Q-SHIELD</a:t>
            </a:r>
          </a:p>
          <a:p>
            <a:pPr algn="l">
              <a:lnSpc>
                <a:spcPts val="2000"/>
              </a:lnSpc>
            </a:pPr>
            <a:r>
              <a:rPr lang="en-US" sz="1700" i="true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Quantum-Resilient Self-Healing AIoT Security Architecture</a:t>
            </a:r>
          </a:p>
          <a:p>
            <a:pPr algn="l">
              <a:lnSpc>
                <a:spcPts val="2200"/>
              </a:lnSpc>
            </a:pP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Name –</a:t>
            </a: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Lead Name –</a:t>
            </a: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Team Lead Contact No –</a:t>
            </a:r>
          </a:p>
          <a:p>
            <a:pPr algn="l">
              <a:lnSpc>
                <a:spcPts val="1200"/>
              </a:lnSpc>
            </a:pPr>
          </a:p>
          <a:p>
            <a:pPr algn="l" marL="539749" indent="-269875" lvl="1">
              <a:lnSpc>
                <a:spcPts val="2800"/>
              </a:lnSpc>
              <a:buFont typeface="Arial"/>
              <a:buChar char="•"/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Selected Track:</a:t>
            </a:r>
          </a:p>
          <a:p>
            <a:pPr algn="l" marL="1079068" indent="-359689" lvl="2">
              <a:lnSpc>
                <a:spcPts val="2800"/>
              </a:lnSpc>
              <a:buFont typeface="Arial"/>
              <a:buChar char="●"/>
            </a:pPr>
            <a:r>
              <a:rPr lang="en-US" sz="20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Post-Quantum Cryptography (PQC)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5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2. Problem Definition</a:t>
            </a:r>
          </a:p>
          <a:p>
            <a:pPr algn="l">
              <a:lnSpc>
                <a:spcPts val="1400"/>
              </a:lnSpc>
            </a:pPr>
          </a:p>
          <a:p>
            <a:pPr algn="l"/>
            <a:r>
              <a:rPr lang="en-US" sz="15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THE PROBLEM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Static IoT authentication answers one question:</a:t>
            </a:r>
          </a:p>
          <a:p>
            <a:pPr algn="l">
              <a:lnSpc>
                <a:spcPts val="2800"/>
              </a:lnSpc>
            </a:pPr>
            <a:r>
              <a:rPr lang="en-US" sz="2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“Who are you?”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But AIoT security also has to keep asking:</a:t>
            </a:r>
          </a:p>
          <a:p>
            <a:pPr algn="l">
              <a:lnSpc>
                <a:spcPts val="2800"/>
              </a:lnSpc>
            </a:pPr>
            <a:r>
              <a:rPr lang="en-US" sz="22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“Can you still be trusted?”</a:t>
            </a:r>
          </a:p>
          <a:p>
            <a:pPr algn="l">
              <a:lnSpc>
                <a:spcPts val="16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 device can authenticate perfectly and still be compromised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the moment after. Authentication is a snapshot; trust has to be continuous.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901" id="901"/>
          <p:cNvSpPr txBox="true"/>
          <p:nvPr/>
        </p:nvSpPr>
        <p:spPr>
          <a:xfrm rot="0">
            <a:off x="12650000" y="2030000"/>
            <a:ext cx="3000000" cy="4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8C8C8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AUTHENTICATE ONCE</a:t>
            </a:r>
          </a:p>
        </p:txBody>
      </p:sp>
      <p:sp>
        <p:nvSpPr>
          <p:cNvPr name="Node 902" id="902"/>
          <p:cNvSpPr/>
          <p:nvPr/>
        </p:nvSpPr>
        <p:spPr>
          <a:xfrm>
            <a:off x="12825000" y="2575000"/>
            <a:ext cx="150000" cy="15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03" id="903"/>
          <p:cNvSpPr txBox="true"/>
          <p:nvPr/>
        </p:nvSpPr>
        <p:spPr>
          <a:xfrm rot="0">
            <a:off x="13120000" y="248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DEVICE</a:t>
            </a:r>
          </a:p>
        </p:txBody>
      </p:sp>
      <p:cxnSp>
        <p:nvCxnSpPr>
          <p:cNvPr name="Line 904" id="904"/>
          <p:cNvCxnSpPr/>
          <p:nvPr/>
        </p:nvCxnSpPr>
        <p:spPr>
          <a:xfrm flipH="false" flipV="false">
            <a:off x="12900000" y="2725000"/>
            <a:ext cx="1" cy="800000"/>
          </a:xfrm>
          <a:prstGeom prst="line">
            <a:avLst/>
          </a:prstGeom>
          <a:ln w="15875">
            <a:solidFill>
              <a:srgbClr val="8C8C8C"/>
            </a:solidFill>
          </a:ln>
        </p:spPr>
      </p:cxnSp>
      <p:sp>
        <p:nvSpPr>
          <p:cNvPr name="Node 905" id="905"/>
          <p:cNvSpPr/>
          <p:nvPr/>
        </p:nvSpPr>
        <p:spPr>
          <a:xfrm>
            <a:off x="12825000" y="3525000"/>
            <a:ext cx="150000" cy="15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06" id="906"/>
          <p:cNvSpPr txBox="true"/>
          <p:nvPr/>
        </p:nvSpPr>
        <p:spPr>
          <a:xfrm rot="0">
            <a:off x="13120000" y="343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AUTHENTICATED</a:t>
            </a:r>
          </a:p>
        </p:txBody>
      </p:sp>
      <p:cxnSp>
        <p:nvCxnSpPr>
          <p:cNvPr name="Line 907" id="907"/>
          <p:cNvCxnSpPr/>
          <p:nvPr/>
        </p:nvCxnSpPr>
        <p:spPr>
          <a:xfrm flipH="false" flipV="false">
            <a:off x="12900000" y="3675000"/>
            <a:ext cx="1" cy="800000"/>
          </a:xfrm>
          <a:prstGeom prst="line">
            <a:avLst/>
          </a:prstGeom>
          <a:ln w="15875">
            <a:solidFill>
              <a:srgbClr val="8C8C8C"/>
            </a:solidFill>
          </a:ln>
        </p:spPr>
      </p:cxnSp>
      <p:sp>
        <p:nvSpPr>
          <p:cNvPr name="Node 908" id="908"/>
          <p:cNvSpPr/>
          <p:nvPr/>
        </p:nvSpPr>
        <p:spPr>
          <a:xfrm>
            <a:off x="12825000" y="4475000"/>
            <a:ext cx="150000" cy="15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09" id="909"/>
          <p:cNvSpPr txBox="true"/>
          <p:nvPr/>
        </p:nvSpPr>
        <p:spPr>
          <a:xfrm rot="0">
            <a:off x="13120000" y="4380000"/>
            <a:ext cx="25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TRUSTED FOREVER</a:t>
            </a:r>
          </a:p>
        </p:txBody>
      </p:sp>
      <p:sp>
        <p:nvSpPr>
          <p:cNvPr name="TextBox 910" id="910"/>
          <p:cNvSpPr txBox="true"/>
          <p:nvPr/>
        </p:nvSpPr>
        <p:spPr>
          <a:xfrm rot="0">
            <a:off x="13120000" y="4730000"/>
            <a:ext cx="26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← the gap</a:t>
            </a:r>
          </a:p>
        </p:txBody>
      </p:sp>
      <p:sp>
        <p:nvSpPr>
          <p:cNvPr name="TextBox 911" id="911"/>
          <p:cNvSpPr txBox="true"/>
          <p:nvPr/>
        </p:nvSpPr>
        <p:spPr>
          <a:xfrm rot="0">
            <a:off x="15700000" y="2030000"/>
            <a:ext cx="3200000" cy="4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Q-SHIELD</a:t>
            </a:r>
          </a:p>
        </p:txBody>
      </p:sp>
      <p:sp>
        <p:nvSpPr>
          <p:cNvPr name="Node 912" id="912"/>
          <p:cNvSpPr/>
          <p:nvPr/>
        </p:nvSpPr>
        <p:spPr>
          <a:xfrm>
            <a:off x="15875000" y="2575000"/>
            <a:ext cx="150000" cy="15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13" id="913"/>
          <p:cNvSpPr txBox="true"/>
          <p:nvPr/>
        </p:nvSpPr>
        <p:spPr>
          <a:xfrm rot="0">
            <a:off x="16170000" y="2480000"/>
            <a:ext cx="24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AUTHENTICATE</a:t>
            </a:r>
          </a:p>
        </p:txBody>
      </p:sp>
      <p:cxnSp>
        <p:nvCxnSpPr>
          <p:cNvPr name="Line 914" id="914"/>
          <p:cNvCxnSpPr/>
          <p:nvPr/>
        </p:nvCxnSpPr>
        <p:spPr>
          <a:xfrm flipH="false" flipV="false">
            <a:off x="15950000" y="2725000"/>
            <a:ext cx="1" cy="55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915" id="915"/>
          <p:cNvSpPr/>
          <p:nvPr/>
        </p:nvSpPr>
        <p:spPr>
          <a:xfrm>
            <a:off x="15875000" y="3275000"/>
            <a:ext cx="150000" cy="15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16" id="916"/>
          <p:cNvSpPr txBox="true"/>
          <p:nvPr/>
        </p:nvSpPr>
        <p:spPr>
          <a:xfrm rot="0">
            <a:off x="16170000" y="3180000"/>
            <a:ext cx="24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OBSERVE</a:t>
            </a:r>
          </a:p>
        </p:txBody>
      </p:sp>
      <p:cxnSp>
        <p:nvCxnSpPr>
          <p:cNvPr name="Line 917" id="917"/>
          <p:cNvCxnSpPr/>
          <p:nvPr/>
        </p:nvCxnSpPr>
        <p:spPr>
          <a:xfrm flipH="false" flipV="false">
            <a:off x="15950000" y="3425000"/>
            <a:ext cx="1" cy="55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918" id="918"/>
          <p:cNvSpPr/>
          <p:nvPr/>
        </p:nvSpPr>
        <p:spPr>
          <a:xfrm>
            <a:off x="15875000" y="3975000"/>
            <a:ext cx="150000" cy="15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19" id="919"/>
          <p:cNvSpPr txBox="true"/>
          <p:nvPr/>
        </p:nvSpPr>
        <p:spPr>
          <a:xfrm rot="0">
            <a:off x="16170000" y="3880000"/>
            <a:ext cx="24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CORRELATE</a:t>
            </a:r>
          </a:p>
        </p:txBody>
      </p:sp>
      <p:cxnSp>
        <p:nvCxnSpPr>
          <p:cNvPr name="Line 920" id="920"/>
          <p:cNvCxnSpPr/>
          <p:nvPr/>
        </p:nvCxnSpPr>
        <p:spPr>
          <a:xfrm flipH="false" flipV="false">
            <a:off x="15950000" y="4125000"/>
            <a:ext cx="1" cy="55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921" id="921"/>
          <p:cNvSpPr/>
          <p:nvPr/>
        </p:nvSpPr>
        <p:spPr>
          <a:xfrm>
            <a:off x="15875000" y="4675000"/>
            <a:ext cx="150000" cy="15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22" id="922"/>
          <p:cNvSpPr txBox="true"/>
          <p:nvPr/>
        </p:nvSpPr>
        <p:spPr>
          <a:xfrm rot="0">
            <a:off x="16170000" y="4580000"/>
            <a:ext cx="24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</a:t>
            </a:r>
          </a:p>
        </p:txBody>
      </p:sp>
      <p:cxnSp>
        <p:nvCxnSpPr>
          <p:cNvPr name="Line 923" id="923"/>
          <p:cNvCxnSpPr/>
          <p:nvPr/>
        </p:nvCxnSpPr>
        <p:spPr>
          <a:xfrm flipH="false" flipV="false">
            <a:off x="15950000" y="4825000"/>
            <a:ext cx="1" cy="55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924" id="924"/>
          <p:cNvSpPr/>
          <p:nvPr/>
        </p:nvSpPr>
        <p:spPr>
          <a:xfrm>
            <a:off x="15875000" y="5375000"/>
            <a:ext cx="150000" cy="15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25" id="925"/>
          <p:cNvSpPr txBox="true"/>
          <p:nvPr/>
        </p:nvSpPr>
        <p:spPr>
          <a:xfrm rot="0">
            <a:off x="16170000" y="5280000"/>
            <a:ext cx="24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RESPOND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13000"/>
              </a:blip>
              <a:stretch>
                <a:fillRect l="0" t="0" r="-1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10" id="10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3" id="13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94" r="1" b="-8599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88" t="-27243" r="-4375" b="-5281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17212" y="2398062"/>
            <a:ext cx="8600000" cy="63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3. Proposed Solution &amp; Execution Plan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Solution Overview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 continuous trust pipeline layered on top of authentication: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every sensor reading and every observation is turned into a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signed, explainable trust decision.</a:t>
            </a:r>
          </a:p>
          <a:p>
            <a:pPr algn="l">
              <a:lnSpc>
                <a:spcPts val="12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Working Principle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Device and vision evidence is authenticated first, fused into a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deterministic 0–100 score, then mapped to a device state.</a:t>
            </a:r>
          </a:p>
          <a:p>
            <a:pPr algn="l">
              <a:lnSpc>
                <a:spcPts val="12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Core Functionality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Signed telemetry • signed visual observations • replay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rejection • deterministic scoring • explainable events.</a:t>
            </a:r>
          </a:p>
        </p:txBody>
      </p:sp>
      <p:sp>
        <p:nvSpPr>
          <p:cNvPr name="TextBox 926" id="926"/>
          <p:cNvSpPr txBox="true"/>
          <p:nvPr/>
        </p:nvSpPr>
        <p:spPr>
          <a:xfrm rot="0">
            <a:off x="12300000" y="2240000"/>
            <a:ext cx="2000000" cy="3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ESP32</a:t>
            </a:r>
          </a:p>
        </p:txBody>
      </p:sp>
      <p:sp>
        <p:nvSpPr>
          <p:cNvPr name="TextBox 927" id="927"/>
          <p:cNvSpPr txBox="true"/>
          <p:nvPr/>
        </p:nvSpPr>
        <p:spPr>
          <a:xfrm rot="0">
            <a:off x="12300000" y="2560000"/>
            <a:ext cx="20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Telemetry / Sensors</a:t>
            </a:r>
          </a:p>
        </p:txBody>
      </p:sp>
      <p:sp>
        <p:nvSpPr>
          <p:cNvPr name="Node 928" id="928"/>
          <p:cNvSpPr/>
          <p:nvPr/>
        </p:nvSpPr>
        <p:spPr>
          <a:xfrm>
            <a:off x="13230000" y="2430000"/>
            <a:ext cx="140000" cy="14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29" id="929"/>
          <p:cNvSpPr txBox="true"/>
          <p:nvPr/>
        </p:nvSpPr>
        <p:spPr>
          <a:xfrm rot="0">
            <a:off x="14250000" y="2240000"/>
            <a:ext cx="2000000" cy="3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Camera</a:t>
            </a:r>
          </a:p>
        </p:txBody>
      </p:sp>
      <p:sp>
        <p:nvSpPr>
          <p:cNvPr name="TextBox 930" id="930"/>
          <p:cNvSpPr txBox="true"/>
          <p:nvPr/>
        </p:nvSpPr>
        <p:spPr>
          <a:xfrm rot="0">
            <a:off x="14250000" y="2560000"/>
            <a:ext cx="20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YOLO11n → Signed Obs.</a:t>
            </a:r>
          </a:p>
        </p:txBody>
      </p:sp>
      <p:sp>
        <p:nvSpPr>
          <p:cNvPr name="Node 931" id="931"/>
          <p:cNvSpPr/>
          <p:nvPr/>
        </p:nvSpPr>
        <p:spPr>
          <a:xfrm>
            <a:off x="15180000" y="2430000"/>
            <a:ext cx="140000" cy="14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cxnSp>
        <p:nvCxnSpPr>
          <p:cNvPr name="Line 932" id="932"/>
          <p:cNvCxnSpPr/>
          <p:nvPr/>
        </p:nvCxnSpPr>
        <p:spPr>
          <a:xfrm flipH="false" flipV="false">
            <a:off x="13300000" y="2570000"/>
            <a:ext cx="975000" cy="710000"/>
          </a:xfrm>
          <a:prstGeom prst="line">
            <a:avLst/>
          </a:prstGeom>
          <a:ln w="12700">
            <a:solidFill>
              <a:srgbClr val="8C8C8C"/>
            </a:solidFill>
          </a:ln>
        </p:spPr>
      </p:cxnSp>
      <p:cxnSp>
        <p:nvCxnSpPr>
          <p:cNvPr name="Line 933" id="933"/>
          <p:cNvCxnSpPr/>
          <p:nvPr/>
        </p:nvCxnSpPr>
        <p:spPr>
          <a:xfrm flipH="true" flipV="false">
            <a:off x="14275000" y="2570000"/>
            <a:ext cx="975000" cy="710000"/>
          </a:xfrm>
          <a:prstGeom prst="line">
            <a:avLst/>
          </a:prstGeom>
          <a:ln w="12700">
            <a:solidFill>
              <a:srgbClr val="8C8C8C"/>
            </a:solidFill>
          </a:ln>
        </p:spPr>
      </p:cxnSp>
      <p:sp>
        <p:nvSpPr>
          <p:cNvPr name="Node 934" id="934"/>
          <p:cNvSpPr/>
          <p:nvPr/>
        </p:nvSpPr>
        <p:spPr>
          <a:xfrm>
            <a:off x="14190000" y="3265000"/>
            <a:ext cx="170000" cy="1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35" id="935"/>
          <p:cNvSpPr txBox="true"/>
          <p:nvPr/>
        </p:nvSpPr>
        <p:spPr>
          <a:xfrm rot="0">
            <a:off x="14535000" y="3030000"/>
            <a:ext cx="26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PQC SECURITY LAYER</a:t>
            </a:r>
          </a:p>
        </p:txBody>
      </p:sp>
      <p:sp>
        <p:nvSpPr>
          <p:cNvPr name="TextBox 936" id="936"/>
          <p:cNvSpPr txBox="true"/>
          <p:nvPr/>
        </p:nvSpPr>
        <p:spPr>
          <a:xfrm rot="0">
            <a:off x="14535000" y="3330000"/>
            <a:ext cx="26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ML-KEM-768  ·  ML-DSA-65</a:t>
            </a:r>
          </a:p>
        </p:txBody>
      </p:sp>
      <p:cxnSp>
        <p:nvCxnSpPr>
          <p:cNvPr name="Line 937" id="937"/>
          <p:cNvCxnSpPr/>
          <p:nvPr/>
        </p:nvCxnSpPr>
        <p:spPr>
          <a:xfrm flipH="false" flipV="false">
            <a:off x="14275000" y="3435000"/>
            <a:ext cx="1" cy="730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Node 938" id="938"/>
          <p:cNvSpPr/>
          <p:nvPr/>
        </p:nvSpPr>
        <p:spPr>
          <a:xfrm>
            <a:off x="14190000" y="4165000"/>
            <a:ext cx="170000" cy="1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39" id="939"/>
          <p:cNvSpPr txBox="true"/>
          <p:nvPr/>
        </p:nvSpPr>
        <p:spPr>
          <a:xfrm rot="0">
            <a:off x="14535000" y="4080000"/>
            <a:ext cx="2900000" cy="34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DYNAMIC TRUST ENGINE</a:t>
            </a:r>
          </a:p>
        </p:txBody>
      </p:sp>
      <p:cxnSp>
        <p:nvCxnSpPr>
          <p:cNvPr name="Line 940" id="940"/>
          <p:cNvCxnSpPr/>
          <p:nvPr/>
        </p:nvCxnSpPr>
        <p:spPr>
          <a:xfrm flipH="false" flipV="false">
            <a:off x="14275000" y="4335000"/>
            <a:ext cx="1" cy="465000"/>
          </a:xfrm>
          <a:prstGeom prst="line">
            <a:avLst/>
          </a:prstGeom>
          <a:ln w="19050">
            <a:solidFill>
              <a:srgbClr val="FF914D"/>
            </a:solidFill>
          </a:ln>
        </p:spPr>
      </p:cxnSp>
      <p:sp>
        <p:nvSpPr>
          <p:cNvPr name="TextBox 941" id="941"/>
          <p:cNvSpPr txBox="true"/>
          <p:nvPr/>
        </p:nvSpPr>
        <p:spPr>
          <a:xfrm rot="0">
            <a:off x="12375000" y="4800000"/>
            <a:ext cx="38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 STATE</a:t>
            </a:r>
          </a:p>
        </p:txBody>
      </p:sp>
      <p:sp>
        <p:nvSpPr>
          <p:cNvPr name="Node 942" id="942"/>
          <p:cNvSpPr/>
          <p:nvPr/>
        </p:nvSpPr>
        <p:spPr>
          <a:xfrm>
            <a:off x="12790000" y="5175000"/>
            <a:ext cx="70000" cy="7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43" id="943"/>
          <p:cNvSpPr txBox="true"/>
          <p:nvPr/>
        </p:nvSpPr>
        <p:spPr>
          <a:xfrm rot="0">
            <a:off x="12975000" y="511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TRUSTED</a:t>
            </a:r>
          </a:p>
        </p:txBody>
      </p:sp>
      <p:sp>
        <p:nvSpPr>
          <p:cNvPr name="Node 944" id="944"/>
          <p:cNvSpPr/>
          <p:nvPr/>
        </p:nvSpPr>
        <p:spPr>
          <a:xfrm>
            <a:off x="14240000" y="517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45" id="945"/>
          <p:cNvSpPr txBox="true"/>
          <p:nvPr/>
        </p:nvSpPr>
        <p:spPr>
          <a:xfrm rot="0">
            <a:off x="14425000" y="511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SUSPICIOUS</a:t>
            </a:r>
          </a:p>
        </p:txBody>
      </p:sp>
      <p:sp>
        <p:nvSpPr>
          <p:cNvPr name="Node 946" id="946"/>
          <p:cNvSpPr/>
          <p:nvPr/>
        </p:nvSpPr>
        <p:spPr>
          <a:xfrm>
            <a:off x="12790000" y="559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47" id="947"/>
          <p:cNvSpPr txBox="true"/>
          <p:nvPr/>
        </p:nvSpPr>
        <p:spPr>
          <a:xfrm rot="0">
            <a:off x="12975000" y="553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QUARANTINED</a:t>
            </a:r>
          </a:p>
        </p:txBody>
      </p:sp>
      <p:sp>
        <p:nvSpPr>
          <p:cNvPr name="Node 948" id="948"/>
          <p:cNvSpPr/>
          <p:nvPr/>
        </p:nvSpPr>
        <p:spPr>
          <a:xfrm>
            <a:off x="14240000" y="559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49" id="949"/>
          <p:cNvSpPr txBox="true"/>
          <p:nvPr/>
        </p:nvSpPr>
        <p:spPr>
          <a:xfrm rot="0">
            <a:off x="14425000" y="553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RECOVERING</a:t>
            </a:r>
          </a:p>
        </p:txBody>
      </p:sp>
      <p:sp>
        <p:nvSpPr>
          <p:cNvPr name="Node 950" id="950"/>
          <p:cNvSpPr/>
          <p:nvPr/>
        </p:nvSpPr>
        <p:spPr>
          <a:xfrm>
            <a:off x="12790000" y="601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51" id="951"/>
          <p:cNvSpPr txBox="true"/>
          <p:nvPr/>
        </p:nvSpPr>
        <p:spPr>
          <a:xfrm rot="0">
            <a:off x="12975000" y="595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VERIFIED</a:t>
            </a:r>
          </a:p>
        </p:txBody>
      </p:sp>
      <p:sp>
        <p:nvSpPr>
          <p:cNvPr name="Node 952" id="952"/>
          <p:cNvSpPr/>
          <p:nvPr/>
        </p:nvSpPr>
        <p:spPr>
          <a:xfrm>
            <a:off x="14240000" y="6015000"/>
            <a:ext cx="70000" cy="7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53" id="953"/>
          <p:cNvSpPr txBox="true"/>
          <p:nvPr/>
        </p:nvSpPr>
        <p:spPr>
          <a:xfrm rot="0">
            <a:off x="14425000" y="5950000"/>
            <a:ext cx="13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RECOVERED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16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4. Technical Design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Five layers, cleanly separated. Trust computation stays out of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the detector, the camera, the firmware and the crypto code.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cxnSp>
        <p:nvCxnSpPr>
          <p:cNvPr name="Line 954" id="954"/>
          <p:cNvCxnSpPr/>
          <p:nvPr/>
        </p:nvCxnSpPr>
        <p:spPr>
          <a:xfrm flipH="false" flipV="false">
            <a:off x="1317212" y="426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  <p:sp>
        <p:nvSpPr>
          <p:cNvPr name="Node 955" id="955"/>
          <p:cNvSpPr/>
          <p:nvPr/>
        </p:nvSpPr>
        <p:spPr>
          <a:xfrm>
            <a:off x="1287212" y="4450000"/>
            <a:ext cx="120000" cy="12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56" id="956"/>
          <p:cNvSpPr txBox="true"/>
          <p:nvPr/>
        </p:nvSpPr>
        <p:spPr>
          <a:xfrm rot="0">
            <a:off x="1577212" y="4330000"/>
            <a:ext cx="33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AIoT DEVICE LAYER</a:t>
            </a:r>
          </a:p>
        </p:txBody>
      </p:sp>
      <p:sp>
        <p:nvSpPr>
          <p:cNvPr name="TextBox 957" id="957"/>
          <p:cNvSpPr txBox="true"/>
          <p:nvPr/>
        </p:nvSpPr>
        <p:spPr>
          <a:xfrm rot="0">
            <a:off x="4967212" y="4330000"/>
            <a:ext cx="55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ESP32 · Sensors · Telemetry (HMAC-SHA256)</a:t>
            </a:r>
          </a:p>
        </p:txBody>
      </p:sp>
      <p:sp>
        <p:nvSpPr>
          <p:cNvPr name="TextBox 958" id="958"/>
          <p:cNvSpPr txBox="true"/>
          <p:nvPr/>
        </p:nvSpPr>
        <p:spPr>
          <a:xfrm rot="0">
            <a:off x="10517212" y="4330000"/>
            <a:ext cx="16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r"/>
            <a:r>
              <a:rPr lang="en-US" sz="11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cxnSp>
        <p:nvCxnSpPr>
          <p:cNvPr name="Line 959" id="959"/>
          <p:cNvCxnSpPr/>
          <p:nvPr/>
        </p:nvCxnSpPr>
        <p:spPr>
          <a:xfrm flipH="false" flipV="false">
            <a:off x="1317212" y="521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  <p:sp>
        <p:nvSpPr>
          <p:cNvPr name="Node 960" id="960"/>
          <p:cNvSpPr/>
          <p:nvPr/>
        </p:nvSpPr>
        <p:spPr>
          <a:xfrm>
            <a:off x="1287212" y="5400000"/>
            <a:ext cx="120000" cy="12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61" id="961"/>
          <p:cNvSpPr txBox="true"/>
          <p:nvPr/>
        </p:nvSpPr>
        <p:spPr>
          <a:xfrm rot="0">
            <a:off x="1577212" y="5280000"/>
            <a:ext cx="33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VISION LAYER</a:t>
            </a:r>
          </a:p>
        </p:txBody>
      </p:sp>
      <p:sp>
        <p:nvSpPr>
          <p:cNvPr name="TextBox 962" id="962"/>
          <p:cNvSpPr txBox="true"/>
          <p:nvPr/>
        </p:nvSpPr>
        <p:spPr>
          <a:xfrm rot="0">
            <a:off x="4967212" y="5280000"/>
            <a:ext cx="55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Camera · YOLO11n · Visual Rule Signals</a:t>
            </a:r>
          </a:p>
        </p:txBody>
      </p:sp>
      <p:sp>
        <p:nvSpPr>
          <p:cNvPr name="TextBox 963" id="963"/>
          <p:cNvSpPr txBox="true"/>
          <p:nvPr/>
        </p:nvSpPr>
        <p:spPr>
          <a:xfrm rot="0">
            <a:off x="10517212" y="5280000"/>
            <a:ext cx="16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r"/>
            <a:r>
              <a:rPr lang="en-US" sz="11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cxnSp>
        <p:nvCxnSpPr>
          <p:cNvPr name="Line 964" id="964"/>
          <p:cNvCxnSpPr/>
          <p:nvPr/>
        </p:nvCxnSpPr>
        <p:spPr>
          <a:xfrm flipH="false" flipV="false">
            <a:off x="1317212" y="616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  <p:sp>
        <p:nvSpPr>
          <p:cNvPr name="Node 965" id="965"/>
          <p:cNvSpPr/>
          <p:nvPr/>
        </p:nvSpPr>
        <p:spPr>
          <a:xfrm>
            <a:off x="1287212" y="6350000"/>
            <a:ext cx="120000" cy="12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66" id="966"/>
          <p:cNvSpPr txBox="true"/>
          <p:nvPr/>
        </p:nvSpPr>
        <p:spPr>
          <a:xfrm rot="0">
            <a:off x="1577212" y="6230000"/>
            <a:ext cx="33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SECURITY LAYER</a:t>
            </a:r>
          </a:p>
        </p:txBody>
      </p:sp>
      <p:sp>
        <p:nvSpPr>
          <p:cNvPr name="TextBox 967" id="967"/>
          <p:cNvSpPr txBox="true"/>
          <p:nvPr/>
        </p:nvSpPr>
        <p:spPr>
          <a:xfrm rot="0">
            <a:off x="4967212" y="6230000"/>
            <a:ext cx="55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ML-DSA-65 · ML-KEM-768 · AES-256-GCM · Replay Protection</a:t>
            </a:r>
          </a:p>
        </p:txBody>
      </p:sp>
      <p:sp>
        <p:nvSpPr>
          <p:cNvPr name="TextBox 968" id="968"/>
          <p:cNvSpPr txBox="true"/>
          <p:nvPr/>
        </p:nvSpPr>
        <p:spPr>
          <a:xfrm rot="0">
            <a:off x="10517212" y="6230000"/>
            <a:ext cx="16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r"/>
            <a:r>
              <a:rPr lang="en-US" sz="11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cxnSp>
        <p:nvCxnSpPr>
          <p:cNvPr name="Line 969" id="969"/>
          <p:cNvCxnSpPr/>
          <p:nvPr/>
        </p:nvCxnSpPr>
        <p:spPr>
          <a:xfrm flipH="false" flipV="false">
            <a:off x="1317212" y="711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  <p:sp>
        <p:nvSpPr>
          <p:cNvPr name="Node 970" id="970"/>
          <p:cNvSpPr/>
          <p:nvPr/>
        </p:nvSpPr>
        <p:spPr>
          <a:xfrm>
            <a:off x="1287212" y="7300000"/>
            <a:ext cx="120000" cy="120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71" id="971"/>
          <p:cNvSpPr txBox="true"/>
          <p:nvPr/>
        </p:nvSpPr>
        <p:spPr>
          <a:xfrm rot="0">
            <a:off x="1577212" y="7180000"/>
            <a:ext cx="33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 LAYER</a:t>
            </a:r>
          </a:p>
        </p:txBody>
      </p:sp>
      <p:sp>
        <p:nvSpPr>
          <p:cNvPr name="TextBox 972" id="972"/>
          <p:cNvSpPr txBox="true"/>
          <p:nvPr/>
        </p:nvSpPr>
        <p:spPr>
          <a:xfrm rot="0">
            <a:off x="4967212" y="7180000"/>
            <a:ext cx="55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Dynamic Trust · Signal Fusion · Temporal Decay · Caps/Gates · Explainable Events</a:t>
            </a:r>
          </a:p>
        </p:txBody>
      </p:sp>
      <p:sp>
        <p:nvSpPr>
          <p:cNvPr name="TextBox 973" id="973"/>
          <p:cNvSpPr txBox="true"/>
          <p:nvPr/>
        </p:nvSpPr>
        <p:spPr>
          <a:xfrm rot="0">
            <a:off x="10517212" y="7180000"/>
            <a:ext cx="16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r"/>
            <a:r>
              <a:rPr lang="en-US" sz="115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IMPLEMENTED</a:t>
            </a:r>
          </a:p>
        </p:txBody>
      </p:sp>
      <p:cxnSp>
        <p:nvCxnSpPr>
          <p:cNvPr name="Line 974" id="974"/>
          <p:cNvCxnSpPr/>
          <p:nvPr/>
        </p:nvCxnSpPr>
        <p:spPr>
          <a:xfrm flipH="false" flipV="false">
            <a:off x="1317212" y="806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  <p:sp>
        <p:nvSpPr>
          <p:cNvPr name="Node 975" id="975"/>
          <p:cNvSpPr/>
          <p:nvPr/>
        </p:nvSpPr>
        <p:spPr>
          <a:xfrm>
            <a:off x="1287212" y="8250000"/>
            <a:ext cx="120000" cy="120000"/>
          </a:xfrm>
          <a:prstGeom prst="ellipse">
            <a:avLst/>
          </a:prstGeom>
          <a:solidFill>
            <a:srgbClr val="8C8C8C"/>
          </a:solidFill>
        </p:spPr>
        <p:txBody>
          <a:bodyPr/>
          <a:lstStyle/>
          <a:p/>
        </p:txBody>
      </p:sp>
      <p:sp>
        <p:nvSpPr>
          <p:cNvPr name="TextBox 976" id="976"/>
          <p:cNvSpPr txBox="true"/>
          <p:nvPr/>
        </p:nvSpPr>
        <p:spPr>
          <a:xfrm rot="0">
            <a:off x="1577212" y="8130000"/>
            <a:ext cx="33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RESPONSE LAYER</a:t>
            </a:r>
          </a:p>
        </p:txBody>
      </p:sp>
      <p:sp>
        <p:nvSpPr>
          <p:cNvPr name="TextBox 977" id="977"/>
          <p:cNvSpPr txBox="true"/>
          <p:nvPr/>
        </p:nvSpPr>
        <p:spPr>
          <a:xfrm rot="0">
            <a:off x="4967212" y="8130000"/>
            <a:ext cx="55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2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 · Recovery · Re-authentication · Trust Restoration</a:t>
            </a:r>
          </a:p>
        </p:txBody>
      </p:sp>
      <p:sp>
        <p:nvSpPr>
          <p:cNvPr name="TextBox 978" id="978"/>
          <p:cNvSpPr txBox="true"/>
          <p:nvPr/>
        </p:nvSpPr>
        <p:spPr>
          <a:xfrm rot="0">
            <a:off x="10517212" y="8130000"/>
            <a:ext cx="1600000" cy="38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r"/>
            <a:r>
              <a:rPr lang="en-US" sz="1150" b="true">
                <a:solidFill>
                  <a:srgbClr val="8C8C8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DESIGNED / NEXT</a:t>
            </a:r>
          </a:p>
        </p:txBody>
      </p:sp>
      <p:cxnSp>
        <p:nvCxnSpPr>
          <p:cNvPr name="Line 979" id="979"/>
          <p:cNvCxnSpPr/>
          <p:nvPr/>
        </p:nvCxnSpPr>
        <p:spPr>
          <a:xfrm flipH="false" flipV="false">
            <a:off x="1317212" y="9010000"/>
            <a:ext cx="10200000" cy="1"/>
          </a:xfrm>
          <a:prstGeom prst="line">
            <a:avLst/>
          </a:prstGeom>
          <a:ln w="6350">
            <a:solidFill>
              <a:srgbClr val="FF914D"/>
            </a:solidFill>
          </a:ln>
        </p:spPr>
      </p:cxn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7052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63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5. Feasibility &amp; Innovation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Technical Feasibility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Phases 0–4.1 run end to end today on real hardware and a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real webcam — not a slide-only concept.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Scalability / Performance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Trust-engine cost is measured, not assumed (right).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Innovation / USP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Continuous dynamic trust across cyber, physical and visual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signals, secured by post-quantum cryptography.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  <p:sp>
        <p:nvSpPr>
          <p:cNvPr name="TextBox 980" id="980"/>
          <p:cNvSpPr txBox="true"/>
          <p:nvPr/>
        </p:nvSpPr>
        <p:spPr>
          <a:xfrm rot="0">
            <a:off x="12500000" y="255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544</a:t>
            </a:r>
          </a:p>
        </p:txBody>
      </p:sp>
      <p:sp>
        <p:nvSpPr>
          <p:cNvPr name="TextBox 981" id="981"/>
          <p:cNvSpPr txBox="true"/>
          <p:nvPr/>
        </p:nvSpPr>
        <p:spPr>
          <a:xfrm rot="0">
            <a:off x="12520000" y="311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TESTS PASSING</a:t>
            </a:r>
          </a:p>
        </p:txBody>
      </p:sp>
      <p:sp>
        <p:nvSpPr>
          <p:cNvPr name="TextBox 982" id="982"/>
          <p:cNvSpPr txBox="true"/>
          <p:nvPr/>
        </p:nvSpPr>
        <p:spPr>
          <a:xfrm rot="0">
            <a:off x="12500000" y="333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53 µs</a:t>
            </a:r>
          </a:p>
        </p:txBody>
      </p:sp>
      <p:sp>
        <p:nvSpPr>
          <p:cNvPr name="TextBox 983" id="983"/>
          <p:cNvSpPr txBox="true"/>
          <p:nvPr/>
        </p:nvSpPr>
        <p:spPr>
          <a:xfrm rot="0">
            <a:off x="12520000" y="389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MEAN TRUST APPLY</a:t>
            </a:r>
          </a:p>
        </p:txBody>
      </p:sp>
      <p:sp>
        <p:nvSpPr>
          <p:cNvPr name="TextBox 984" id="984"/>
          <p:cNvSpPr txBox="true"/>
          <p:nvPr/>
        </p:nvSpPr>
        <p:spPr>
          <a:xfrm rot="0">
            <a:off x="12500000" y="4110000"/>
            <a:ext cx="3200000" cy="62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3400" b="true">
                <a:solidFill>
                  <a:srgbClr val="FF914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73 µs</a:t>
            </a:r>
          </a:p>
        </p:txBody>
      </p:sp>
      <p:sp>
        <p:nvSpPr>
          <p:cNvPr name="TextBox 985" id="985"/>
          <p:cNvSpPr txBox="true"/>
          <p:nvPr/>
        </p:nvSpPr>
        <p:spPr>
          <a:xfrm rot="0">
            <a:off x="12520000" y="4670000"/>
            <a:ext cx="320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0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P99 LATENCY</a:t>
            </a:r>
          </a:p>
        </p:txBody>
      </p:sp>
      <p:cxnSp>
        <p:nvCxnSpPr>
          <p:cNvPr name="Line 986" id="986"/>
          <p:cNvCxnSpPr/>
          <p:nvPr/>
        </p:nvCxnSpPr>
        <p:spPr>
          <a:xfrm flipH="false" flipV="false">
            <a:off x="12500000" y="4930000"/>
            <a:ext cx="3200000" cy="1"/>
          </a:xfrm>
          <a:prstGeom prst="line">
            <a:avLst/>
          </a:prstGeom>
          <a:ln w="9525">
            <a:solidFill>
              <a:srgbClr val="FF914D"/>
            </a:solidFill>
          </a:ln>
        </p:spPr>
      </p:cxnSp>
      <p:sp>
        <p:nvSpPr>
          <p:cNvPr name="TextBox 987" id="987"/>
          <p:cNvSpPr txBox="true"/>
          <p:nvPr/>
        </p:nvSpPr>
        <p:spPr>
          <a:xfrm rot="0">
            <a:off x="12500000" y="5020000"/>
            <a:ext cx="34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ML-KEM-768</a:t>
            </a:r>
          </a:p>
        </p:txBody>
      </p:sp>
      <p:sp>
        <p:nvSpPr>
          <p:cNvPr name="TextBox 988" id="988"/>
          <p:cNvSpPr txBox="true"/>
          <p:nvPr/>
        </p:nvSpPr>
        <p:spPr>
          <a:xfrm rot="0">
            <a:off x="12500000" y="5320000"/>
            <a:ext cx="3400000" cy="30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/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ML-DSA-65</a:t>
            </a:r>
          </a:p>
        </p:txBody>
      </p:sp>
      <p:sp>
        <p:nvSpPr>
          <p:cNvPr name="Node 989" id="989"/>
          <p:cNvSpPr/>
          <p:nvPr/>
        </p:nvSpPr>
        <p:spPr>
          <a:xfrm>
            <a:off x="1239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90" id="990"/>
          <p:cNvSpPr txBox="true"/>
          <p:nvPr/>
        </p:nvSpPr>
        <p:spPr>
          <a:xfrm rot="0">
            <a:off x="1212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OBSERVE</a:t>
            </a:r>
          </a:p>
        </p:txBody>
      </p:sp>
      <p:sp>
        <p:nvSpPr>
          <p:cNvPr name="Node 991" id="991"/>
          <p:cNvSpPr/>
          <p:nvPr/>
        </p:nvSpPr>
        <p:spPr>
          <a:xfrm>
            <a:off x="1317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92" id="992"/>
          <p:cNvSpPr txBox="true"/>
          <p:nvPr/>
        </p:nvSpPr>
        <p:spPr>
          <a:xfrm rot="0">
            <a:off x="1290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VERIFY</a:t>
            </a:r>
          </a:p>
        </p:txBody>
      </p:sp>
      <p:sp>
        <p:nvSpPr>
          <p:cNvPr name="Node 993" id="993"/>
          <p:cNvSpPr/>
          <p:nvPr/>
        </p:nvSpPr>
        <p:spPr>
          <a:xfrm>
            <a:off x="13952500" y="579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94" id="994"/>
          <p:cNvSpPr txBox="true"/>
          <p:nvPr/>
        </p:nvSpPr>
        <p:spPr>
          <a:xfrm rot="0">
            <a:off x="13680000" y="595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TRUST</a:t>
            </a:r>
          </a:p>
        </p:txBody>
      </p:sp>
      <p:sp>
        <p:nvSpPr>
          <p:cNvPr name="Node 995" id="995"/>
          <p:cNvSpPr/>
          <p:nvPr/>
        </p:nvSpPr>
        <p:spPr>
          <a:xfrm>
            <a:off x="1395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96" id="996"/>
          <p:cNvSpPr txBox="true"/>
          <p:nvPr/>
        </p:nvSpPr>
        <p:spPr>
          <a:xfrm rot="0">
            <a:off x="1368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RESPOND</a:t>
            </a:r>
          </a:p>
        </p:txBody>
      </p:sp>
      <p:sp>
        <p:nvSpPr>
          <p:cNvPr name="Node 997" id="997"/>
          <p:cNvSpPr/>
          <p:nvPr/>
        </p:nvSpPr>
        <p:spPr>
          <a:xfrm>
            <a:off x="1317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998" id="998"/>
          <p:cNvSpPr txBox="true"/>
          <p:nvPr/>
        </p:nvSpPr>
        <p:spPr>
          <a:xfrm rot="0">
            <a:off x="1290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RECOVER</a:t>
            </a:r>
          </a:p>
        </p:txBody>
      </p:sp>
      <p:sp>
        <p:nvSpPr>
          <p:cNvPr name="Node 999" id="999"/>
          <p:cNvSpPr/>
          <p:nvPr/>
        </p:nvSpPr>
        <p:spPr>
          <a:xfrm>
            <a:off x="12392500" y="6432500"/>
            <a:ext cx="95000" cy="95000"/>
          </a:xfrm>
          <a:prstGeom prst="ellipse">
            <a:avLst/>
          </a:prstGeom>
          <a:solidFill>
            <a:srgbClr val="FF914D"/>
          </a:solidFill>
        </p:spPr>
        <p:txBody>
          <a:bodyPr/>
          <a:lstStyle/>
          <a:p/>
        </p:txBody>
      </p:sp>
      <p:sp>
        <p:nvSpPr>
          <p:cNvPr name="TextBox 1000" id="1000"/>
          <p:cNvSpPr txBox="true"/>
          <p:nvPr/>
        </p:nvSpPr>
        <p:spPr>
          <a:xfrm rot="0">
            <a:off x="12120000" y="6595000"/>
            <a:ext cx="960000" cy="26000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ctr"/>
            <a:r>
              <a:rPr lang="en-US" sz="8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RE-TRUST</a:t>
            </a:r>
          </a:p>
        </p:txBody>
      </p:sp>
      <p:cxnSp>
        <p:nvCxnSpPr>
          <p:cNvPr name="Line 1001" id="1001"/>
          <p:cNvCxnSpPr/>
          <p:nvPr/>
        </p:nvCxnSpPr>
        <p:spPr>
          <a:xfrm flipH="false" flipV="false">
            <a:off x="12495000" y="584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002" id="1002"/>
          <p:cNvCxnSpPr/>
          <p:nvPr/>
        </p:nvCxnSpPr>
        <p:spPr>
          <a:xfrm flipH="false" flipV="false">
            <a:off x="13275000" y="584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003" id="1003"/>
          <p:cNvCxnSpPr/>
          <p:nvPr/>
        </p:nvCxnSpPr>
        <p:spPr>
          <a:xfrm flipH="false" flipV="false">
            <a:off x="14000000" y="5895000"/>
            <a:ext cx="1" cy="530000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004" id="1004"/>
          <p:cNvCxnSpPr/>
          <p:nvPr/>
        </p:nvCxnSpPr>
        <p:spPr>
          <a:xfrm flipH="true" flipV="false">
            <a:off x="13275000" y="648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  <p:cxnSp>
        <p:nvCxnSpPr>
          <p:cNvPr name="Line 1005" id="1005"/>
          <p:cNvCxnSpPr/>
          <p:nvPr/>
        </p:nvCxnSpPr>
        <p:spPr>
          <a:xfrm flipH="true" flipV="false">
            <a:off x="12495000" y="6480000"/>
            <a:ext cx="670000" cy="1"/>
          </a:xfrm>
          <a:prstGeom prst="line">
            <a:avLst/>
          </a:prstGeom>
          <a:ln w="9525">
            <a:solidFill>
              <a:srgbClr val="FF914D"/>
            </a:solidFill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0872" y="9397527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7" y="0"/>
                </a:lnTo>
                <a:lnTo>
                  <a:pt x="14979357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73265" y="1130884"/>
            <a:ext cx="6870735" cy="543077"/>
            <a:chOff x="0" y="0"/>
            <a:chExt cx="9160980" cy="724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0"/>
                  </a:moveTo>
                  <a:lnTo>
                    <a:pt x="9161018" y="0"/>
                  </a:lnTo>
                  <a:lnTo>
                    <a:pt x="9161018" y="724154"/>
                  </a:lnTo>
                  <a:lnTo>
                    <a:pt x="0" y="724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9124950" y="1130884"/>
            <a:ext cx="6870735" cy="543077"/>
            <a:chOff x="0" y="0"/>
            <a:chExt cx="9160980" cy="724103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9161018" cy="724154"/>
            </a:xfrm>
            <a:custGeom>
              <a:avLst/>
              <a:gdLst/>
              <a:ahLst/>
              <a:cxnLst/>
              <a:rect r="r" b="b" t="t" l="l"/>
              <a:pathLst>
                <a:path h="724154" w="9161018">
                  <a:moveTo>
                    <a:pt x="0" y="724154"/>
                  </a:moveTo>
                  <a:lnTo>
                    <a:pt x="9161018" y="724154"/>
                  </a:lnTo>
                  <a:lnTo>
                    <a:pt x="9161018" y="0"/>
                  </a:lnTo>
                  <a:lnTo>
                    <a:pt x="0" y="0"/>
                  </a:lnTo>
                  <a:lnTo>
                    <a:pt x="0" y="724154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-32871" y="1130884"/>
            <a:ext cx="3068079" cy="503739"/>
            <a:chOff x="0" y="0"/>
            <a:chExt cx="4090772" cy="671652"/>
          </a:xfrm>
        </p:grpSpPr>
        <p:sp>
          <p:nvSpPr>
            <p:cNvPr name="Freeform 8" id="8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-5400000">
            <a:off x="12120564" y="5052657"/>
            <a:ext cx="10084834" cy="2269088"/>
          </a:xfrm>
          <a:custGeom>
            <a:avLst/>
            <a:gdLst/>
            <a:ahLst/>
            <a:cxnLst/>
            <a:rect r="r" b="b" t="t" l="l"/>
            <a:pathLst>
              <a:path h="2269088" w="10084834">
                <a:moveTo>
                  <a:pt x="0" y="0"/>
                </a:moveTo>
                <a:lnTo>
                  <a:pt x="10084834" y="0"/>
                </a:lnTo>
                <a:lnTo>
                  <a:pt x="10084834" y="2269088"/>
                </a:lnTo>
                <a:lnTo>
                  <a:pt x="0" y="226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248496" y="1130884"/>
            <a:ext cx="3068079" cy="503739"/>
            <a:chOff x="0" y="0"/>
            <a:chExt cx="4090772" cy="671652"/>
          </a:xfrm>
        </p:grpSpPr>
        <p:sp>
          <p:nvSpPr>
            <p:cNvPr name="Freeform 11" id="11"/>
            <p:cNvSpPr/>
            <p:nvPr/>
          </p:nvSpPr>
          <p:spPr>
            <a:xfrm flipH="false" flipV="true" rot="0">
              <a:off x="0" y="0"/>
              <a:ext cx="4090797" cy="671703"/>
            </a:xfrm>
            <a:custGeom>
              <a:avLst/>
              <a:gdLst/>
              <a:ahLst/>
              <a:cxnLst/>
              <a:rect r="r" b="b" t="t" l="l"/>
              <a:pathLst>
                <a:path h="671703" w="4090797">
                  <a:moveTo>
                    <a:pt x="0" y="671703"/>
                  </a:moveTo>
                  <a:lnTo>
                    <a:pt x="4090797" y="671703"/>
                  </a:lnTo>
                  <a:lnTo>
                    <a:pt x="4090797" y="0"/>
                  </a:lnTo>
                  <a:lnTo>
                    <a:pt x="0" y="0"/>
                  </a:lnTo>
                  <a:lnTo>
                    <a:pt x="0" y="671703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688825" y="96222"/>
            <a:ext cx="2423739" cy="924096"/>
            <a:chOff x="0" y="0"/>
            <a:chExt cx="2307438" cy="8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7463" cy="879729"/>
            </a:xfrm>
            <a:custGeom>
              <a:avLst/>
              <a:gdLst/>
              <a:ahLst/>
              <a:cxnLst/>
              <a:rect r="r" b="b" t="t" l="l"/>
              <a:pathLst>
                <a:path h="879729" w="2307463">
                  <a:moveTo>
                    <a:pt x="0" y="0"/>
                  </a:moveTo>
                  <a:lnTo>
                    <a:pt x="2307463" y="0"/>
                  </a:lnTo>
                  <a:lnTo>
                    <a:pt x="2307463" y="879729"/>
                  </a:lnTo>
                  <a:lnTo>
                    <a:pt x="0" y="879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294" r="1" b="-85995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57003" y="9404671"/>
            <a:ext cx="14979358" cy="908523"/>
          </a:xfrm>
          <a:custGeom>
            <a:avLst/>
            <a:gdLst/>
            <a:ahLst/>
            <a:cxnLst/>
            <a:rect r="r" b="b" t="t" l="l"/>
            <a:pathLst>
              <a:path h="908523" w="14979358">
                <a:moveTo>
                  <a:pt x="0" y="0"/>
                </a:moveTo>
                <a:lnTo>
                  <a:pt x="14979358" y="0"/>
                </a:lnTo>
                <a:lnTo>
                  <a:pt x="14979358" y="908523"/>
                </a:lnTo>
                <a:lnTo>
                  <a:pt x="0" y="908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7212" y="2398062"/>
            <a:ext cx="8600000" cy="5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6. Expected Outcome</a:t>
            </a:r>
          </a:p>
          <a:p>
            <a:pPr algn="l">
              <a:lnSpc>
                <a:spcPts val="14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Expected Results / Prototype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 working gateway, real webcam + YOLO11n pipeline, ML-KEM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session and a live dynamic-trust run — demonstrated, not simulated.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Real-World Impact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 pattern for AIoT deployments that must keep working after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cryptographically-relevant quantum computers arrive.</a:t>
            </a:r>
          </a:p>
          <a:p>
            <a:pPr algn="l">
              <a:lnSpc>
                <a:spcPts val="100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 xml:space="preserve">Future Scope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Quarantine enforcement, recovery orchestration, self-healing</a:t>
            </a:r>
          </a:p>
          <a:p>
            <a:pPr algn="l">
              <a:lnSpc>
                <a:spcPts val="2029"/>
              </a:lnSpc>
            </a:pPr>
            <a:r>
              <a:rPr lang="en-US" sz="145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response and a live operator dashboard (Phases 5–10).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2268" y="89049"/>
            <a:ext cx="2497801" cy="1034663"/>
          </a:xfrm>
          <a:custGeom>
            <a:avLst/>
            <a:gdLst/>
            <a:ahLst/>
            <a:cxnLst/>
            <a:rect r="r" b="b" t="t" l="l"/>
            <a:pathLst>
              <a:path h="1034663" w="2497801">
                <a:moveTo>
                  <a:pt x="0" y="0"/>
                </a:moveTo>
                <a:lnTo>
                  <a:pt x="2497801" y="0"/>
                </a:lnTo>
                <a:lnTo>
                  <a:pt x="2497801" y="1034663"/>
                </a:lnTo>
                <a:lnTo>
                  <a:pt x="0" y="1034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988" t="-27243" r="-4375" b="-5281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28787" y="7715612"/>
            <a:ext cx="4630426" cy="4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NOTE : export and upload as pdf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54462" y="2830933"/>
            <a:ext cx="6379076" cy="4625134"/>
            <a:chOff x="0" y="0"/>
            <a:chExt cx="2079650" cy="15078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9625" cy="1507871"/>
            </a:xfrm>
            <a:custGeom>
              <a:avLst/>
              <a:gdLst/>
              <a:ahLst/>
              <a:cxnLst/>
              <a:rect r="r" b="b" t="t" l="l"/>
              <a:pathLst>
                <a:path h="1507871" w="2079625">
                  <a:moveTo>
                    <a:pt x="0" y="0"/>
                  </a:moveTo>
                  <a:lnTo>
                    <a:pt x="2079625" y="0"/>
                  </a:lnTo>
                  <a:lnTo>
                    <a:pt x="2079625" y="1507871"/>
                  </a:lnTo>
                  <a:lnTo>
                    <a:pt x="0" y="1507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13000"/>
              </a:blip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36411" y="74654"/>
            <a:ext cx="5815177" cy="987762"/>
          </a:xfrm>
          <a:custGeom>
            <a:avLst/>
            <a:gdLst/>
            <a:ahLst/>
            <a:cxnLst/>
            <a:rect r="r" b="b" t="t" l="l"/>
            <a:pathLst>
              <a:path h="987762" w="5815177">
                <a:moveTo>
                  <a:pt x="0" y="0"/>
                </a:moveTo>
                <a:lnTo>
                  <a:pt x="5815178" y="0"/>
                </a:lnTo>
                <a:lnTo>
                  <a:pt x="5815178" y="987762"/>
                </a:lnTo>
                <a:lnTo>
                  <a:pt x="0" y="987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62" t="-153011" r="-9149" b="-1548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DAHUTjJQEdw</dc:identifier>
  <dcterms:modified xsi:type="dcterms:W3CDTF">2011-08-01T06:04:30Z</dcterms:modified>
  <cp:revision>1</cp:revision>
  <dc:title>Quant-A-Maze 3.O Hackathon</dc:title>
</cp:coreProperties>
</file>