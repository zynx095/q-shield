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4.svg" ContentType="image/svg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4" r:id="rId19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</p:sldIdLst>
  <p:sldSz cx="18288000" cy="10287000"/>
  <p:notesSz cx="6858000" cy="9144000"/>
  <p:embeddedFontLst>
    <p:embeddedFont>
      <p:font typeface="Times New Roman" charset="1" panose="02020603050405020304"/>
      <p:regular r:id="rId14"/>
    </p:embeddedFont>
    <p:embeddedFont>
      <p:font typeface="Times New Roman Bold" charset="1" panose="02020803070505020304"/>
      <p:regular r:id="rId15"/>
    </p:embeddedFont>
    <p:embeddedFont>
      <p:font typeface="Canva Sans" charset="1" panose="020B0503030501040103"/>
      <p:regular r:id="rId16"/>
    </p:embeddedFont>
    <p:embeddedFont>
      <p:font typeface="Canva Sans Italics" charset="1" panose="020B0503030501040103"/>
      <p:regular r:id="rId17"/>
    </p:embeddedFont>
    <p:embeddedFont>
      <p:font typeface="Canva Sans Bold" charset="1" panose="020B0803030501040103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fields are deliberately left as [ to fill ]: they were not supplied and must not be invented.</a:t>
            </a:r>
          </a:p>
          <a:p>
            <a:r>
              <a:t>One line: authentication answers who you are once; Q-SHIELD keeps asking whether you can still be trusted. Track: Post-Quantum Cryptography.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compromise on the timeline happens AFTER a successful login, so the device keeps its access. The table is the threat model: no single signal quarantines; two independent authenticated signals do; unauthenticated noise is capped at 25 points. Requirements: continuous scoring, correlation, gateway enforcement, earned recovery, a tamper-evident record, post-quantum signatures on the evidence path. Constraints are on slide 10. Sources: docs/architecture/trust-engine.md sections 4.5, 5,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overview: a closed loop around every device: observe, verify, score, enforce, recover, prove. The device lane authenticates with HMAC; the vision lane uses an ML-KEM session carrying ML-DSA signed observations. The trust engine decides; the gateway enforces. Execution plan: built in 17 phases (slide 9). Sources: backend/api/app.py, backend/trust/, backend/recovery/.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from TD-08 (design choices, not calibrated). final = min(raw - pressure, caps); every change lists the reasons that sum exactly to the delta. Unavailable factors are excluded and reported, never assumed healthy. Caps and thresholds: trust-engine.md sections 5 and 7. The only cap below the quarantine line is the confirmed incident (30).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PQC: Shor's algorithm breaks RSA and elliptic-curve signatures, so evidence signed classically today could be forged later. Standards: ML-KEM-768 FIPS 203, ML-DSA-65 FIPS 204, HKDF RFC 5869, AES-GCM SP 800-38D, SHA-256 FIPS 180-4. 1: the gateway's key pair is provisioned; the client pins its public key. 2-3: encapsulation, ML-DSA-signed init, decapsulation. 4: HKDF derives separate keys per direction plus a confirmation key. 5: a wrong pinned key fails confirmation; nothing is sent. 6: strict counters; replay and reorder fail. Numbers: docs/results/pqc-benchmark.json (i7-13700HX, Python bindings). The ESP32 device path is HMAC-SHA256 and is not post-quantum.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Canonical length-prefixed encoding: signer and verifier can never disagree on formatting. Every rejection is a security event that only adds bounded pressure. Chain: backend/evidence/chain.py (context qshield/evidence/v1, gateway evidence key). The 26 entries are from the Phase 17 live webcam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detector reports; only the trust engine decides. The webcam has no key: the vision service holds the ML-DSA-65 identity. Camera measures (ai/vision/health.py): brightness, texture, a normalised thumbnail against the reference view over cells no detection overlaps, phase correlation, sharpness, frame difference; 2 s and 5 frames of agreement. Tested on synthetic frames; on the live USB camera a moving person produced no false camera-health report in 2 x 90 s. Covering, turning and freezing the real camera have not been staged. Proximity is image-space: no distance is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Recovery (backend/recovery/orchestrator.py): operator-started, remediation acknowledged, three clean health checks each judged on its own report, then trust rebuilt from fresh evidence: RECOVERED at 50, TRUSTED at 85. Live demo, announced time-lapse: VERIFIED at 30, RECOVERED 80 after 30 min, TRUSTED 85 after 42 min. Twin example: the demo's expected state against a simulated configuration-mismatch attack and an open tamper switch. A match is evidence, not attestation. Enforcement: backend/security/enforcement.py.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technology is listed with its role. YOLO11n and ultralytics are AGPL-3.0; the weights are not committed. The hardware column is planned, not built. Phase history: docs/IMPLEMENTATION_STATUS.md.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 is an adapter, not a redesign: same envelope, gateway and trust engine; 7 byte-exact protocol test vectors (tests/vectors/envelope_v1_cases.json); an ESP32-CAM stream is a configuration change (not yet tried). Scalability, honestly: one gateway, one process, SQLite. PQC numbers: docs/results/pqc-benchmark.json. Trust engine: docs/results/trust_bench.json (52.6 us mean). Tests: 785 Python and 40 JS passing on 2026-10-02; by area in docs/testing.md. ACVP: 35 ML-KEM decapsulation, 20 key checks, 15 ML-DSA verifications (pqc/README.md).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Highlighted: the camera treated as part of the boundary, and the bounded-griefing guarantee. Abuse results are test results: tests/security/test_pqc_session.py, tests/integration/test_vision_session_churn.py, tests/fullstack/test_rejection_flood.py, tests/fullstack/test_quarantine.py. Do not call any single mechanism novel.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Measured, Phase 17 run of scripts/demo_full.py --webcam --pace 2 --hold: 100 -&gt; 90 (real detections of the presenter in the restricted zone) -&gt; 80 (forged) -&gt; 72 SUSPICIOUS (replay) -&gt; 30 QUARANTINED (tamper + signed visual) -&gt; VERIFIED 30 -&gt; RECOVERED 80 (30 min credited) -&gt; TRUSTED 85 (42 min). Presentation mode and a dashboard-against-API check passed on the same run. Limitations are on slide 10; the hardware path is docs/hardware/hardware-architecture.md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jpeg"/><Relationship Id="rId5" Type="http://schemas.openxmlformats.org/officeDocument/2006/relationships/image" Target="../media/image13.png"/><Relationship Id="rId6" Type="http://schemas.openxmlformats.org/officeDocument/2006/relationships/image" Target="../media/image14.sv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jpeg"/><Relationship Id="rId8" Type="http://schemas.openxmlformats.org/officeDocument/2006/relationships/image" Target="../media/image4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jpeg"/><Relationship Id="rId8" Type="http://schemas.openxmlformats.org/officeDocument/2006/relationships/image" Target="../media/image4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jpeg"/><Relationship Id="rId10" Type="http://schemas.openxmlformats.org/officeDocument/2006/relationships/notesSlide" Target="../notesSlides/notesSlide12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4" id="4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5" id="5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6" id="6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7" id="7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0" id="10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76294" r="1" b="-85995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-350872" y="9407052"/>
            <a:ext cx="25187234" cy="908523"/>
            <a:chOff x="0" y="0"/>
            <a:chExt cx="33582978" cy="121136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9972477" cy="1211364"/>
            </a:xfrm>
            <a:custGeom>
              <a:avLst/>
              <a:gdLst/>
              <a:ahLst/>
              <a:cxnLst/>
              <a:rect r="r" b="b" t="t" l="l"/>
              <a:pathLst>
                <a:path h="1211364" w="19972477">
                  <a:moveTo>
                    <a:pt x="0" y="0"/>
                  </a:moveTo>
                  <a:lnTo>
                    <a:pt x="19972477" y="0"/>
                  </a:lnTo>
                  <a:lnTo>
                    <a:pt x="19972477" y="1211364"/>
                  </a:lnTo>
                  <a:lnTo>
                    <a:pt x="0" y="12113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13610501" y="0"/>
              <a:ext cx="19972477" cy="1211364"/>
            </a:xfrm>
            <a:custGeom>
              <a:avLst/>
              <a:gdLst/>
              <a:ahLst/>
              <a:cxnLst/>
              <a:rect r="r" b="b" t="t" l="l"/>
              <a:pathLst>
                <a:path h="1211364" w="19972477">
                  <a:moveTo>
                    <a:pt x="0" y="0"/>
                  </a:moveTo>
                  <a:lnTo>
                    <a:pt x="19972477" y="0"/>
                  </a:lnTo>
                  <a:lnTo>
                    <a:pt x="19972477" y="1211364"/>
                  </a:lnTo>
                  <a:lnTo>
                    <a:pt x="0" y="12113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5954462" y="2830933"/>
            <a:ext cx="6379076" cy="4625134"/>
            <a:chOff x="0" y="0"/>
            <a:chExt cx="2079650" cy="150784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079625" cy="1507871"/>
            </a:xfrm>
            <a:custGeom>
              <a:avLst/>
              <a:gdLst/>
              <a:ahLst/>
              <a:cxnLst/>
              <a:rect r="r" b="b" t="t" l="l"/>
              <a:pathLst>
                <a:path h="1507871" w="2079625">
                  <a:moveTo>
                    <a:pt x="0" y="0"/>
                  </a:moveTo>
                  <a:lnTo>
                    <a:pt x="2079625" y="0"/>
                  </a:lnTo>
                  <a:lnTo>
                    <a:pt x="2079625" y="1507871"/>
                  </a:lnTo>
                  <a:lnTo>
                    <a:pt x="0" y="15078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13000"/>
              </a:blip>
              <a:stretch>
                <a:fillRect l="0" t="0" r="-1" b="1"/>
              </a:stretch>
            </a:blipFill>
          </p:spPr>
        </p:sp>
      </p:grpSp>
      <p:sp>
        <p:nvSpPr>
          <p:cNvPr name="Freeform 20" id="20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1" name="TextBox 20"/>
          <p:cNvSpPr txBox="1"/>
          <p:nvPr/>
        </p:nvSpPr>
        <p:spPr>
          <a:xfrm>
            <a:off x="822960" y="18745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36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1. Participant Information &amp; Topic Name</a:t>
            </a:r>
          </a:p>
        </p:txBody>
      </p:sp>
      <p:sp>
        <p:nvSpPr>
          <p:cNvPr id="22" name="Oval 21"/>
          <p:cNvSpPr/>
          <p:nvPr/>
        </p:nvSpPr>
        <p:spPr>
          <a:xfrm>
            <a:off x="859536" y="3099816"/>
            <a:ext cx="146304" cy="146304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292608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Team Name  </a:t>
            </a:r>
            <a:r>
              <a:rPr sz="2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[ to fill ]</a:t>
            </a:r>
          </a:p>
        </p:txBody>
      </p:sp>
      <p:sp>
        <p:nvSpPr>
          <p:cNvPr id="24" name="Oval 23"/>
          <p:cNvSpPr/>
          <p:nvPr/>
        </p:nvSpPr>
        <p:spPr>
          <a:xfrm>
            <a:off x="859536" y="3721608"/>
            <a:ext cx="146304" cy="146304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3547872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Team Lead Name  </a:t>
            </a:r>
            <a:r>
              <a:rPr sz="2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[ to fill ]</a:t>
            </a:r>
          </a:p>
        </p:txBody>
      </p:sp>
      <p:sp>
        <p:nvSpPr>
          <p:cNvPr id="26" name="Oval 25"/>
          <p:cNvSpPr/>
          <p:nvPr/>
        </p:nvSpPr>
        <p:spPr>
          <a:xfrm>
            <a:off x="859536" y="4343400"/>
            <a:ext cx="146304" cy="146304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4169664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Team Lead Contact No  </a:t>
            </a:r>
            <a:r>
              <a:rPr sz="2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[ to fill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928616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Selected Track</a:t>
            </a:r>
          </a:p>
        </p:txBody>
      </p:sp>
      <p:sp>
        <p:nvSpPr>
          <p:cNvPr id="29" name="Oval 28"/>
          <p:cNvSpPr/>
          <p:nvPr/>
        </p:nvSpPr>
        <p:spPr>
          <a:xfrm>
            <a:off x="1417320" y="5650992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83080" y="552297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Quantum Machine Learning (QML)</a:t>
            </a:r>
          </a:p>
        </p:txBody>
      </p:sp>
      <p:sp>
        <p:nvSpPr>
          <p:cNvPr id="31" name="Oval 30"/>
          <p:cNvSpPr/>
          <p:nvPr/>
        </p:nvSpPr>
        <p:spPr>
          <a:xfrm>
            <a:off x="1417320" y="6153912"/>
            <a:ext cx="182880" cy="182880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6025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Post-Quantum Cryptography (PQC)</a:t>
            </a:r>
          </a:p>
        </p:txBody>
      </p:sp>
      <p:sp>
        <p:nvSpPr>
          <p:cNvPr id="33" name="Oval 32"/>
          <p:cNvSpPr/>
          <p:nvPr/>
        </p:nvSpPr>
        <p:spPr>
          <a:xfrm>
            <a:off x="1417320" y="6656832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83080" y="652881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Web3 &amp; Blockchain</a:t>
            </a:r>
          </a:p>
        </p:txBody>
      </p:sp>
      <p:sp>
        <p:nvSpPr>
          <p:cNvPr id="35" name="Oval 34"/>
          <p:cNvSpPr/>
          <p:nvPr/>
        </p:nvSpPr>
        <p:spPr>
          <a:xfrm>
            <a:off x="1417320" y="7159752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83080" y="703173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Generative AI &amp; Machine Learning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2926080"/>
            <a:ext cx="5577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72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Q-SHIELD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416052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Continuous device trust with post-quantum-signed evidence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0" y="5349240"/>
            <a:ext cx="5486400" cy="0"/>
          </a:xfrm>
          <a:prstGeom prst="line">
            <a:avLst/>
          </a:prstGeom>
          <a:ln w="25400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058400" y="5532120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Authentication answers </a:t>
            </a:r>
            <a:r>
              <a:rPr sz="21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who are you</a:t>
            </a:r>
            <a:r>
              <a:rPr sz="21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 once.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1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Q-SHIELD keeps asking </a:t>
            </a:r>
            <a:r>
              <a:rPr sz="21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can you still be trusted</a:t>
            </a:r>
            <a:r>
              <a:rPr sz="21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0" y="722376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9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Device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649456" y="7566660"/>
            <a:ext cx="29260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1978640" y="722376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9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Gateway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3569696" y="7566660"/>
            <a:ext cx="29260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3898880" y="722376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9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Trust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809244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ML-KEM-768 and ML-DSA-65 (FIPS 203, 204)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1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1" id="11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294" r="1" b="-85995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0" name="TextBox 19"/>
          <p:cNvSpPr txBox="1"/>
          <p:nvPr/>
        </p:nvSpPr>
        <p:spPr>
          <a:xfrm>
            <a:off x="822960" y="1874520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2. Problem Definition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578608"/>
            <a:ext cx="14813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1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Problem description: authenticated is not the same as trustworthy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3063240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50976" y="3127248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14400" y="4526280"/>
            <a:ext cx="14538960" cy="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188720" y="4389120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474720"/>
            <a:ext cx="12801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t0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authenticate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709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trusted</a:t>
            </a:r>
          </a:p>
        </p:txBody>
      </p:sp>
      <p:sp>
        <p:nvSpPr>
          <p:cNvPr id="28" name="Oval 27"/>
          <p:cNvSpPr/>
          <p:nvPr/>
        </p:nvSpPr>
        <p:spPr>
          <a:xfrm>
            <a:off x="4078224" y="4398264"/>
            <a:ext cx="256032" cy="256032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352044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enclosure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opened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681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still trusted</a:t>
            </a:r>
          </a:p>
        </p:txBody>
      </p:sp>
      <p:sp>
        <p:nvSpPr>
          <p:cNvPr id="31" name="Oval 30"/>
          <p:cNvSpPr/>
          <p:nvPr/>
        </p:nvSpPr>
        <p:spPr>
          <a:xfrm>
            <a:off x="7187184" y="4398264"/>
            <a:ext cx="256032" cy="256032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0" y="352044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configuration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drift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4681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still trusted</a:t>
            </a:r>
          </a:p>
        </p:txBody>
      </p:sp>
      <p:sp>
        <p:nvSpPr>
          <p:cNvPr id="34" name="Oval 33"/>
          <p:cNvSpPr/>
          <p:nvPr/>
        </p:nvSpPr>
        <p:spPr>
          <a:xfrm>
            <a:off x="10296144" y="4398264"/>
            <a:ext cx="256032" cy="256032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52044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camera covered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or turned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4681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still trusted</a:t>
            </a:r>
          </a:p>
        </p:txBody>
      </p:sp>
      <p:sp>
        <p:nvSpPr>
          <p:cNvPr id="37" name="Oval 36"/>
          <p:cNvSpPr/>
          <p:nvPr/>
        </p:nvSpPr>
        <p:spPr>
          <a:xfrm>
            <a:off x="13405104" y="4398264"/>
            <a:ext cx="256032" cy="256032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344400" y="352044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forged or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replayed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0" y="4681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still trusted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069080" y="5257800"/>
            <a:ext cx="9601200" cy="0"/>
          </a:xfrm>
          <a:prstGeom prst="line">
            <a:avLst/>
          </a:prstGeom>
          <a:ln w="38100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69080" y="5074920"/>
            <a:ext cx="0" cy="182880"/>
          </a:xfrm>
          <a:prstGeom prst="line">
            <a:avLst/>
          </a:prstGeom>
          <a:ln w="38100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3670280" y="5074920"/>
            <a:ext cx="0" cy="182880"/>
          </a:xfrm>
          <a:prstGeom prst="line">
            <a:avLst/>
          </a:prstGeom>
          <a:ln w="38100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69080" y="533095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trust should change here</a:t>
            </a:r>
            <a:r>
              <a:rPr sz="18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, but authentication never asks again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58978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Threat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77840" y="5897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Authentication alone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5897880"/>
            <a:ext cx="6629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What Q-SHIELD adds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05840" y="6309360"/>
            <a:ext cx="146304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005840" y="635508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Forged or replayed message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635508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rejected, then forgotten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635508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bounded pressure (≤ 25); 3 replays in 10 min hold the score at 65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05840" y="6903720"/>
            <a:ext cx="1463040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05840" y="690372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Enclosure opened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77840" y="69037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nothing to see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690372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physical factor CRITICAL; score held at 55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05840" y="7452360"/>
            <a:ext cx="1463040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005840" y="745236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Camera covered, frozen or turned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74523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nothing to see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745236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signed camera-health report; visual factor HIGH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005840" y="8001000"/>
            <a:ext cx="1463040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841248" y="8055864"/>
            <a:ext cx="73152" cy="438912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5840" y="800100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Tamper + visual evidence within 60 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77840" y="80010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nothing to see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800100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confirmed incident: score 30, </a:t>
            </a:r>
            <a:r>
              <a:rPr sz="17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quarantine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05840" y="8549640"/>
            <a:ext cx="1463040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5840" y="854964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Quantum adversary recording traffic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77840" y="85496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classical signatures forgeable later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69680" y="854964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ML-DSA-65 signs the evidence; ML-KEM-768 keys the session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05840" y="9098280"/>
            <a:ext cx="1463040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2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9" id="9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10" id="10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3" id="13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76294" r="1" b="-85995"/>
              </a:stretch>
            </a:blipFill>
          </p:spPr>
        </p:sp>
      </p:grpSp>
      <p:sp>
        <p:nvSpPr>
          <p:cNvPr name="Freeform 16" id="16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5988" t="-27243" r="-4375" b="-52819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19" name="TextBox 18"/>
          <p:cNvSpPr txBox="1"/>
          <p:nvPr/>
        </p:nvSpPr>
        <p:spPr>
          <a:xfrm>
            <a:off x="822960" y="1874520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3. Proposed Solution &amp; Execution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578608"/>
            <a:ext cx="14813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1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Working principle: observe → verify → score → enforce → recover → prove, for every device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3063240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50976" y="3127248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3520440"/>
            <a:ext cx="25146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ESP32 / device agent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simulated today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3520440"/>
            <a:ext cx="28346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Identity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HMAC-SHA256 + counter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74136" y="3950208"/>
            <a:ext cx="38404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22960" y="4892040"/>
            <a:ext cx="25146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Vision service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camera + YOLO11n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4892040"/>
            <a:ext cx="28346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PQC session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ML-KEM-768, AES-256-GCM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86600" y="4892040"/>
            <a:ext cx="2743200" cy="868680"/>
          </a:xfrm>
          <a:prstGeom prst="roundRect">
            <a:avLst>
              <a:gd name="adj" fmla="val 12000"/>
            </a:avLst>
          </a:prstGeom>
          <a:solidFill>
            <a:srgbClr val="FFE9DB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Signed observations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ML-DSA-65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74136" y="5321808"/>
            <a:ext cx="38404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5976" y="5321808"/>
            <a:ext cx="38404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332720" y="3520440"/>
            <a:ext cx="2331720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Gateway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authenticate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enforce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record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665976" y="3950208"/>
            <a:ext cx="363016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66376" y="5321808"/>
            <a:ext cx="42976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121640" y="3520440"/>
            <a:ext cx="2514600" cy="224028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Trust engine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six factors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caps, decay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state machine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701016" y="4636008"/>
            <a:ext cx="38404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3368528" y="6108192"/>
            <a:ext cx="2011680" cy="10972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Decision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374368" y="5797296"/>
            <a:ext cx="0" cy="27432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2984480" y="7909560"/>
            <a:ext cx="265176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TRUSTED or SUSPICIOUS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normal access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374368" y="7223760"/>
            <a:ext cx="0" cy="649224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4447520" y="7315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≥ 50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32720" y="6236208"/>
            <a:ext cx="2331720" cy="822960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QUARANTINE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normal channel 403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2701016" y="6647688"/>
            <a:ext cx="649224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2755880" y="6236208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&lt; 50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86600" y="6236208"/>
            <a:ext cx="27432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Recovery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operator-started, verified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9866376" y="6647688"/>
            <a:ext cx="42976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3794760" y="6236208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VERIFIED → TRUSTED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trust re-earned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6665976" y="6647688"/>
            <a:ext cx="38404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22960" y="7680960"/>
            <a:ext cx="4572000" cy="105156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Digital twin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expected vs self-reported state, used by trust and recovery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23560" y="7680960"/>
            <a:ext cx="5897880" cy="105156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Evidence chain</a:t>
            </a:r>
          </a:p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records every decision: SHA-256 linked, ML-DSA-65 signed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3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9" id="9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10" id="10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11" id="11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3" id="13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76294" r="1" b="-85995"/>
              </a:stretch>
            </a:blipFill>
          </p:spPr>
        </p:sp>
      </p:grpSp>
      <p:sp>
        <p:nvSpPr>
          <p:cNvPr name="Freeform 16" id="16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5988" t="-27243" r="-4375" b="-52819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19" name="TextBox 18"/>
          <p:cNvSpPr txBox="1"/>
          <p:nvPr/>
        </p:nvSpPr>
        <p:spPr>
          <a:xfrm>
            <a:off x="822960" y="181051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3. Proposed Solution &amp; Execution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084832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Core functionality: continuous six-factor trust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2807208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50976" y="2871216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32004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Identity / crypto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40" y="3337560"/>
            <a:ext cx="3108960" cy="29260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32004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25%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2400" y="3474720"/>
            <a:ext cx="137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822192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Physical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40" y="3959352"/>
            <a:ext cx="2487168" cy="29260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822192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20%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772400" y="4096512"/>
            <a:ext cx="137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22960" y="444398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Configuration integrity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40" y="4581144"/>
            <a:ext cx="1865376" cy="29260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34456" y="4443984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15%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72400" y="4718304"/>
            <a:ext cx="137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" y="506577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Sensor consistency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40" y="5202936"/>
            <a:ext cx="1865376" cy="29260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34456" y="5065776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15%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772400" y="5340096"/>
            <a:ext cx="137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2960" y="5687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Visual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77640" y="5824728"/>
            <a:ext cx="1865376" cy="29260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34456" y="568756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15%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72400" y="5961888"/>
            <a:ext cx="137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22960" y="63093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Network liveness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7640" y="6446520"/>
            <a:ext cx="1243584" cy="29260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12664" y="63093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10%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772400" y="6583680"/>
            <a:ext cx="1371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909560" y="3474720"/>
            <a:ext cx="0" cy="310896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909560" y="3611880"/>
            <a:ext cx="374904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8321040" y="3200400"/>
            <a:ext cx="2651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Weighted sum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100 − Σ wᵢ·pᵢ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646920" y="4059936"/>
            <a:ext cx="0" cy="246888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321040" y="4343400"/>
            <a:ext cx="2651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− Pressure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unauthenticated, ≤ 25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646920" y="5202936"/>
            <a:ext cx="0" cy="246888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321040" y="5486400"/>
            <a:ext cx="2651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min( caps )</a:t>
            </a:r>
          </a:p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while a condition lasts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1009376" y="5897880"/>
            <a:ext cx="329184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11384280" y="5486400"/>
            <a:ext cx="1417320" cy="82296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SCORE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84280" y="31546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Caps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84280" y="3566160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Confirmed incident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00" y="3639312"/>
            <a:ext cx="438912" cy="164592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209776" y="356616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84280" y="3877056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Physical tamper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716000" y="3950208"/>
            <a:ext cx="804672" cy="164592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4575536" y="3877056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84280" y="4187952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Correlated incident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716000" y="4261104"/>
            <a:ext cx="804672" cy="164592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4575536" y="4187952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84280" y="4498848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Repeated replay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00" y="4572000"/>
            <a:ext cx="950976" cy="164592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721840" y="4498848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84280" y="4809744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Integrity mismatch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716000" y="4882896"/>
            <a:ext cx="950976" cy="164592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721840" y="4809744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84280" y="5120640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Stale device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3716000" y="5193792"/>
            <a:ext cx="1155802" cy="164592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926666" y="512064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79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984480" y="548640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Authenticity is not trust: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a valid signature lets evidence count; it never adds points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2960" y="7086600"/>
            <a:ext cx="7406640" cy="548640"/>
          </a:xfrm>
          <a:prstGeom prst="rect">
            <a:avLst/>
          </a:prstGeom>
          <a:solidFill>
            <a:srgbClr val="1F1F1F"/>
          </a:solidFill>
          <a:ln w="1905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QUARANTINED  &lt; 50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29600" y="7086600"/>
            <a:ext cx="4443984" cy="548640"/>
          </a:xfrm>
          <a:prstGeom prst="rect">
            <a:avLst/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SUSPICIOUS  50-79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673584" y="7086600"/>
            <a:ext cx="2962656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TRUSTED  ≥ 80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3414248" y="7635240"/>
            <a:ext cx="0" cy="201168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1219688" y="78181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back to TRUSTED only at 85 (hysteresis)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" y="84124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Recovery credit  </a:t>
            </a:r>
            <a:r>
              <a:rPr sz="16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Δc = clamp(t − max(t_prev, t_violation), 0, 45 s)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only clean authenticated evidence earns time; silence never heals a device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4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1" id="11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294" r="1" b="-85995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0" name="TextBox 19"/>
          <p:cNvSpPr txBox="1"/>
          <p:nvPr/>
        </p:nvSpPr>
        <p:spPr>
          <a:xfrm>
            <a:off x="822960" y="1874520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4. Technical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578608"/>
            <a:ext cx="14813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1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Post-quantum session: ML-KEM-768 key exchange, ML-DSA-65 signed, AES-256-GCM data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3063240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50976" y="3127248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3383280"/>
            <a:ext cx="150876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Why PQC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59152" y="3648456"/>
            <a:ext cx="219456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606040" y="3383280"/>
            <a:ext cx="1508760" cy="530352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ML-KEM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42232" y="3648456"/>
            <a:ext cx="219456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389120" y="3383280"/>
            <a:ext cx="150876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Session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25312" y="3648456"/>
            <a:ext cx="219456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72200" y="3383280"/>
            <a:ext cx="1508760" cy="530352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ML-DSA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708392" y="3648456"/>
            <a:ext cx="219456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955280" y="3383280"/>
            <a:ext cx="233172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Signed evidence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14432" y="3648456"/>
            <a:ext cx="219456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561320" y="3383280"/>
            <a:ext cx="160020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AES-GCM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188952" y="3648456"/>
            <a:ext cx="219456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2435840" y="3383280"/>
            <a:ext cx="2514600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Continuous trust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069080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Vision service (client)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35640" y="4069080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Gateway (server)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23260" y="4434840"/>
            <a:ext cx="0" cy="3154680"/>
          </a:xfrm>
          <a:prstGeom prst="line">
            <a:avLst/>
          </a:prstGeom>
          <a:ln w="12700">
            <a:solidFill>
              <a:srgbClr val="BDBDB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3235940" y="4434840"/>
            <a:ext cx="0" cy="3108960"/>
          </a:xfrm>
          <a:prstGeom prst="line">
            <a:avLst/>
          </a:prstGeom>
          <a:ln w="12700">
            <a:solidFill>
              <a:srgbClr val="BDBDB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835640" y="4480560"/>
            <a:ext cx="4800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1  Key generation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ML-KEM-768, provisioned once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5669280" y="4764024"/>
            <a:ext cx="5120640" cy="0"/>
          </a:xfrm>
          <a:prstGeom prst="line">
            <a:avLst/>
          </a:prstGeom>
          <a:ln w="15875">
            <a:solidFill>
              <a:srgbClr val="5C5C5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52160" y="4407408"/>
            <a:ext cx="47548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pinned public key, 1184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120640"/>
            <a:ext cx="4800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2  Encapsulation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→ shared secret + ciphertext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0" y="5596128"/>
            <a:ext cx="5120640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760720" y="5230368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ciphertext 1088 B + nonce + time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562356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signed with ML-DSA-65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35640" y="5760720"/>
            <a:ext cx="4800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3  Verify + decapsulation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→ shared secret, 32 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2960" y="6446520"/>
            <a:ext cx="14813280" cy="566928"/>
          </a:xfrm>
          <a:prstGeom prst="roundRect">
            <a:avLst>
              <a:gd name="adj" fmla="val 12000"/>
            </a:avLst>
          </a:prstGeom>
          <a:solidFill>
            <a:srgbClr val="FFE9DB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4  HKDF-SHA256, on both sides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salt = both nonces, info = transcript  →  client→server, server→client, confirmation keys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5669280" y="7424928"/>
            <a:ext cx="5120640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69280" y="7068312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session id + server nonce + confirmation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960" y="7635240"/>
            <a:ext cx="48006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5  Confirm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wrong key → nothing sent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0720" y="766267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standard primitives composed by us: not TLS, not externally reviewed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758952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median, laptop: </a:t>
            </a: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encaps 0.069 ms, decaps 0.091 ms</a:t>
            </a:r>
          </a:p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full handshake 10.0 ms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2960" y="8339328"/>
            <a:ext cx="14813280" cy="548640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6  AES-256-GCM session   per-direction keys, 64-bit counters, AAD = session ‖ direction ‖ counter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5 /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1" id="11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294" r="1" b="-85995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0" name="TextBox 19"/>
          <p:cNvSpPr txBox="1"/>
          <p:nvPr/>
        </p:nvSpPr>
        <p:spPr>
          <a:xfrm>
            <a:off x="822960" y="181051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4. Technical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084832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ML-DSA-65 signed observations and evidence chain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2807208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50976" y="2871216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320040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Observation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36976" y="3566160"/>
            <a:ext cx="47548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749040" y="3200400"/>
            <a:ext cx="26974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Canonical encoding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83096" y="3566160"/>
            <a:ext cx="47548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995160" y="320040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ML-DSA-65 sign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409176" y="3566160"/>
            <a:ext cx="47548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921240" y="3200400"/>
            <a:ext cx="219456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Signature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3309 B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152376" y="3566160"/>
            <a:ext cx="47548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2664440" y="3200400"/>
            <a:ext cx="2606040" cy="73152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Gateway 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97764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device, object, zone,
confidence, 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977640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length-prefixed fields,
never JSON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97764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context
qshield/signed-observation/v1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967460" y="3950208"/>
            <a:ext cx="0" cy="8686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0149840" y="4480560"/>
            <a:ext cx="381762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149840" y="4480560"/>
            <a:ext cx="0" cy="338328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412480" y="4846320"/>
            <a:ext cx="34747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ACCEPT  200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active signer, in scope, fresh, new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2161520" y="4846320"/>
            <a:ext cx="3474720" cy="868680"/>
          </a:xfrm>
          <a:prstGeom prst="roundRect">
            <a:avLst>
              <a:gd name="adj" fmla="val 12000"/>
            </a:avLst>
          </a:prstGeom>
          <a:solidFill>
            <a:srgbClr val="FFE9DB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REJECT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401 forged, unknown, retired, stale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409 replayed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84632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Binds </a:t>
            </a: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who</a:t>
            </a:r>
            <a:r>
              <a:rPr sz="16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 (signer, source, devices), </a:t>
            </a: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what</a:t>
            </a:r>
            <a:r>
              <a:rPr sz="16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 (every field) and </a:t>
            </a: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when</a:t>
            </a:r>
            <a:r>
              <a:rPr sz="16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 (signed time).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median, laptop: </a:t>
            </a:r>
            <a:r>
              <a:rPr sz="16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sign 9.42 ms, verify 0.188 ms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22960" y="5989320"/>
            <a:ext cx="14813280" cy="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22960" y="60533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Evidence chain: </a:t>
            </a:r>
            <a:r>
              <a:rPr sz="18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every decision, SHA-256 linked and ML-DSA-65 signed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6537960"/>
            <a:ext cx="329184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65836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Event 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6967728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prev_hash  </a:t>
            </a: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h(N−1)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event_hash </a:t>
            </a: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h(N)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signature  </a:t>
            </a:r>
            <a:r>
              <a:rPr sz="1400" b="0" i="0">
                <a:solidFill>
                  <a:srgbClr val="C2410C"/>
                </a:solidFill>
                <a:latin typeface="Consolas"/>
                <a:ea typeface="Consolas"/>
                <a:cs typeface="Consolas"/>
              </a:rPr>
              <a:t>ML-DSA-65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160520" y="7278624"/>
            <a:ext cx="594360" cy="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4800600" y="6537960"/>
            <a:ext cx="329184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83480" y="65836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Event N+1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3480" y="6967728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prev_hash  </a:t>
            </a: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h(N)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event_hash </a:t>
            </a: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h(N+1)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signature  </a:t>
            </a:r>
            <a:r>
              <a:rPr sz="1400" b="0" i="0">
                <a:solidFill>
                  <a:srgbClr val="C2410C"/>
                </a:solidFill>
                <a:latin typeface="Consolas"/>
                <a:ea typeface="Consolas"/>
                <a:cs typeface="Consolas"/>
              </a:rPr>
              <a:t>ML-DSA-65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138160" y="7278624"/>
            <a:ext cx="594360" cy="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8778240" y="6537960"/>
            <a:ext cx="329184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61120" y="65836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Event N+2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6967728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prev_hash  </a:t>
            </a: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h(N+1)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event_hash </a:t>
            </a: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h(N+2)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signature  </a:t>
            </a:r>
            <a:r>
              <a:rPr sz="1400" b="0" i="0">
                <a:solidFill>
                  <a:srgbClr val="C2410C"/>
                </a:solidFill>
                <a:latin typeface="Consolas"/>
                <a:ea typeface="Consolas"/>
                <a:cs typeface="Consolas"/>
              </a:rPr>
              <a:t>ML-DSA-65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755880" y="6537960"/>
            <a:ext cx="2880360" cy="14813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938760" y="6583680"/>
            <a:ext cx="265176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26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entries in the live demo, </a:t>
            </a: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VERIFIED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8183880"/>
            <a:ext cx="148132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Verification recomputes every hash and checks every signature: an edited, reordered or removed entry is found.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Not anchored externally: cutting the tail needs an outside copy of the head; holding the database and the key together would allow a rewrite.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6 / 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1" id="11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294" r="1" b="-85995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0" name="TextBox 19"/>
          <p:cNvSpPr txBox="1"/>
          <p:nvPr/>
        </p:nvSpPr>
        <p:spPr>
          <a:xfrm>
            <a:off x="822960" y="181051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4. Technical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084832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AI vision security: the camera is part of the boundary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2807208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50976" y="2871216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320040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Camera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USB / built-in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79776" y="3634740"/>
            <a:ext cx="29260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108960" y="320040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YOLO11n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object detector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65776" y="3634740"/>
            <a:ext cx="29260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394960" y="3200400"/>
            <a:ext cx="265176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Object, confidence, zone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83296" y="3634740"/>
            <a:ext cx="29260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412480" y="320040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Camera health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is the camera OK?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826496" y="3634740"/>
            <a:ext cx="29260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1155680" y="320040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Signed observation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ML-DSA-65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3569696" y="3634740"/>
            <a:ext cx="292608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898880" y="320040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Trust engine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7280" y="4343400"/>
            <a:ext cx="173736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188720" y="5029200"/>
            <a:ext cx="1554480" cy="0"/>
          </a:xfrm>
          <a:prstGeom prst="line">
            <a:avLst/>
          </a:prstGeom>
          <a:ln w="15875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1371600" y="4663440"/>
            <a:ext cx="365760" cy="365760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65960" y="4507992"/>
            <a:ext cx="274320" cy="521208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303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Normal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6875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matches the reference 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394460" y="635508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no report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880360" y="4800600"/>
            <a:ext cx="411480" cy="0"/>
          </a:xfrm>
          <a:prstGeom prst="line">
            <a:avLst/>
          </a:prstGeom>
          <a:ln w="15875">
            <a:solidFill>
              <a:srgbClr val="BDBD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3602736" y="4343400"/>
            <a:ext cx="1737360" cy="914400"/>
          </a:xfrm>
          <a:prstGeom prst="rect">
            <a:avLst/>
          </a:prstGeom>
          <a:solidFill>
            <a:srgbClr val="1F1F1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74136" y="5303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Occluded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74136" y="56875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dark, flat or blinded for 2 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99916" y="635508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914D"/>
          </a:solidFill>
          <a:ln w="1587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HIGH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385816" y="4800600"/>
            <a:ext cx="411480" cy="0"/>
          </a:xfrm>
          <a:prstGeom prst="line">
            <a:avLst/>
          </a:prstGeom>
          <a:ln w="15875">
            <a:solidFill>
              <a:srgbClr val="BDBD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108192" y="4343400"/>
            <a:ext cx="173736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199632" y="4846320"/>
            <a:ext cx="1554480" cy="0"/>
          </a:xfrm>
          <a:prstGeom prst="line">
            <a:avLst/>
          </a:prstGeom>
          <a:ln w="15875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93992" y="4480560"/>
            <a:ext cx="365760" cy="365760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82512" y="4663440"/>
            <a:ext cx="365760" cy="365760"/>
          </a:xfrm>
          <a:prstGeom prst="rect">
            <a:avLst/>
          </a:prstGeom>
          <a:noFill/>
          <a:ln w="19050">
            <a:solidFill>
              <a:srgbClr val="FF91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79592" y="5303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Moved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79592" y="56875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shifted, or similarity &lt; 0.7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5372" y="635508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914D"/>
          </a:solidFill>
          <a:ln w="1587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HIGH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891272" y="4800600"/>
            <a:ext cx="411480" cy="0"/>
          </a:xfrm>
          <a:prstGeom prst="line">
            <a:avLst/>
          </a:prstGeom>
          <a:ln w="15875">
            <a:solidFill>
              <a:srgbClr val="BDBD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613648" y="4343400"/>
            <a:ext cx="173736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23376" y="4434840"/>
            <a:ext cx="1325880" cy="640080"/>
          </a:xfrm>
          <a:prstGeom prst="rect">
            <a:avLst/>
          </a:prstGeom>
          <a:solidFill>
            <a:srgbClr val="F6F6F6"/>
          </a:solidFill>
          <a:ln w="12700">
            <a:solidFill>
              <a:srgbClr val="5C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887968" y="4544568"/>
            <a:ext cx="13258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887968" y="4544568"/>
            <a:ext cx="13258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=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5048" y="5303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Frozen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85048" y="56875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the same frame again and again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10828" y="635508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914D"/>
          </a:solidFill>
          <a:ln w="1587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HIGH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0396728" y="4800600"/>
            <a:ext cx="411480" cy="0"/>
          </a:xfrm>
          <a:prstGeom prst="line">
            <a:avLst/>
          </a:prstGeom>
          <a:ln w="15875">
            <a:solidFill>
              <a:srgbClr val="BDBD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11119104" y="4343400"/>
            <a:ext cx="173736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1210544" y="5029200"/>
            <a:ext cx="1554480" cy="0"/>
          </a:xfrm>
          <a:prstGeom prst="line">
            <a:avLst/>
          </a:prstGeom>
          <a:ln w="15875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1393424" y="4663440"/>
            <a:ext cx="365760" cy="365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987784" y="4507992"/>
            <a:ext cx="274320" cy="5212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890504" y="5303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Degraded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90504" y="56875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low light or blur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416284" y="635508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MEDIUM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2902184" y="4800600"/>
            <a:ext cx="411480" cy="0"/>
          </a:xfrm>
          <a:prstGeom prst="line">
            <a:avLst/>
          </a:prstGeom>
          <a:ln w="15875">
            <a:solidFill>
              <a:srgbClr val="BDBDB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3624560" y="4343400"/>
            <a:ext cx="173736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3761720" y="4434840"/>
            <a:ext cx="1463040" cy="822960"/>
          </a:xfrm>
          <a:prstGeom prst="rect">
            <a:avLst/>
          </a:prstGeom>
          <a:noFill/>
          <a:ln w="254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3395960" y="5303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Too close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395960" y="56875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box &gt; 35% of frame; not a distance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921740" y="6355080"/>
            <a:ext cx="1143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LOW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22960" y="7086600"/>
            <a:ext cx="329184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Tamper report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HMAC-SHA256, device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60520" y="7132320"/>
            <a:ext cx="54864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30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+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754880" y="7086600"/>
            <a:ext cx="3703320" cy="777240"/>
          </a:xfrm>
          <a:prstGeom prst="roundRect">
            <a:avLst>
              <a:gd name="adj" fmla="val 12000"/>
            </a:avLst>
          </a:prstGeom>
          <a:solidFill>
            <a:srgbClr val="FFE9DB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Signed camera interference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occluded, moved or frozen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503920" y="7470648"/>
            <a:ext cx="685800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9235440" y="7086600"/>
            <a:ext cx="3566160" cy="777240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Confirmed incident</a:t>
            </a:r>
          </a:p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within 60 s → score 30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2847320" y="7470648"/>
            <a:ext cx="411480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13304520" y="7086600"/>
            <a:ext cx="2331720" cy="77724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QUARANTINE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" y="8092440"/>
            <a:ext cx="1481328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Camera alone: a penalty, never quarantine. Camera + rule match from the same signer: one modality, so a stolen vision key cannot confirm an incident.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Rule match = restricted class in a restricted zone (a policy, not a verdict). Live on a USB webcam, CPU, about 5 frames/s; detection accuracy not measured.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7 /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1" id="11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294" r="1" b="-85995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0" name="TextBox 19"/>
          <p:cNvSpPr txBox="1"/>
          <p:nvPr/>
        </p:nvSpPr>
        <p:spPr>
          <a:xfrm>
            <a:off x="822960" y="181051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4. Technical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084832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Quarantine, digital twin and self-healing recovery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2807208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50976" y="2871216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3200400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1F1F1F"/>
          </a:solidFill>
          <a:ln w="1905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Quarantine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96312" y="3584448"/>
            <a:ext cx="164592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670048" y="3200400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Authorize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4328" y="40233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operator starts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43400" y="3584448"/>
            <a:ext cx="164592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17136" y="3200400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Remediate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0233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known-good config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90488" y="3584448"/>
            <a:ext cx="164592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364224" y="3200400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Health checks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8504" y="40233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3 clean reports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37576" y="3584448"/>
            <a:ext cx="164592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211312" y="3200400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Twin match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65592" y="40233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expected = reported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884664" y="3584448"/>
            <a:ext cx="164592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058400" y="3200400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Verified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12680" y="40233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ramp begins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731752" y="3584448"/>
            <a:ext cx="164592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1905488" y="3200400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Recovered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59768" y="40233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score ≥ 50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3578840" y="3584448"/>
            <a:ext cx="164592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3752576" y="3200400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Trusted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06856" y="402336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score ≥ 85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502152" y="4389120"/>
            <a:ext cx="0" cy="228600"/>
          </a:xfrm>
          <a:prstGeom prst="line">
            <a:avLst/>
          </a:prstGeom>
          <a:ln w="15875">
            <a:solidFill>
              <a:srgbClr val="C241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349240" y="4389120"/>
            <a:ext cx="0" cy="228600"/>
          </a:xfrm>
          <a:prstGeom prst="line">
            <a:avLst/>
          </a:prstGeom>
          <a:ln w="15875">
            <a:solidFill>
              <a:srgbClr val="C241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196328" y="4389120"/>
            <a:ext cx="0" cy="228600"/>
          </a:xfrm>
          <a:prstGeom prst="line">
            <a:avLst/>
          </a:prstGeom>
          <a:ln w="15875">
            <a:solidFill>
              <a:srgbClr val="C241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043416" y="4389120"/>
            <a:ext cx="0" cy="228600"/>
          </a:xfrm>
          <a:prstGeom prst="line">
            <a:avLst/>
          </a:prstGeom>
          <a:ln w="15875">
            <a:solidFill>
              <a:srgbClr val="C241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890504" y="4389120"/>
            <a:ext cx="0" cy="228600"/>
          </a:xfrm>
          <a:prstGeom prst="line">
            <a:avLst/>
          </a:prstGeom>
          <a:ln w="15875">
            <a:solidFill>
              <a:srgbClr val="C241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2737592" y="4389120"/>
            <a:ext cx="0" cy="228600"/>
          </a:xfrm>
          <a:prstGeom prst="line">
            <a:avLst/>
          </a:prstGeom>
          <a:ln w="15875">
            <a:solidFill>
              <a:srgbClr val="C241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55064" y="4617720"/>
            <a:ext cx="11082528" cy="0"/>
          </a:xfrm>
          <a:prstGeom prst="line">
            <a:avLst/>
          </a:prstGeom>
          <a:ln w="19050">
            <a:solidFill>
              <a:srgbClr val="C241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655064" y="4014216"/>
            <a:ext cx="0" cy="603504"/>
          </a:xfrm>
          <a:prstGeom prst="line">
            <a:avLst/>
          </a:prstGeom>
          <a:ln w="19050">
            <a:solidFill>
              <a:srgbClr val="C2410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103120" y="4663440"/>
            <a:ext cx="13533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any failure → QUARANTINED: </a:t>
            </a: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an authenticated fault, the 15-min verification deadline, the 2-h ramp deadline, revocation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525780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Digital twin: </a:t>
            </a:r>
            <a:r>
              <a:rPr sz="17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expected (operator) vs reported (authenticated)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6692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Field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56692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Expected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0" y="56692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Reported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89520" y="566928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Verdict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05840" y="6080760"/>
            <a:ext cx="818388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005840" y="61264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Firmware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08960" y="61264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agent-0.1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0" y="61264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agent-0.1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612648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MATCH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05840" y="6675120"/>
            <a:ext cx="818388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841248" y="6729984"/>
            <a:ext cx="73152" cy="438912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5840" y="66751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Configuration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08960" y="66751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cfg-good-1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0" y="66751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cfg-tampered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89520" y="667512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MISMATCH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05840" y="7223760"/>
            <a:ext cx="818388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005840" y="722376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Capabilities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08960" y="7223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tamper, temp, vib.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0" y="722376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same three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722376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MATCH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005840" y="7772400"/>
            <a:ext cx="818388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005840" y="77724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Temperature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08960" y="77724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−20 to 60 °C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0" y="77724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27.4 °C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89520" y="777240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MATCH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05840" y="8321040"/>
            <a:ext cx="818388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841248" y="8375904"/>
            <a:ext cx="73152" cy="438912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05840" y="832104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Tamper state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08960" y="83210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closed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0" y="832104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open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89520" y="8321040"/>
            <a:ext cx="141732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MISMATCH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1005840" y="8869680"/>
            <a:ext cx="818388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829800" y="5257800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Quarantine at the gateway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298680" y="56875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Normal channel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990320" y="56875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Recovery channel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9800" y="612648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TRUSTED, SUSPICIOUS,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RECOVERED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2298680" y="6181344"/>
            <a:ext cx="16002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allowed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990320" y="6181344"/>
            <a:ext cx="1600200" cy="576072"/>
          </a:xfrm>
          <a:prstGeom prst="rect">
            <a:avLst/>
          </a:prstGeom>
          <a:solidFill>
            <a:srgbClr val="F6F6F6"/>
          </a:solidFill>
          <a:ln w="12700">
            <a:solidFill>
              <a:srgbClr val="F6F6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not open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29800" y="6839712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QUARANTINED,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RECOVERING, VERIFIED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2298680" y="6894576"/>
            <a:ext cx="1600200" cy="576072"/>
          </a:xfrm>
          <a:prstGeom prst="rect">
            <a:avLst/>
          </a:prstGeom>
          <a:solidFill>
            <a:srgbClr val="FF914D"/>
          </a:solidFill>
          <a:ln w="1270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403 blocked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990320" y="6894576"/>
            <a:ext cx="16002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allowed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29800" y="7552944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Forged message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2298680" y="7607808"/>
            <a:ext cx="1600200" cy="57607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401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990320" y="7607808"/>
            <a:ext cx="1600200" cy="57607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401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29800" y="8321040"/>
            <a:ext cx="58064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Enforced after authentication: forged traffic can neither trigger quarantine nor bypass it.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8 /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1" id="11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294" r="1" b="-85995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0" name="TextBox 19"/>
          <p:cNvSpPr txBox="1"/>
          <p:nvPr/>
        </p:nvSpPr>
        <p:spPr>
          <a:xfrm>
            <a:off x="822960" y="181051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4. Technical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084832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Technology stack and implementation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761488"/>
            <a:ext cx="14813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1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Each technology with the role it plays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3246120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50976" y="3310128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352044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Cryptography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995928"/>
            <a:ext cx="3429000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4087368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pqcrypto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ML-KEM-768, ML-DSA-65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cryptography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AES-256-GCM, HKDF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hashlib, hmac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SHA-256 chain, HMAC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52044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AI / vision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53712" y="3995928"/>
            <a:ext cx="3429000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53712" y="4087368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OpenCV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camera capture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YOLO11n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object detection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NumPy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camera-health checks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4464" y="352044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Backend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84464" y="3995928"/>
            <a:ext cx="3429000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84464" y="4087368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FastAPI, uvicorn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gateway API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Pydantic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strict schemas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Trust engine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pure Python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15216" y="3520440"/>
            <a:ext cx="362102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Frontend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015216" y="3995928"/>
            <a:ext cx="348386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2015216" y="4087368"/>
            <a:ext cx="3529584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ES modules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dashboard, no build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Presentation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one-screen live 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53212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Database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2960" y="6007608"/>
            <a:ext cx="4663440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2960" y="6099048"/>
            <a:ext cx="470916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SQLite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events, observations, twin, evidence chain, trust 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553212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Deployment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06440" y="6007608"/>
            <a:ext cx="4663440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806440" y="6099048"/>
            <a:ext cx="470916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Laptop gateway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optional TLS, named operators, roles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5532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2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Hardware (planned)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0789920" y="6007608"/>
            <a:ext cx="4709160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789920" y="6099048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ESP32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firmware skeleton, not compiled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BME280, MPU6050, reed switch</a:t>
            </a: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  sensors, tamper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74523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Implementation plan: built and tested in 17 phases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7882128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Phases 0-3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protocol, PQC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044952" y="8257032"/>
            <a:ext cx="310896" cy="0"/>
          </a:xfrm>
          <a:prstGeom prst="line">
            <a:avLst/>
          </a:prstGeom>
          <a:ln w="22225">
            <a:solidFill>
              <a:srgbClr val="FF9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3383280" y="7882128"/>
            <a:ext cx="2011680" cy="749808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Phase 4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trust engine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422392" y="8257032"/>
            <a:ext cx="310896" cy="0"/>
          </a:xfrm>
          <a:prstGeom prst="line">
            <a:avLst/>
          </a:prstGeom>
          <a:ln w="22225">
            <a:solidFill>
              <a:srgbClr val="FF9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760720" y="7882128"/>
            <a:ext cx="4937760" cy="749808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Phases 5-11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attacks, quarantine, recovery, twin, evidence, demo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725912" y="8257032"/>
            <a:ext cx="310896" cy="0"/>
          </a:xfrm>
          <a:prstGeom prst="line">
            <a:avLst/>
          </a:prstGeom>
          <a:ln w="22225">
            <a:solidFill>
              <a:srgbClr val="FF9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11064240" y="7882128"/>
            <a:ext cx="4572000" cy="749808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Phases 12-17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operators, UI, hardening, camera boundary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9 / 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1" id="11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294" r="1" b="-85995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0" name="TextBox 19"/>
          <p:cNvSpPr txBox="1"/>
          <p:nvPr/>
        </p:nvSpPr>
        <p:spPr>
          <a:xfrm>
            <a:off x="822960" y="1874520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5. Feasibility &amp; Innovation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578608"/>
            <a:ext cx="14813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1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Technical feasibility and performance: what is real, what is not yet, what was measured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3063240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50976" y="3127248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340156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FF914D"/>
          </a:solidFill>
          <a:ln w="1587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Real and tested</a:t>
            </a:r>
          </a:p>
        </p:txBody>
      </p:sp>
      <p:sp>
        <p:nvSpPr>
          <p:cNvPr id="25" name="Oval 24"/>
          <p:cNvSpPr/>
          <p:nvPr/>
        </p:nvSpPr>
        <p:spPr>
          <a:xfrm>
            <a:off x="859536" y="3968496"/>
            <a:ext cx="146304" cy="146304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0432" y="38404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ML-KEM-768, ML-DSA-65, AES-256-GCM, HKDF</a:t>
            </a:r>
          </a:p>
        </p:txBody>
      </p:sp>
      <p:sp>
        <p:nvSpPr>
          <p:cNvPr id="27" name="Oval 26"/>
          <p:cNvSpPr/>
          <p:nvPr/>
        </p:nvSpPr>
        <p:spPr>
          <a:xfrm>
            <a:off x="859536" y="4398264"/>
            <a:ext cx="146304" cy="146304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0432" y="4270248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SHA-256 linked, signed evidence chain</a:t>
            </a:r>
          </a:p>
        </p:txBody>
      </p:sp>
      <p:sp>
        <p:nvSpPr>
          <p:cNvPr id="29" name="Oval 28"/>
          <p:cNvSpPr/>
          <p:nvPr/>
        </p:nvSpPr>
        <p:spPr>
          <a:xfrm>
            <a:off x="859536" y="4828032"/>
            <a:ext cx="146304" cy="146304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700016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YOLO11n vision on a real USB webcam</a:t>
            </a:r>
          </a:p>
        </p:txBody>
      </p:sp>
      <p:sp>
        <p:nvSpPr>
          <p:cNvPr id="31" name="Oval 30"/>
          <p:cNvSpPr/>
          <p:nvPr/>
        </p:nvSpPr>
        <p:spPr>
          <a:xfrm>
            <a:off x="859536" y="5257800"/>
            <a:ext cx="146304" cy="146304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70432" y="5129784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trust, quarantine and recovery engines</a:t>
            </a:r>
          </a:p>
        </p:txBody>
      </p:sp>
      <p:sp>
        <p:nvSpPr>
          <p:cNvPr id="33" name="Oval 32"/>
          <p:cNvSpPr/>
          <p:nvPr/>
        </p:nvSpPr>
        <p:spPr>
          <a:xfrm>
            <a:off x="859536" y="5687568"/>
            <a:ext cx="146304" cy="146304"/>
          </a:xfrm>
          <a:prstGeom prst="ellipse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5559552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digital twin, dashboard, camera preview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614476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Simulated or not yet</a:t>
            </a:r>
          </a:p>
        </p:txBody>
      </p:sp>
      <p:sp>
        <p:nvSpPr>
          <p:cNvPr id="36" name="Oval 35"/>
          <p:cNvSpPr/>
          <p:nvPr/>
        </p:nvSpPr>
        <p:spPr>
          <a:xfrm>
            <a:off x="859536" y="6711696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0432" y="65836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device telemetry: labelled software agent</a:t>
            </a:r>
          </a:p>
        </p:txBody>
      </p:sp>
      <p:sp>
        <p:nvSpPr>
          <p:cNvPr id="38" name="Oval 37"/>
          <p:cNvSpPr/>
          <p:nvPr/>
        </p:nvSpPr>
        <p:spPr>
          <a:xfrm>
            <a:off x="859536" y="7141464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70432" y="7013448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ESP32 never compiled; no physical sensors</a:t>
            </a:r>
          </a:p>
        </p:txBody>
      </p:sp>
      <p:sp>
        <p:nvSpPr>
          <p:cNvPr id="40" name="Oval 39"/>
          <p:cNvSpPr/>
          <p:nvPr/>
        </p:nvSpPr>
        <p:spPr>
          <a:xfrm>
            <a:off x="859536" y="75712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70432" y="7443216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no attestation; camera thresholds unvalidated</a:t>
            </a:r>
          </a:p>
        </p:txBody>
      </p:sp>
      <p:sp>
        <p:nvSpPr>
          <p:cNvPr id="42" name="Oval 41"/>
          <p:cNvSpPr/>
          <p:nvPr/>
        </p:nvSpPr>
        <p:spPr>
          <a:xfrm>
            <a:off x="859536" y="8001000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0432" y="7872984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single gateway (SQLite); chain not anchored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338328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Post-quantum operations, median ms (laptop CPU)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38404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ML-KEM-768 keygen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384280" y="3931920"/>
            <a:ext cx="27432" cy="20116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84864" y="3840480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0.06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42519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ML-KEM-768 encapsulate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384280" y="4343400"/>
            <a:ext cx="27432" cy="20116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84864" y="4251960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0.069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466344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ML-KEM-768 decapsulate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384280" y="4754880"/>
            <a:ext cx="28292" cy="20116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85724" y="4663440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0.091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507492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ML-DSA-65 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384280" y="5166360"/>
            <a:ext cx="58448" cy="20116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515880" y="5074920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0.188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54864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ML-DSA-65 sign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384280" y="5577840"/>
            <a:ext cx="2928640" cy="20116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386072" y="5486400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9.42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58978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Full session handshake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384280" y="5989320"/>
            <a:ext cx="3108960" cy="201168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4566392" y="5897880"/>
            <a:ext cx="9144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384280" y="3794760"/>
            <a:ext cx="0" cy="25146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321040" y="6327648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Key exchange is about 100x cheaper than signing; nothing measured on an ESP32.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6903720"/>
            <a:ext cx="175564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30768" y="696772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3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30768" y="7726680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Python tests
passing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49840" y="6903720"/>
            <a:ext cx="175564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59568" y="696772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3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7726680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JavaScript tests
passing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978640" y="6903720"/>
            <a:ext cx="175564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088368" y="696772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3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70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088368" y="7726680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NIST ACVP
vectors agree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3807440" y="6903720"/>
            <a:ext cx="175564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917168" y="696772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3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53 µs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917168" y="7726680"/>
            <a:ext cx="16002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per trust-engine
update (mean)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10 / 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1" id="11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294" r="1" b="-85995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9857003" y="9407052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0" name="TextBox 19"/>
          <p:cNvSpPr txBox="1"/>
          <p:nvPr/>
        </p:nvSpPr>
        <p:spPr>
          <a:xfrm>
            <a:off x="822960" y="181051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600" b="0" i="0">
                <a:solidFill>
                  <a:srgbClr val="C2410C"/>
                </a:solidFill>
                <a:latin typeface="Segoe UI Semibold"/>
                <a:ea typeface="Segoe UI Semibold"/>
                <a:cs typeface="Segoe UI Semibold"/>
              </a:rPr>
              <a:t>5. Feasibility &amp; Innovation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084832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Innovation / USP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761488"/>
            <a:ext cx="14813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1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What one-time authentication cannot do, and how it holds up under abuse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3246120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50976" y="3310128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97280" y="3794760"/>
            <a:ext cx="0" cy="4023360"/>
          </a:xfrm>
          <a:prstGeom prst="line">
            <a:avLst/>
          </a:prstGeom>
          <a:ln w="25400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50976" y="3648456"/>
            <a:ext cx="292608" cy="2926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08760" y="3520440"/>
            <a:ext cx="640080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Continuous, explainable trust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every change lists the reasons that sum to it</a:t>
            </a:r>
          </a:p>
        </p:txBody>
      </p:sp>
      <p:sp>
        <p:nvSpPr>
          <p:cNvPr id="28" name="Oval 27"/>
          <p:cNvSpPr/>
          <p:nvPr/>
        </p:nvSpPr>
        <p:spPr>
          <a:xfrm>
            <a:off x="950976" y="4654296"/>
            <a:ext cx="292608" cy="2926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08760" y="4526280"/>
            <a:ext cx="640080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Authenticity is not trust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signatures decide what counts; they never add points</a:t>
            </a:r>
          </a:p>
        </p:txBody>
      </p:sp>
      <p:sp>
        <p:nvSpPr>
          <p:cNvPr id="30" name="Oval 29"/>
          <p:cNvSpPr/>
          <p:nvPr/>
        </p:nvSpPr>
        <p:spPr>
          <a:xfrm>
            <a:off x="950976" y="5660136"/>
            <a:ext cx="292608" cy="292608"/>
          </a:xfrm>
          <a:prstGeom prst="ellipse">
            <a:avLst/>
          </a:prstGeom>
          <a:solidFill>
            <a:srgbClr val="FF914D"/>
          </a:solidFill>
          <a:ln w="2540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08760" y="5532120"/>
            <a:ext cx="640080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Camera as a security boundary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covered, frozen or turned is signed evidence</a:t>
            </a:r>
          </a:p>
        </p:txBody>
      </p:sp>
      <p:sp>
        <p:nvSpPr>
          <p:cNvPr id="32" name="Oval 31"/>
          <p:cNvSpPr/>
          <p:nvPr/>
        </p:nvSpPr>
        <p:spPr>
          <a:xfrm>
            <a:off x="950976" y="6665976"/>
            <a:ext cx="292608" cy="292608"/>
          </a:xfrm>
          <a:prstGeom prst="ellipse">
            <a:avLst/>
          </a:prstGeom>
          <a:solidFill>
            <a:srgbClr val="FF914D"/>
          </a:solidFill>
          <a:ln w="2540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8760" y="6537960"/>
            <a:ext cx="640080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Bounded griefing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forged traffic is capped at 25 points: never quarantine</a:t>
            </a:r>
          </a:p>
        </p:txBody>
      </p:sp>
      <p:sp>
        <p:nvSpPr>
          <p:cNvPr id="34" name="Oval 33"/>
          <p:cNvSpPr/>
          <p:nvPr/>
        </p:nvSpPr>
        <p:spPr>
          <a:xfrm>
            <a:off x="950976" y="7671816"/>
            <a:ext cx="292608" cy="2926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08760" y="7543800"/>
            <a:ext cx="640080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Earned recovery, signed evidence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post-quantum signatures on every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47472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Attack (tested)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52960" y="34747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 Semibold"/>
                <a:ea typeface="Segoe UI Semibold"/>
                <a:cs typeface="Segoe UI Semibold"/>
              </a:rPr>
              <a:t>Result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503920" y="3886200"/>
            <a:ext cx="713232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503920" y="3931920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Replayed handshake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252960" y="3931920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one-use nonce: one session only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503920" y="4590288"/>
            <a:ext cx="713232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503920" y="4590288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Replayed or reordered message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52960" y="459028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strict counters: rejected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503920" y="5248656"/>
            <a:ext cx="713232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339328" y="5303520"/>
            <a:ext cx="73152" cy="548640"/>
          </a:xfrm>
          <a:prstGeom prst="rect">
            <a:avLst/>
          </a:prstGeom>
          <a:solidFill>
            <a:srgbClr val="FF9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5248656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Rejection flood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0" y="5248656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300 forged → 8 rows; trust unchanged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503920" y="5907024"/>
            <a:ext cx="713232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503920" y="5907024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Persistent refusals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252960" y="5907024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30 refusals → 1 session (was 30)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503920" y="6565392"/>
            <a:ext cx="713232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503920" y="6565392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Session exhaustion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52960" y="656539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cap 64; 20 handshakes/h; backoff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503920" y="7223760"/>
            <a:ext cx="713232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503920" y="7223760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Forged 'all clear' in quarantine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252960" y="7223760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401; stays QUARANTINED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503920" y="7882128"/>
            <a:ext cx="7132320" cy="0"/>
          </a:xfrm>
          <a:prstGeom prst="line">
            <a:avLst/>
          </a:prstGeom>
          <a:ln w="9525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22960" y="8641080"/>
            <a:ext cx="14813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The novelty is the loop, not one algorithm. A prior-art survey has not been done: we claim an integration of standard mechanisms.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11 / 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350872" y="9397527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7" y="0"/>
                </a:lnTo>
                <a:lnTo>
                  <a:pt x="14979357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273265" y="1130884"/>
            <a:ext cx="6870735" cy="543077"/>
            <a:chOff x="0" y="0"/>
            <a:chExt cx="9160980" cy="724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0"/>
                  </a:moveTo>
                  <a:lnTo>
                    <a:pt x="9161018" y="0"/>
                  </a:lnTo>
                  <a:lnTo>
                    <a:pt x="9161018" y="724154"/>
                  </a:lnTo>
                  <a:lnTo>
                    <a:pt x="0" y="724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5" id="5"/>
          <p:cNvGrpSpPr/>
          <p:nvPr/>
        </p:nvGrpSpPr>
        <p:grpSpPr>
          <a:xfrm rot="-10800000">
            <a:off x="9124950" y="1130884"/>
            <a:ext cx="6870735" cy="543077"/>
            <a:chOff x="0" y="0"/>
            <a:chExt cx="9160980" cy="724103"/>
          </a:xfrm>
        </p:grpSpPr>
        <p:sp>
          <p:nvSpPr>
            <p:cNvPr name="Freeform 6" id="6"/>
            <p:cNvSpPr/>
            <p:nvPr/>
          </p:nvSpPr>
          <p:spPr>
            <a:xfrm flipH="false" flipV="true" rot="0">
              <a:off x="0" y="0"/>
              <a:ext cx="9161018" cy="724154"/>
            </a:xfrm>
            <a:custGeom>
              <a:avLst/>
              <a:gdLst/>
              <a:ahLst/>
              <a:cxnLst/>
              <a:rect r="r" b="b" t="t" l="l"/>
              <a:pathLst>
                <a:path h="724154" w="9161018">
                  <a:moveTo>
                    <a:pt x="0" y="724154"/>
                  </a:moveTo>
                  <a:lnTo>
                    <a:pt x="9161018" y="724154"/>
                  </a:lnTo>
                  <a:lnTo>
                    <a:pt x="9161018" y="0"/>
                  </a:lnTo>
                  <a:lnTo>
                    <a:pt x="0" y="0"/>
                  </a:lnTo>
                  <a:lnTo>
                    <a:pt x="0" y="724154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-32871" y="1130884"/>
            <a:ext cx="3068079" cy="503739"/>
            <a:chOff x="0" y="0"/>
            <a:chExt cx="4090772" cy="671652"/>
          </a:xfrm>
        </p:grpSpPr>
        <p:sp>
          <p:nvSpPr>
            <p:cNvPr name="Freeform 8" id="8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sp>
        <p:nvSpPr>
          <p:cNvPr name="Freeform 9" id="9"/>
          <p:cNvSpPr/>
          <p:nvPr/>
        </p:nvSpPr>
        <p:spPr>
          <a:xfrm flipH="false" flipV="false" rot="-5400000">
            <a:off x="12120564" y="5052657"/>
            <a:ext cx="10084834" cy="2269088"/>
          </a:xfrm>
          <a:custGeom>
            <a:avLst/>
            <a:gdLst/>
            <a:ahLst/>
            <a:cxnLst/>
            <a:rect r="r" b="b" t="t" l="l"/>
            <a:pathLst>
              <a:path h="2269088" w="10084834">
                <a:moveTo>
                  <a:pt x="0" y="0"/>
                </a:moveTo>
                <a:lnTo>
                  <a:pt x="10084834" y="0"/>
                </a:lnTo>
                <a:lnTo>
                  <a:pt x="10084834" y="2269088"/>
                </a:lnTo>
                <a:lnTo>
                  <a:pt x="0" y="2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-10800000">
            <a:off x="15248496" y="1130884"/>
            <a:ext cx="3068079" cy="503739"/>
            <a:chOff x="0" y="0"/>
            <a:chExt cx="4090772" cy="671652"/>
          </a:xfrm>
        </p:grpSpPr>
        <p:sp>
          <p:nvSpPr>
            <p:cNvPr name="Freeform 11" id="11"/>
            <p:cNvSpPr/>
            <p:nvPr/>
          </p:nvSpPr>
          <p:spPr>
            <a:xfrm flipH="false" flipV="true" rot="0">
              <a:off x="0" y="0"/>
              <a:ext cx="4090797" cy="671703"/>
            </a:xfrm>
            <a:custGeom>
              <a:avLst/>
              <a:gdLst/>
              <a:ahLst/>
              <a:cxnLst/>
              <a:rect r="r" b="b" t="t" l="l"/>
              <a:pathLst>
                <a:path h="671703" w="4090797">
                  <a:moveTo>
                    <a:pt x="0" y="671703"/>
                  </a:moveTo>
                  <a:lnTo>
                    <a:pt x="4090797" y="671703"/>
                  </a:lnTo>
                  <a:lnTo>
                    <a:pt x="4090797" y="0"/>
                  </a:lnTo>
                  <a:lnTo>
                    <a:pt x="0" y="0"/>
                  </a:lnTo>
                  <a:lnTo>
                    <a:pt x="0" y="671703"/>
                  </a:lnTo>
                  <a:close/>
                </a:path>
              </a:pathLst>
            </a:custGeom>
            <a:solidFill>
              <a:srgbClr val="FF914D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688825" y="96222"/>
            <a:ext cx="2423739" cy="924096"/>
            <a:chOff x="0" y="0"/>
            <a:chExt cx="2307438" cy="87975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07463" cy="879729"/>
            </a:xfrm>
            <a:custGeom>
              <a:avLst/>
              <a:gdLst/>
              <a:ahLst/>
              <a:cxnLst/>
              <a:rect r="r" b="b" t="t" l="l"/>
              <a:pathLst>
                <a:path h="879729" w="2307463">
                  <a:moveTo>
                    <a:pt x="0" y="0"/>
                  </a:moveTo>
                  <a:lnTo>
                    <a:pt x="2307463" y="0"/>
                  </a:lnTo>
                  <a:lnTo>
                    <a:pt x="2307463" y="879729"/>
                  </a:lnTo>
                  <a:lnTo>
                    <a:pt x="0" y="8797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76294" r="1" b="-85995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9857003" y="9404671"/>
            <a:ext cx="14979358" cy="908523"/>
          </a:xfrm>
          <a:custGeom>
            <a:avLst/>
            <a:gdLst/>
            <a:ahLst/>
            <a:cxnLst/>
            <a:rect r="r" b="b" t="t" l="l"/>
            <a:pathLst>
              <a:path h="908523" w="14979358">
                <a:moveTo>
                  <a:pt x="0" y="0"/>
                </a:moveTo>
                <a:lnTo>
                  <a:pt x="14979358" y="0"/>
                </a:lnTo>
                <a:lnTo>
                  <a:pt x="14979358" y="908523"/>
                </a:lnTo>
                <a:lnTo>
                  <a:pt x="0" y="9085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52268" y="89049"/>
            <a:ext cx="2497801" cy="1034663"/>
          </a:xfrm>
          <a:custGeom>
            <a:avLst/>
            <a:gdLst/>
            <a:ahLst/>
            <a:cxnLst/>
            <a:rect r="r" b="b" t="t" l="l"/>
            <a:pathLst>
              <a:path h="1034663" w="2497801">
                <a:moveTo>
                  <a:pt x="0" y="0"/>
                </a:moveTo>
                <a:lnTo>
                  <a:pt x="2497801" y="0"/>
                </a:lnTo>
                <a:lnTo>
                  <a:pt x="2497801" y="1034663"/>
                </a:lnTo>
                <a:lnTo>
                  <a:pt x="0" y="1034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988" t="-27243" r="-4375" b="-52819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236411" y="74654"/>
            <a:ext cx="5815177" cy="987762"/>
          </a:xfrm>
          <a:custGeom>
            <a:avLst/>
            <a:gdLst/>
            <a:ahLst/>
            <a:cxnLst/>
            <a:rect r="r" b="b" t="t" l="l"/>
            <a:pathLst>
              <a:path h="987762" w="5815177">
                <a:moveTo>
                  <a:pt x="0" y="0"/>
                </a:moveTo>
                <a:lnTo>
                  <a:pt x="5815178" y="0"/>
                </a:lnTo>
                <a:lnTo>
                  <a:pt x="5815178" y="987762"/>
                </a:lnTo>
                <a:lnTo>
                  <a:pt x="0" y="987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1062" t="-153011" r="-9149" b="-154810"/>
            </a:stretch>
          </a:blipFill>
        </p:spPr>
      </p:sp>
      <p:sp>
        <p:nvSpPr>
          <p:cNvPr id="21" name="TextBox 20"/>
          <p:cNvSpPr txBox="1"/>
          <p:nvPr/>
        </p:nvSpPr>
        <p:spPr>
          <a:xfrm>
            <a:off x="822960" y="1874520"/>
            <a:ext cx="14813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 i="0">
                <a:solidFill>
                  <a:srgbClr val="000000"/>
                </a:solidFill>
                <a:latin typeface="Bahnschrift SemiBold"/>
                <a:ea typeface="Bahnschrift SemiBold"/>
                <a:cs typeface="Bahnschrift SemiBold"/>
              </a:rPr>
              <a:t>6. Expected 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78608"/>
            <a:ext cx="148132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1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Expected results: the live demo, end to end, and what comes next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3063240"/>
            <a:ext cx="128016" cy="1280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50976" y="3127248"/>
            <a:ext cx="1335024" cy="0"/>
          </a:xfrm>
          <a:prstGeom prst="line">
            <a:avLst/>
          </a:prstGeom>
          <a:ln w="22225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22960" y="3429000"/>
            <a:ext cx="3108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Forged observation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77640" y="3712464"/>
            <a:ext cx="457200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480560" y="34290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REJECTED  401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114800"/>
            <a:ext cx="3108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Replayed observation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77640" y="4398264"/>
            <a:ext cx="457200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480560" y="41148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REJECTED  409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892040"/>
            <a:ext cx="310896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Physical tamper</a:t>
            </a:r>
          </a:p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HMAC report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623560"/>
            <a:ext cx="3108960" cy="621792"/>
          </a:xfrm>
          <a:prstGeom prst="roundRect">
            <a:avLst>
              <a:gd name="adj" fmla="val 12000"/>
            </a:avLst>
          </a:prstGeom>
          <a:solidFill>
            <a:srgbClr val="FFE9DB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Visual evidence</a:t>
            </a:r>
          </a:p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ML-DSA-65 signed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77640" y="5202936"/>
            <a:ext cx="246888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224528" y="5202936"/>
            <a:ext cx="0" cy="34747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977640" y="5934456"/>
            <a:ext cx="246888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224528" y="5550408"/>
            <a:ext cx="0" cy="384048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224528" y="5550408"/>
            <a:ext cx="210312" cy="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480560" y="5230368"/>
            <a:ext cx="28346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Correlation</a:t>
            </a:r>
          </a:p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within 60 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97880" y="5888736"/>
            <a:ext cx="0" cy="228600"/>
          </a:xfrm>
          <a:prstGeom prst="line">
            <a:avLst/>
          </a:prstGeom>
          <a:ln w="2222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480560" y="6144768"/>
            <a:ext cx="2834640" cy="640080"/>
          </a:xfrm>
          <a:prstGeom prst="roundRect">
            <a:avLst>
              <a:gd name="adj" fmla="val 12000"/>
            </a:avLst>
          </a:prstGeom>
          <a:solidFill>
            <a:srgbClr val="FF914D"/>
          </a:solidFill>
          <a:ln w="19050">
            <a:solidFill>
              <a:srgbClr val="FF9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QUARANTINE</a:t>
            </a:r>
          </a:p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score 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685800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Attacks are simulated and labelled; the webcam detections are real.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0" y="5006340"/>
            <a:ext cx="6675120" cy="14859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78240" y="4114800"/>
            <a:ext cx="6675120" cy="891540"/>
          </a:xfrm>
          <a:prstGeom prst="rect">
            <a:avLst/>
          </a:prstGeom>
          <a:solidFill>
            <a:srgbClr val="F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632764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84174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395020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Consolas"/>
                <a:ea typeface="Consolas"/>
                <a:cs typeface="Consolas"/>
              </a:rPr>
              <a:t>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51392" y="50337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quarantine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51392" y="414223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C2410C"/>
                </a:solidFill>
                <a:latin typeface="Segoe UI"/>
                <a:ea typeface="Segoe UI"/>
                <a:cs typeface="Segoe UI"/>
              </a:rPr>
              <a:t>suspicious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778240" y="3520440"/>
            <a:ext cx="953589" cy="297180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731829" y="3817620"/>
            <a:ext cx="953588" cy="297180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685417" y="4114800"/>
            <a:ext cx="953589" cy="237744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639006" y="4352544"/>
            <a:ext cx="953588" cy="1248156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592594" y="5600700"/>
            <a:ext cx="953589" cy="0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3546183" y="4114800"/>
            <a:ext cx="953588" cy="1485900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4499771" y="3966210"/>
            <a:ext cx="953589" cy="148590"/>
          </a:xfrm>
          <a:prstGeom prst="line">
            <a:avLst/>
          </a:prstGeom>
          <a:ln w="285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677656" y="341985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306324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80" y="654710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join</a:t>
            </a:r>
          </a:p>
        </p:txBody>
      </p:sp>
      <p:sp>
        <p:nvSpPr>
          <p:cNvPr id="59" name="Oval 58"/>
          <p:cNvSpPr/>
          <p:nvPr/>
        </p:nvSpPr>
        <p:spPr>
          <a:xfrm>
            <a:off x="9631245" y="371703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74629" y="33604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90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37469" y="654710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webcam</a:t>
            </a:r>
          </a:p>
        </p:txBody>
      </p:sp>
      <p:sp>
        <p:nvSpPr>
          <p:cNvPr id="62" name="Oval 61"/>
          <p:cNvSpPr/>
          <p:nvPr/>
        </p:nvSpPr>
        <p:spPr>
          <a:xfrm>
            <a:off x="10584833" y="401421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28217" y="365760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91057" y="654710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forged</a:t>
            </a:r>
          </a:p>
        </p:txBody>
      </p:sp>
      <p:sp>
        <p:nvSpPr>
          <p:cNvPr id="65" name="Oval 64"/>
          <p:cNvSpPr/>
          <p:nvPr/>
        </p:nvSpPr>
        <p:spPr>
          <a:xfrm>
            <a:off x="11538422" y="4251960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181806" y="3895344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44646" y="654710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replay</a:t>
            </a:r>
          </a:p>
        </p:txBody>
      </p:sp>
      <p:sp>
        <p:nvSpPr>
          <p:cNvPr id="68" name="Oval 67"/>
          <p:cNvSpPr/>
          <p:nvPr/>
        </p:nvSpPr>
        <p:spPr>
          <a:xfrm>
            <a:off x="12492010" y="5500116"/>
            <a:ext cx="201168" cy="201168"/>
          </a:xfrm>
          <a:prstGeom prst="ellipse">
            <a:avLst/>
          </a:prstGeom>
          <a:solidFill>
            <a:srgbClr val="FF914D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135394" y="5710428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998234" y="654710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tamper</a:t>
            </a:r>
          </a:p>
        </p:txBody>
      </p:sp>
      <p:sp>
        <p:nvSpPr>
          <p:cNvPr id="71" name="Oval 70"/>
          <p:cNvSpPr/>
          <p:nvPr/>
        </p:nvSpPr>
        <p:spPr>
          <a:xfrm>
            <a:off x="13445599" y="5500116"/>
            <a:ext cx="201168" cy="201168"/>
          </a:xfrm>
          <a:prstGeom prst="ellipse">
            <a:avLst/>
          </a:prstGeom>
          <a:solidFill>
            <a:srgbClr val="FF914D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088983" y="5710428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951823" y="654710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verified</a:t>
            </a:r>
          </a:p>
        </p:txBody>
      </p:sp>
      <p:sp>
        <p:nvSpPr>
          <p:cNvPr id="74" name="Oval 73"/>
          <p:cNvSpPr/>
          <p:nvPr/>
        </p:nvSpPr>
        <p:spPr>
          <a:xfrm>
            <a:off x="14399187" y="401421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042571" y="365760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80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905411" y="654710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recovered</a:t>
            </a:r>
          </a:p>
        </p:txBody>
      </p:sp>
      <p:sp>
        <p:nvSpPr>
          <p:cNvPr id="77" name="Oval 76"/>
          <p:cNvSpPr/>
          <p:nvPr/>
        </p:nvSpPr>
        <p:spPr>
          <a:xfrm>
            <a:off x="15352776" y="386562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4996160" y="350901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59000" y="6547104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trusted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20" y="6876288"/>
            <a:ext cx="72237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  <a:ea typeface="Segoe UI"/>
                <a:cs typeface="Segoe UI"/>
              </a:rPr>
              <a:t>Live run on the USB webcam, 2026-10-02; recovery in announced time-lapse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22960" y="7360920"/>
            <a:ext cx="14813280" cy="0"/>
          </a:xfrm>
          <a:prstGeom prst="line">
            <a:avLst/>
          </a:prstGeom>
          <a:ln w="25400">
            <a:solidFill>
              <a:srgbClr val="FF9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822960" y="7452360"/>
            <a:ext cx="722376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Future scope, with hardware</a:t>
            </a:r>
          </a:p>
          <a:p>
            <a:pPr algn="l" marL="292608" indent="-292608">
              <a:lnSpc>
                <a:spcPct val="108000"/>
              </a:lnSpc>
              <a:spcAft>
                <a:spcPts val="100"/>
              </a:spcAft>
              <a:buClr>
                <a:srgbClr val="FF914D"/>
              </a:buClr>
              <a:buSzPct val="70000"/>
              <a:buFont typeface="Arial"/>
              <a:buChar char="■"/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compile and flash the ESP32; match the 7 test vectors</a:t>
            </a:r>
          </a:p>
          <a:p>
            <a:pPr algn="l" marL="292608" indent="-292608">
              <a:lnSpc>
                <a:spcPct val="108000"/>
              </a:lnSpc>
              <a:spcAft>
                <a:spcPts val="100"/>
              </a:spcAft>
              <a:buClr>
                <a:srgbClr val="FF914D"/>
              </a:buClr>
              <a:buSzPct val="70000"/>
              <a:buFont typeface="Arial"/>
              <a:buChar char="■"/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reed switch, then BME280 and MPU6050</a:t>
            </a:r>
          </a:p>
          <a:p>
            <a:pPr algn="l" marL="292608" indent="-292608">
              <a:lnSpc>
                <a:spcPct val="108000"/>
              </a:lnSpc>
              <a:spcAft>
                <a:spcPts val="100"/>
              </a:spcAft>
              <a:buClr>
                <a:srgbClr val="FF914D"/>
              </a:buClr>
              <a:buSzPct val="70000"/>
              <a:buFont typeface="Arial"/>
              <a:buChar char="■"/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stage camera tests, calibrate; anchor the evidence head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7452360"/>
            <a:ext cx="722376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0" i="0">
                <a:solidFill>
                  <a:srgbClr val="1A1A1A"/>
                </a:solidFill>
                <a:latin typeface="Segoe UI Semibold"/>
                <a:ea typeface="Segoe UI Semibold"/>
                <a:cs typeface="Segoe UI Semibold"/>
              </a:rPr>
              <a:t>Real-world impact</a:t>
            </a:r>
          </a:p>
          <a:p>
            <a:pPr algn="l" marL="292608" indent="-292608">
              <a:lnSpc>
                <a:spcPct val="108000"/>
              </a:lnSpc>
              <a:spcAft>
                <a:spcPts val="100"/>
              </a:spcAft>
              <a:buClr>
                <a:srgbClr val="FF914D"/>
              </a:buClr>
              <a:buSzPct val="70000"/>
              <a:buFont typeface="Arial"/>
              <a:buChar char="■"/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labs, server rooms, critical sites: devices must keep earning trust</a:t>
            </a:r>
          </a:p>
          <a:p>
            <a:pPr algn="l" marL="292608" indent="-292608">
              <a:lnSpc>
                <a:spcPct val="108000"/>
              </a:lnSpc>
              <a:spcAft>
                <a:spcPts val="100"/>
              </a:spcAft>
              <a:buClr>
                <a:srgbClr val="FF914D"/>
              </a:buClr>
              <a:buSzPct val="70000"/>
              <a:buFont typeface="Arial"/>
              <a:buChar char="■"/>
            </a:pPr>
            <a:r>
              <a:rPr sz="1500" b="0" i="0">
                <a:solidFill>
                  <a:srgbClr val="1A1A1A"/>
                </a:solidFill>
                <a:latin typeface="Segoe UI"/>
                <a:ea typeface="Segoe UI"/>
                <a:cs typeface="Segoe UI"/>
              </a:rPr>
              <a:t>every incident arrives with a signed, explainable trail</a:t>
            </a:r>
          </a:p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100"/>
              </a:spcAft>
            </a:pPr>
            <a:r>
              <a:rPr sz="1800" b="0" i="0">
                <a:solidFill>
                  <a:srgbClr val="1A1A1A"/>
                </a:solidFill>
                <a:latin typeface="Bahnschrift SemiBold"/>
                <a:ea typeface="Bahnschrift SemiBold"/>
                <a:cs typeface="Bahnschrift SemiBold"/>
              </a:rPr>
              <a:t>Authenticate once. Verify continuously. Recover only with evidence.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" y="97475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 Semibold"/>
                <a:ea typeface="Segoe UI Semibold"/>
                <a:cs typeface="Segoe UI Semibold"/>
              </a:rPr>
              <a:t>Q-SHIELD</a:t>
            </a: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   continuous device trust with post-quantum-signed evidence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350240" y="97475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Segoe UI"/>
                <a:ea typeface="Segoe UI"/>
                <a:cs typeface="Segoe U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DAHUTjJQEdw</dc:identifier>
  <dcterms:modified xsi:type="dcterms:W3CDTF">2011-08-01T06:04:30Z</dcterms:modified>
  <cp:revision>1</cp:revision>
  <dc:title>Quant-A-Maze 3.O Hackathon</dc:title>
</cp:coreProperties>
</file>