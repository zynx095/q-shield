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14.svg" ContentType="image/svg+xml"/>
  <Override PartName="/ppt/media/image2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64" r:id="rId19"/>
    <p:sldId id="265" r:id="rId21"/>
    <p:sldId id="266" r:id="rId22"/>
    <p:sldId id="267" r:id="rId23"/>
    <p:sldId id="268" r:id="rId24"/>
    <p:sldId id="269" r:id="rId25"/>
    <p:sldId id="270" r:id="rId26"/>
    <p:sldId id="271" r:id="rId27"/>
    <p:sldId id="272" r:id="rId28"/>
    <p:sldId id="273" r:id="rId29"/>
    <p:sldId id="274" r:id="rId30"/>
    <p:sldId id="275" r:id="rId31"/>
    <p:sldId id="276" r:id="rId32"/>
    <p:sldId id="277" r:id="rId33"/>
    <p:sldId id="278" r:id="rId34"/>
    <p:sldId id="279" r:id="rId35"/>
    <p:sldId id="280" r:id="rId36"/>
    <p:sldId id="281" r:id="rId37"/>
    <p:sldId id="282" r:id="rId38"/>
    <p:sldId id="283" r:id="rId39"/>
    <p:sldId id="284" r:id="rId40"/>
    <p:sldId id="285" r:id="rId41"/>
    <p:sldId id="286" r:id="rId42"/>
    <p:sldId id="287" r:id="rId43"/>
  </p:sldIdLst>
  <p:sldSz cx="18288000" cy="10287000"/>
  <p:notesSz cx="6858000" cy="9144000"/>
  <p:embeddedFontLst>
    <p:embeddedFont>
      <p:font typeface="Times New Roman" charset="1" panose="02020603050405020304"/>
      <p:regular r:id="rId14"/>
    </p:embeddedFont>
    <p:embeddedFont>
      <p:font typeface="Times New Roman Bold" charset="1" panose="02020803070505020304"/>
      <p:regular r:id="rId15"/>
    </p:embeddedFont>
    <p:embeddedFont>
      <p:font typeface="Canva Sans" charset="1" panose="020B0503030501040103"/>
      <p:regular r:id="rId16"/>
    </p:embeddedFont>
    <p:embeddedFont>
      <p:font typeface="Canva Sans Italics" charset="1" panose="020B0503030501040103"/>
      <p:regular r:id="rId17"/>
    </p:embeddedFont>
    <p:embeddedFont>
      <p:font typeface="Canva Sans Bold" charset="1" panose="020B0803030501040103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viewProps" Target="viewProps.xml"/><Relationship Id="rId4" Type="http://schemas.openxmlformats.org/officeDocument/2006/relationships/theme" Target="theme/theme1.xml"/><Relationship Id="rId5" Type="http://schemas.openxmlformats.org/officeDocument/2006/relationships/tableStyles" Target="tableStyles.xml"/><Relationship Id="rId14" Type="http://schemas.openxmlformats.org/officeDocument/2006/relationships/font" Target="fonts/font14.fntdata"/><Relationship Id="rId15" Type="http://schemas.openxmlformats.org/officeDocument/2006/relationships/font" Target="fonts/font15.fntdata"/><Relationship Id="rId16" Type="http://schemas.openxmlformats.org/officeDocument/2006/relationships/font" Target="fonts/font16.fntdata"/><Relationship Id="rId17" Type="http://schemas.openxmlformats.org/officeDocument/2006/relationships/font" Target="fonts/font17.fntdata"/><Relationship Id="rId18" Type="http://schemas.openxmlformats.org/officeDocument/2006/relationships/font" Target="fonts/font18.fntdata"/><Relationship Id="rId19" Type="http://schemas.openxmlformats.org/officeDocument/2006/relationships/slide" Target="slides/slide9.xml"/><Relationship Id="rId20" Type="http://schemas.openxmlformats.org/officeDocument/2006/relationships/notesMaster" Target="notesMasters/notesMaster1.xml"/><Relationship Id="rId21" Type="http://schemas.openxmlformats.org/officeDocument/2006/relationships/slide" Target="slides/slide10.xml"/><Relationship Id="rId22" Type="http://schemas.openxmlformats.org/officeDocument/2006/relationships/slide" Target="slides/slide11.xml"/><Relationship Id="rId23" Type="http://schemas.openxmlformats.org/officeDocument/2006/relationships/slide" Target="slides/slide12.xml"/><Relationship Id="rId24" Type="http://schemas.openxmlformats.org/officeDocument/2006/relationships/slide" Target="slides/slide13.xml"/><Relationship Id="rId25" Type="http://schemas.openxmlformats.org/officeDocument/2006/relationships/slide" Target="slides/slide14.xml"/><Relationship Id="rId26" Type="http://schemas.openxmlformats.org/officeDocument/2006/relationships/slide" Target="slides/slide15.xml"/><Relationship Id="rId27" Type="http://schemas.openxmlformats.org/officeDocument/2006/relationships/slide" Target="slides/slide16.xml"/><Relationship Id="rId28" Type="http://schemas.openxmlformats.org/officeDocument/2006/relationships/slide" Target="slides/slide17.xml"/><Relationship Id="rId29" Type="http://schemas.openxmlformats.org/officeDocument/2006/relationships/slide" Target="slides/slide18.xml"/><Relationship Id="rId30" Type="http://schemas.openxmlformats.org/officeDocument/2006/relationships/slide" Target="slides/slide19.xml"/><Relationship Id="rId31" Type="http://schemas.openxmlformats.org/officeDocument/2006/relationships/slide" Target="slides/slide20.xml"/><Relationship Id="rId32" Type="http://schemas.openxmlformats.org/officeDocument/2006/relationships/slide" Target="slides/slide21.xml"/><Relationship Id="rId33" Type="http://schemas.openxmlformats.org/officeDocument/2006/relationships/slide" Target="slides/slide22.xml"/><Relationship Id="rId34" Type="http://schemas.openxmlformats.org/officeDocument/2006/relationships/slide" Target="slides/slide23.xml"/><Relationship Id="rId35" Type="http://schemas.openxmlformats.org/officeDocument/2006/relationships/slide" Target="slides/slide24.xml"/><Relationship Id="rId36" Type="http://schemas.openxmlformats.org/officeDocument/2006/relationships/slide" Target="slides/slide25.xml"/><Relationship Id="rId37" Type="http://schemas.openxmlformats.org/officeDocument/2006/relationships/slide" Target="slides/slide26.xml"/><Relationship Id="rId38" Type="http://schemas.openxmlformats.org/officeDocument/2006/relationships/slide" Target="slides/slide27.xml"/><Relationship Id="rId39" Type="http://schemas.openxmlformats.org/officeDocument/2006/relationships/slide" Target="slides/slide28.xml"/><Relationship Id="rId40" Type="http://schemas.openxmlformats.org/officeDocument/2006/relationships/slide" Target="slides/slide29.xml"/><Relationship Id="rId41" Type="http://schemas.openxmlformats.org/officeDocument/2006/relationships/slide" Target="slides/slide30.xml"/><Relationship Id="rId42" Type="http://schemas.openxmlformats.org/officeDocument/2006/relationships/slide" Target="slides/slide31.xml"/><Relationship Id="rId43" Type="http://schemas.openxmlformats.org/officeDocument/2006/relationships/slide" Target="slides/slide3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Team fields are deliberately left as [ to fill ]: they were not supplied and must not be invented.</a:t>
            </a:r>
          </a:p>
          <a:p>
            <a:r>
              <a:t>Say the one line: authentication answers who you are once; Q-SHIELD keeps asking whether you can still be trusted. Track: Post-Quantum Cryptography.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core problem: one-time authentication. Every compromise on this timeline happens AFTER a successful login, so the device keeps its access. Quantum point: signatures made today must stay unforgeable later (classical RSA/ECDSA signatures fall to Shor's algorithm).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 the highlighted row: no single signal quarantines; two independent authenticated signals do. Unauthenticated noise is capped at 25 points of pressure, so a flood can reach SUSPICIOUS at worst. Sources: docs/architecture/trust-engine.md sections 4.5, 5, 9.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Constraints are stated up front. The ESP32 path is HMAC because a microcontroller-class device was assumed unable to run ML-DSA cheaply; that is a design assumption, not a measurement.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novelty is the loop, not one algorithm. Orange marks the two steps a plain authentication system lacks: enforcement and earned recovery. All 17 build phases are in docs/IMPLEMENTATION_STATUS.md.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the device lane (HMAC) and the vision lane (ML-KEM session carrying ML-DSA signed observations) into the gateway. The trust engine decides; the gateway enforces. Recovery returns the device to TRUSTED only after verification and fresh evidence. Sources: backend/api/app.py, backend/trust/, backend/recovery/.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Weights are from TD-08 and are design choices, not calibrated (trust-engine.md section 16). The final score is min(raw - pressure, caps); every change carries reasons that sum exactly to the delta.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Thresholds TRUSTED &gt;= 80, QUARANTINED &lt; 50 and re-entry 85 (hysteresis). Caps from trust-engine.md section 5. The orange cap is the only one below the quarantine line: a confirmed incident quarantines regardless of weights.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Why PQC: Shor's algorithm breaks RSA and elliptic-curve signatures, so evidence signed classically today could be forged later. pqcrypto 1.0.0 provides ML-KEM-768 and ML-DSA-65; the cryptography library provides AES-256-GCM and HKDF. ACVP counts from pqc/README.md. The device path is HMAC and is not post-quantum.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1: the gateway's ML-KEM-768 key pair is provisioned; the client pins its public key. 2-3: encapsulation, signed init, decapsulation. 4: HKDF-SHA256 derives separate keys per direction plus a confirmation key. 5: a client that encapsulated to the wrong key sees a bad confirmation and refuses to send. 6: AES-256-GCM with strict counters; replayed or reordered messages fail. Numbers: docs/results/pqc-benchmark.json (i7-13700HX, Python bindings). Not TLS, not externally reviewed.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Canonical length-prefixed encoding means the signer and the verifier can never disagree on formatting. Every rejection is a security event that only adds bounded pressure. Numbers: pqc/README.md.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Phase 17 hardening. The flood control keeps trust decisions identical: a test runs the same flood with sampling on and off and compares state, score, pressure, last violation time and holds. Tests: tests/fullstack/test_rejection_flood.py, tests/integration/test_vision_session_churn.py, tests/security/test_pqc_session.py.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Phase 17 live run: USB camera index 1, YOLO11n on CPU, 449 frames in 90 s, no failed reads. Detection accuracy, precision and recall have not been measured and are not claimed.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Measures (ai/vision/health.py): brightness, texture, a normalised 32x24 thumbnail compared with the reference view over cells no detection overlaps, phase correlation for shifts, Laplacian sharpness, frame-to-frame difference. Every state needs 2 s and 5 frames of agreement. Tested on synthetic frames; on the live USB camera a seated, moving person produced no false camera-health report in 2 x 90 s. Covering, turning and freezing the real camera have not been staged. Proximity is an image-space heuristic: no distance is measured.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Example values: expected state from the demo (tests/fullstack/conftest.py EXPECTED); the observed column shows a simulated configuration-mismatch attack and an open tamper switch. A compromised device could lie in its self-report; there is no secure boot or attestation.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backend/evidence/chain.py. Tests cover edit, delete, reorder and forged signature. The 26 entries are from the Phase 17 live webcam demo run. External anchoring (TD-09) is not built.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backend/security/enforcement.py decide(). Blocked attempts are logged (throttled) as quarantine_access_blocked. Live demo: normal telemetry 403, forged 'all clear' 401.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backend/recovery/orchestrator.py. The trust ramp needs about 40 minutes of clean evidence at the documented parameters; the demo advances the gateway clock and says so (TIME-LAPSE). No parameter is changed.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Every technology is listed with its role. YOLO11n and ultralytics are AGPL-3.0; the weights are not committed. The hardware row is planned, not built.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Distinguish real from simulated every time. Hardware readiness: docs/hardware/device-protocol.md, hardware-architecture.md, the vectors in tests/vectors/envelope_v1_cases.json checked by tests/security/test_device_vectors.py.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PQC numbers: docs/results/pqc-benchmark.json (300 calls x 5 rounds). Trust engine: docs/results/trust_bench.json (52.6 us mean per apply; about 0.7 ms per gateway record). Tests: python -m pytest (785 passed) and node --test (40 passed) on 2026-10-02; counts per area from pytest --collect-only (docs/testing.md).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Highlighted: the two points judges rarely see elsewhere: the camera treated as part of the boundary, and the bounded griefing guarantee. Do not call any single mechanism novel.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Measured, Phase 17 run of scripts/demo_full.py --webcam --pace 2 --hold: 100 -&gt; 90 (real detections of the presenter in the restricted zone) -&gt; 80 (forged) -&gt; 72 SUSPICIOUS (replay) -&gt; 30 QUARANTINED (tamper + signed visual) -&gt; VERIFIED 30 -&gt; RECOVERED 80 (30 min credited) -&gt; TRUSTED 85 (42 min). Presentation mode and a dashboard-against-API check passed on the same run.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on the line at the bottom. Limitations are listed in README.md and docs/IMPLEMENTATION_STATUS.md; the hardware path is docs/hardware/hardware-architecture.md section 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image" Target="../media/image3.jpeg"/><Relationship Id="rId5" Type="http://schemas.openxmlformats.org/officeDocument/2006/relationships/image" Target="../media/image13.png"/><Relationship Id="rId6" Type="http://schemas.openxmlformats.org/officeDocument/2006/relationships/image" Target="../media/image14.svg"/><Relationship Id="rId7" Type="http://schemas.openxmlformats.org/officeDocument/2006/relationships/image" Target="../media/image4.png"/><Relationship Id="rId8" Type="http://schemas.openxmlformats.org/officeDocument/2006/relationships/image" Target="../media/image5.png"/><Relationship Id="rId9" Type="http://schemas.openxmlformats.org/officeDocument/2006/relationships/image" Target="../media/image6.jpeg"/><Relationship Id="rId10" Type="http://schemas.openxmlformats.org/officeDocument/2006/relationships/notesSlide" Target="../notesSlides/notesSlide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14.svg"/><Relationship Id="rId4" Type="http://schemas.openxmlformats.org/officeDocument/2006/relationships/image" Target="../media/image1.png"/><Relationship Id="rId5" Type="http://schemas.openxmlformats.org/officeDocument/2006/relationships/image" Target="../media/image2.svg"/><Relationship Id="rId6" Type="http://schemas.openxmlformats.org/officeDocument/2006/relationships/image" Target="../media/image3.jpeg"/><Relationship Id="rId7" Type="http://schemas.openxmlformats.org/officeDocument/2006/relationships/image" Target="../media/image4.png"/><Relationship Id="rId8" Type="http://schemas.openxmlformats.org/officeDocument/2006/relationships/image" Target="../media/image5.png"/><Relationship Id="rId9" Type="http://schemas.openxmlformats.org/officeDocument/2006/relationships/image" Target="../media/image6.jpeg"/><Relationship Id="rId10" Type="http://schemas.openxmlformats.org/officeDocument/2006/relationships/notesSlide" Target="../notesSlides/notesSlide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14.svg"/><Relationship Id="rId4" Type="http://schemas.openxmlformats.org/officeDocument/2006/relationships/image" Target="../media/image1.png"/><Relationship Id="rId5" Type="http://schemas.openxmlformats.org/officeDocument/2006/relationships/image" Target="../media/image2.svg"/><Relationship Id="rId6" Type="http://schemas.openxmlformats.org/officeDocument/2006/relationships/image" Target="../media/image3.jpeg"/><Relationship Id="rId7" Type="http://schemas.openxmlformats.org/officeDocument/2006/relationships/image" Target="../media/image4.png"/><Relationship Id="rId8" Type="http://schemas.openxmlformats.org/officeDocument/2006/relationships/image" Target="../media/image5.png"/><Relationship Id="rId9" Type="http://schemas.openxmlformats.org/officeDocument/2006/relationships/image" Target="../media/image6.jpeg"/><Relationship Id="rId10" Type="http://schemas.openxmlformats.org/officeDocument/2006/relationships/notesSlide" Target="../notesSlides/notesSlide3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14.svg"/><Relationship Id="rId4" Type="http://schemas.openxmlformats.org/officeDocument/2006/relationships/image" Target="../media/image1.png"/><Relationship Id="rId5" Type="http://schemas.openxmlformats.org/officeDocument/2006/relationships/image" Target="../media/image2.svg"/><Relationship Id="rId6" Type="http://schemas.openxmlformats.org/officeDocument/2006/relationships/image" Target="../media/image3.jpeg"/><Relationship Id="rId7" Type="http://schemas.openxmlformats.org/officeDocument/2006/relationships/image" Target="../media/image4.png"/><Relationship Id="rId8" Type="http://schemas.openxmlformats.org/officeDocument/2006/relationships/image" Target="../media/image5.png"/><Relationship Id="rId9" Type="http://schemas.openxmlformats.org/officeDocument/2006/relationships/image" Target="../media/image6.jpeg"/><Relationship Id="rId10" Type="http://schemas.openxmlformats.org/officeDocument/2006/relationships/notesSlide" Target="../notesSlides/notesSlide4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14.svg"/><Relationship Id="rId4" Type="http://schemas.openxmlformats.org/officeDocument/2006/relationships/image" Target="../media/image5.png"/><Relationship Id="rId5" Type="http://schemas.openxmlformats.org/officeDocument/2006/relationships/image" Target="../media/image1.png"/><Relationship Id="rId6" Type="http://schemas.openxmlformats.org/officeDocument/2006/relationships/image" Target="../media/image2.svg"/><Relationship Id="rId7" Type="http://schemas.openxmlformats.org/officeDocument/2006/relationships/image" Target="../media/image3.jpeg"/><Relationship Id="rId8" Type="http://schemas.openxmlformats.org/officeDocument/2006/relationships/image" Target="../media/image4.png"/><Relationship Id="rId9" Type="http://schemas.openxmlformats.org/officeDocument/2006/relationships/image" Target="../media/image6.jpeg"/><Relationship Id="rId10" Type="http://schemas.openxmlformats.org/officeDocument/2006/relationships/notesSlide" Target="../notesSlides/notesSlide5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14.svg"/><Relationship Id="rId4" Type="http://schemas.openxmlformats.org/officeDocument/2006/relationships/image" Target="../media/image5.png"/><Relationship Id="rId5" Type="http://schemas.openxmlformats.org/officeDocument/2006/relationships/image" Target="../media/image1.png"/><Relationship Id="rId6" Type="http://schemas.openxmlformats.org/officeDocument/2006/relationships/image" Target="../media/image2.svg"/><Relationship Id="rId7" Type="http://schemas.openxmlformats.org/officeDocument/2006/relationships/image" Target="../media/image3.jpeg"/><Relationship Id="rId8" Type="http://schemas.openxmlformats.org/officeDocument/2006/relationships/image" Target="../media/image4.png"/><Relationship Id="rId9" Type="http://schemas.openxmlformats.org/officeDocument/2006/relationships/image" Target="../media/image6.jpeg"/><Relationship Id="rId10" Type="http://schemas.openxmlformats.org/officeDocument/2006/relationships/notesSlide" Target="../notesSlides/notesSlide6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14.svg"/><Relationship Id="rId4" Type="http://schemas.openxmlformats.org/officeDocument/2006/relationships/image" Target="../media/image5.png"/><Relationship Id="rId5" Type="http://schemas.openxmlformats.org/officeDocument/2006/relationships/image" Target="../media/image1.png"/><Relationship Id="rId6" Type="http://schemas.openxmlformats.org/officeDocument/2006/relationships/image" Target="../media/image2.svg"/><Relationship Id="rId7" Type="http://schemas.openxmlformats.org/officeDocument/2006/relationships/image" Target="../media/image3.jpeg"/><Relationship Id="rId8" Type="http://schemas.openxmlformats.org/officeDocument/2006/relationships/image" Target="../media/image4.png"/><Relationship Id="rId9" Type="http://schemas.openxmlformats.org/officeDocument/2006/relationships/image" Target="../media/image6.jpeg"/><Relationship Id="rId10" Type="http://schemas.openxmlformats.org/officeDocument/2006/relationships/notesSlide" Target="../notesSlides/notesSlide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14.svg"/><Relationship Id="rId4" Type="http://schemas.openxmlformats.org/officeDocument/2006/relationships/image" Target="../media/image5.png"/><Relationship Id="rId5" Type="http://schemas.openxmlformats.org/officeDocument/2006/relationships/image" Target="../media/image1.png"/><Relationship Id="rId6" Type="http://schemas.openxmlformats.org/officeDocument/2006/relationships/image" Target="../media/image2.svg"/><Relationship Id="rId7" Type="http://schemas.openxmlformats.org/officeDocument/2006/relationships/image" Target="../media/image3.jpeg"/><Relationship Id="rId8" Type="http://schemas.openxmlformats.org/officeDocument/2006/relationships/image" Target="../media/image4.png"/><Relationship Id="rId9" Type="http://schemas.openxmlformats.org/officeDocument/2006/relationships/image" Target="../media/image6.jpeg"/><Relationship Id="rId10" Type="http://schemas.openxmlformats.org/officeDocument/2006/relationships/notesSlide" Target="../notesSlides/notesSlide8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14.svg"/><Relationship Id="rId4" Type="http://schemas.openxmlformats.org/officeDocument/2006/relationships/image" Target="../media/image1.png"/><Relationship Id="rId5" Type="http://schemas.openxmlformats.org/officeDocument/2006/relationships/image" Target="../media/image2.svg"/><Relationship Id="rId6" Type="http://schemas.openxmlformats.org/officeDocument/2006/relationships/image" Target="../media/image3.jpeg"/><Relationship Id="rId7" Type="http://schemas.openxmlformats.org/officeDocument/2006/relationships/image" Target="../media/image4.png"/><Relationship Id="rId8" Type="http://schemas.openxmlformats.org/officeDocument/2006/relationships/image" Target="../media/image5.png"/><Relationship Id="rId9" Type="http://schemas.openxmlformats.org/officeDocument/2006/relationships/image" Target="../media/image6.jpeg"/><Relationship Id="rId10" Type="http://schemas.openxmlformats.org/officeDocument/2006/relationships/notesSlide" Target="../notesSlides/notesSlide9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14.svg"/><Relationship Id="rId4" Type="http://schemas.openxmlformats.org/officeDocument/2006/relationships/image" Target="../media/image1.png"/><Relationship Id="rId5" Type="http://schemas.openxmlformats.org/officeDocument/2006/relationships/image" Target="../media/image2.svg"/><Relationship Id="rId6" Type="http://schemas.openxmlformats.org/officeDocument/2006/relationships/image" Target="../media/image3.jpeg"/><Relationship Id="rId7" Type="http://schemas.openxmlformats.org/officeDocument/2006/relationships/image" Target="../media/image4.png"/><Relationship Id="rId8" Type="http://schemas.openxmlformats.org/officeDocument/2006/relationships/image" Target="../media/image5.png"/><Relationship Id="rId9" Type="http://schemas.openxmlformats.org/officeDocument/2006/relationships/image" Target="../media/image6.jpeg"/><Relationship Id="rId10" Type="http://schemas.openxmlformats.org/officeDocument/2006/relationships/notesSlide" Target="../notesSlides/notesSlide10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14.svg"/><Relationship Id="rId4" Type="http://schemas.openxmlformats.org/officeDocument/2006/relationships/image" Target="../media/image1.png"/><Relationship Id="rId5" Type="http://schemas.openxmlformats.org/officeDocument/2006/relationships/image" Target="../media/image2.svg"/><Relationship Id="rId6" Type="http://schemas.openxmlformats.org/officeDocument/2006/relationships/image" Target="../media/image3.jpeg"/><Relationship Id="rId7" Type="http://schemas.openxmlformats.org/officeDocument/2006/relationships/image" Target="../media/image4.png"/><Relationship Id="rId8" Type="http://schemas.openxmlformats.org/officeDocument/2006/relationships/image" Target="../media/image5.png"/><Relationship Id="rId9" Type="http://schemas.openxmlformats.org/officeDocument/2006/relationships/image" Target="../media/image6.jpeg"/><Relationship Id="rId10" Type="http://schemas.openxmlformats.org/officeDocument/2006/relationships/notesSlide" Target="../notesSlides/notesSlide11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14.svg"/><Relationship Id="rId4" Type="http://schemas.openxmlformats.org/officeDocument/2006/relationships/image" Target="../media/image1.png"/><Relationship Id="rId5" Type="http://schemas.openxmlformats.org/officeDocument/2006/relationships/image" Target="../media/image2.svg"/><Relationship Id="rId6" Type="http://schemas.openxmlformats.org/officeDocument/2006/relationships/image" Target="../media/image3.jpeg"/><Relationship Id="rId7" Type="http://schemas.openxmlformats.org/officeDocument/2006/relationships/image" Target="../media/image4.png"/><Relationship Id="rId8" Type="http://schemas.openxmlformats.org/officeDocument/2006/relationships/image" Target="../media/image5.png"/><Relationship Id="rId9" Type="http://schemas.openxmlformats.org/officeDocument/2006/relationships/image" Target="../media/image6.jpeg"/><Relationship Id="rId10" Type="http://schemas.openxmlformats.org/officeDocument/2006/relationships/notesSlide" Target="../notesSlides/notesSlide1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14.svg"/><Relationship Id="rId4" Type="http://schemas.openxmlformats.org/officeDocument/2006/relationships/image" Target="../media/image1.png"/><Relationship Id="rId5" Type="http://schemas.openxmlformats.org/officeDocument/2006/relationships/image" Target="../media/image2.svg"/><Relationship Id="rId6" Type="http://schemas.openxmlformats.org/officeDocument/2006/relationships/image" Target="../media/image3.jpeg"/><Relationship Id="rId7" Type="http://schemas.openxmlformats.org/officeDocument/2006/relationships/image" Target="../media/image4.png"/><Relationship Id="rId8" Type="http://schemas.openxmlformats.org/officeDocument/2006/relationships/image" Target="../media/image5.png"/><Relationship Id="rId9" Type="http://schemas.openxmlformats.org/officeDocument/2006/relationships/image" Target="../media/image6.jpeg"/><Relationship Id="rId10" Type="http://schemas.openxmlformats.org/officeDocument/2006/relationships/notesSlide" Target="../notesSlides/notesSlide13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14.svg"/><Relationship Id="rId4" Type="http://schemas.openxmlformats.org/officeDocument/2006/relationships/image" Target="../media/image1.png"/><Relationship Id="rId5" Type="http://schemas.openxmlformats.org/officeDocument/2006/relationships/image" Target="../media/image2.svg"/><Relationship Id="rId6" Type="http://schemas.openxmlformats.org/officeDocument/2006/relationships/image" Target="../media/image3.jpeg"/><Relationship Id="rId7" Type="http://schemas.openxmlformats.org/officeDocument/2006/relationships/image" Target="../media/image4.png"/><Relationship Id="rId8" Type="http://schemas.openxmlformats.org/officeDocument/2006/relationships/image" Target="../media/image5.png"/><Relationship Id="rId9" Type="http://schemas.openxmlformats.org/officeDocument/2006/relationships/image" Target="../media/image6.jpeg"/><Relationship Id="rId10" Type="http://schemas.openxmlformats.org/officeDocument/2006/relationships/notesSlide" Target="../notesSlides/notesSlide14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14.svg"/><Relationship Id="rId4" Type="http://schemas.openxmlformats.org/officeDocument/2006/relationships/image" Target="../media/image1.png"/><Relationship Id="rId5" Type="http://schemas.openxmlformats.org/officeDocument/2006/relationships/image" Target="../media/image2.svg"/><Relationship Id="rId6" Type="http://schemas.openxmlformats.org/officeDocument/2006/relationships/image" Target="../media/image3.jpeg"/><Relationship Id="rId7" Type="http://schemas.openxmlformats.org/officeDocument/2006/relationships/image" Target="../media/image4.png"/><Relationship Id="rId8" Type="http://schemas.openxmlformats.org/officeDocument/2006/relationships/image" Target="../media/image5.png"/><Relationship Id="rId9" Type="http://schemas.openxmlformats.org/officeDocument/2006/relationships/image" Target="../media/image6.jpeg"/><Relationship Id="rId10" Type="http://schemas.openxmlformats.org/officeDocument/2006/relationships/notesSlide" Target="../notesSlides/notesSlide15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14.svg"/><Relationship Id="rId4" Type="http://schemas.openxmlformats.org/officeDocument/2006/relationships/image" Target="../media/image1.png"/><Relationship Id="rId5" Type="http://schemas.openxmlformats.org/officeDocument/2006/relationships/image" Target="../media/image2.svg"/><Relationship Id="rId6" Type="http://schemas.openxmlformats.org/officeDocument/2006/relationships/image" Target="../media/image3.jpeg"/><Relationship Id="rId7" Type="http://schemas.openxmlformats.org/officeDocument/2006/relationships/image" Target="../media/image4.png"/><Relationship Id="rId8" Type="http://schemas.openxmlformats.org/officeDocument/2006/relationships/image" Target="../media/image5.png"/><Relationship Id="rId9" Type="http://schemas.openxmlformats.org/officeDocument/2006/relationships/image" Target="../media/image6.jpeg"/><Relationship Id="rId10" Type="http://schemas.openxmlformats.org/officeDocument/2006/relationships/notesSlide" Target="../notesSlides/notesSlide16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14.svg"/><Relationship Id="rId4" Type="http://schemas.openxmlformats.org/officeDocument/2006/relationships/image" Target="../media/image1.png"/><Relationship Id="rId5" Type="http://schemas.openxmlformats.org/officeDocument/2006/relationships/image" Target="../media/image2.svg"/><Relationship Id="rId6" Type="http://schemas.openxmlformats.org/officeDocument/2006/relationships/image" Target="../media/image3.jpeg"/><Relationship Id="rId7" Type="http://schemas.openxmlformats.org/officeDocument/2006/relationships/image" Target="../media/image4.png"/><Relationship Id="rId8" Type="http://schemas.openxmlformats.org/officeDocument/2006/relationships/image" Target="../media/image5.png"/><Relationship Id="rId9" Type="http://schemas.openxmlformats.org/officeDocument/2006/relationships/image" Target="../media/image6.jpeg"/><Relationship Id="rId10" Type="http://schemas.openxmlformats.org/officeDocument/2006/relationships/notesSlide" Target="../notesSlides/notesSlide1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14.svg"/><Relationship Id="rId4" Type="http://schemas.openxmlformats.org/officeDocument/2006/relationships/image" Target="../media/image1.png"/><Relationship Id="rId5" Type="http://schemas.openxmlformats.org/officeDocument/2006/relationships/image" Target="../media/image2.svg"/><Relationship Id="rId6" Type="http://schemas.openxmlformats.org/officeDocument/2006/relationships/image" Target="../media/image3.jpeg"/><Relationship Id="rId7" Type="http://schemas.openxmlformats.org/officeDocument/2006/relationships/image" Target="../media/image4.png"/><Relationship Id="rId8" Type="http://schemas.openxmlformats.org/officeDocument/2006/relationships/image" Target="../media/image5.png"/><Relationship Id="rId9" Type="http://schemas.openxmlformats.org/officeDocument/2006/relationships/image" Target="../media/image6.jpeg"/><Relationship Id="rId10" Type="http://schemas.openxmlformats.org/officeDocument/2006/relationships/notesSlide" Target="../notesSlides/notesSlide18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14.svg"/><Relationship Id="rId4" Type="http://schemas.openxmlformats.org/officeDocument/2006/relationships/image" Target="../media/image1.png"/><Relationship Id="rId5" Type="http://schemas.openxmlformats.org/officeDocument/2006/relationships/image" Target="../media/image2.svg"/><Relationship Id="rId6" Type="http://schemas.openxmlformats.org/officeDocument/2006/relationships/image" Target="../media/image3.jpeg"/><Relationship Id="rId7" Type="http://schemas.openxmlformats.org/officeDocument/2006/relationships/image" Target="../media/image4.png"/><Relationship Id="rId8" Type="http://schemas.openxmlformats.org/officeDocument/2006/relationships/image" Target="../media/image5.png"/><Relationship Id="rId9" Type="http://schemas.openxmlformats.org/officeDocument/2006/relationships/image" Target="../media/image6.jpeg"/><Relationship Id="rId10" Type="http://schemas.openxmlformats.org/officeDocument/2006/relationships/notesSlide" Target="../notesSlides/notesSlide19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14.svg"/><Relationship Id="rId4" Type="http://schemas.openxmlformats.org/officeDocument/2006/relationships/image" Target="../media/image1.png"/><Relationship Id="rId5" Type="http://schemas.openxmlformats.org/officeDocument/2006/relationships/image" Target="../media/image2.svg"/><Relationship Id="rId6" Type="http://schemas.openxmlformats.org/officeDocument/2006/relationships/image" Target="../media/image3.jpeg"/><Relationship Id="rId7" Type="http://schemas.openxmlformats.org/officeDocument/2006/relationships/image" Target="../media/image4.png"/><Relationship Id="rId8" Type="http://schemas.openxmlformats.org/officeDocument/2006/relationships/image" Target="../media/image5.png"/><Relationship Id="rId9" Type="http://schemas.openxmlformats.org/officeDocument/2006/relationships/image" Target="../media/image6.jpeg"/><Relationship Id="rId10" Type="http://schemas.openxmlformats.org/officeDocument/2006/relationships/notesSlide" Target="../notesSlides/notesSlide20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14.svg"/><Relationship Id="rId4" Type="http://schemas.openxmlformats.org/officeDocument/2006/relationships/image" Target="../media/image1.png"/><Relationship Id="rId5" Type="http://schemas.openxmlformats.org/officeDocument/2006/relationships/image" Target="../media/image2.svg"/><Relationship Id="rId6" Type="http://schemas.openxmlformats.org/officeDocument/2006/relationships/image" Target="../media/image3.jpeg"/><Relationship Id="rId7" Type="http://schemas.openxmlformats.org/officeDocument/2006/relationships/image" Target="../media/image4.png"/><Relationship Id="rId8" Type="http://schemas.openxmlformats.org/officeDocument/2006/relationships/image" Target="../media/image5.png"/><Relationship Id="rId9" Type="http://schemas.openxmlformats.org/officeDocument/2006/relationships/image" Target="../media/image6.jpeg"/><Relationship Id="rId10" Type="http://schemas.openxmlformats.org/officeDocument/2006/relationships/notesSlide" Target="../notesSlides/notesSlide21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14.svg"/><Relationship Id="rId4" Type="http://schemas.openxmlformats.org/officeDocument/2006/relationships/image" Target="../media/image1.png"/><Relationship Id="rId5" Type="http://schemas.openxmlformats.org/officeDocument/2006/relationships/image" Target="../media/image2.svg"/><Relationship Id="rId6" Type="http://schemas.openxmlformats.org/officeDocument/2006/relationships/image" Target="../media/image3.jpeg"/><Relationship Id="rId7" Type="http://schemas.openxmlformats.org/officeDocument/2006/relationships/image" Target="../media/image4.png"/><Relationship Id="rId8" Type="http://schemas.openxmlformats.org/officeDocument/2006/relationships/image" Target="../media/image5.png"/><Relationship Id="rId9" Type="http://schemas.openxmlformats.org/officeDocument/2006/relationships/image" Target="../media/image6.jpeg"/><Relationship Id="rId10" Type="http://schemas.openxmlformats.org/officeDocument/2006/relationships/notesSlide" Target="../notesSlides/notesSlide22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14.svg"/><Relationship Id="rId4" Type="http://schemas.openxmlformats.org/officeDocument/2006/relationships/image" Target="../media/image1.png"/><Relationship Id="rId5" Type="http://schemas.openxmlformats.org/officeDocument/2006/relationships/image" Target="../media/image2.svg"/><Relationship Id="rId6" Type="http://schemas.openxmlformats.org/officeDocument/2006/relationships/image" Target="../media/image3.jpeg"/><Relationship Id="rId7" Type="http://schemas.openxmlformats.org/officeDocument/2006/relationships/image" Target="../media/image4.png"/><Relationship Id="rId8" Type="http://schemas.openxmlformats.org/officeDocument/2006/relationships/image" Target="../media/image5.png"/><Relationship Id="rId9" Type="http://schemas.openxmlformats.org/officeDocument/2006/relationships/image" Target="../media/image6.jpeg"/><Relationship Id="rId10" Type="http://schemas.openxmlformats.org/officeDocument/2006/relationships/notesSlide" Target="../notesSlides/notesSlide23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14.svg"/><Relationship Id="rId4" Type="http://schemas.openxmlformats.org/officeDocument/2006/relationships/image" Target="../media/image1.png"/><Relationship Id="rId5" Type="http://schemas.openxmlformats.org/officeDocument/2006/relationships/image" Target="../media/image2.svg"/><Relationship Id="rId6" Type="http://schemas.openxmlformats.org/officeDocument/2006/relationships/image" Target="../media/image3.jpeg"/><Relationship Id="rId7" Type="http://schemas.openxmlformats.org/officeDocument/2006/relationships/image" Target="../media/image4.png"/><Relationship Id="rId8" Type="http://schemas.openxmlformats.org/officeDocument/2006/relationships/image" Target="../media/image5.png"/><Relationship Id="rId9" Type="http://schemas.openxmlformats.org/officeDocument/2006/relationships/image" Target="../media/image6.jpeg"/><Relationship Id="rId10" Type="http://schemas.openxmlformats.org/officeDocument/2006/relationships/notesSlide" Target="../notesSlides/notesSlide24.xml"/></Relationships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name="Group 2" id="2"/>
          <p:cNvGrpSpPr/>
          <p:nvPr/>
        </p:nvGrpSpPr>
        <p:grpSpPr>
          <a:xfrm rot="0">
            <a:off x="2273265" y="1130884"/>
            <a:ext cx="6870735" cy="543077"/>
            <a:chOff x="0" y="0"/>
            <a:chExt cx="9160980" cy="72410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161018" cy="724154"/>
            </a:xfrm>
            <a:custGeom>
              <a:avLst/>
              <a:gdLst/>
              <a:ahLst/>
              <a:cxnLst/>
              <a:rect r="r" b="b" t="t" l="l"/>
              <a:pathLst>
                <a:path h="724154" w="9161018">
                  <a:moveTo>
                    <a:pt x="0" y="0"/>
                  </a:moveTo>
                  <a:lnTo>
                    <a:pt x="9161018" y="0"/>
                  </a:lnTo>
                  <a:lnTo>
                    <a:pt x="9161018" y="724154"/>
                  </a:lnTo>
                  <a:lnTo>
                    <a:pt x="0" y="72415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914D"/>
            </a:solidFill>
          </p:spPr>
        </p:sp>
      </p:grpSp>
      <p:grpSp>
        <p:nvGrpSpPr>
          <p:cNvPr name="Group 4" id="4"/>
          <p:cNvGrpSpPr/>
          <p:nvPr/>
        </p:nvGrpSpPr>
        <p:grpSpPr>
          <a:xfrm rot="-10800000">
            <a:off x="9124950" y="1130884"/>
            <a:ext cx="6870735" cy="543077"/>
            <a:chOff x="0" y="0"/>
            <a:chExt cx="9160980" cy="724103"/>
          </a:xfrm>
        </p:grpSpPr>
        <p:sp>
          <p:nvSpPr>
            <p:cNvPr name="Freeform 5" id="5"/>
            <p:cNvSpPr/>
            <p:nvPr/>
          </p:nvSpPr>
          <p:spPr>
            <a:xfrm flipH="false" flipV="true" rot="0">
              <a:off x="0" y="0"/>
              <a:ext cx="9161018" cy="724154"/>
            </a:xfrm>
            <a:custGeom>
              <a:avLst/>
              <a:gdLst/>
              <a:ahLst/>
              <a:cxnLst/>
              <a:rect r="r" b="b" t="t" l="l"/>
              <a:pathLst>
                <a:path h="724154" w="9161018">
                  <a:moveTo>
                    <a:pt x="0" y="724154"/>
                  </a:moveTo>
                  <a:lnTo>
                    <a:pt x="9161018" y="724154"/>
                  </a:lnTo>
                  <a:lnTo>
                    <a:pt x="9161018" y="0"/>
                  </a:lnTo>
                  <a:lnTo>
                    <a:pt x="0" y="0"/>
                  </a:lnTo>
                  <a:lnTo>
                    <a:pt x="0" y="724154"/>
                  </a:lnTo>
                  <a:close/>
                </a:path>
              </a:pathLst>
            </a:custGeom>
            <a:solidFill>
              <a:srgbClr val="FF914D"/>
            </a:solidFill>
          </p:spPr>
        </p:sp>
      </p:grpSp>
      <p:grpSp>
        <p:nvGrpSpPr>
          <p:cNvPr name="Group 6" id="6"/>
          <p:cNvGrpSpPr/>
          <p:nvPr/>
        </p:nvGrpSpPr>
        <p:grpSpPr>
          <a:xfrm rot="-10800000">
            <a:off x="-32871" y="1130884"/>
            <a:ext cx="3068079" cy="503739"/>
            <a:chOff x="0" y="0"/>
            <a:chExt cx="4090772" cy="671652"/>
          </a:xfrm>
        </p:grpSpPr>
        <p:sp>
          <p:nvSpPr>
            <p:cNvPr name="Freeform 7" id="7"/>
            <p:cNvSpPr/>
            <p:nvPr/>
          </p:nvSpPr>
          <p:spPr>
            <a:xfrm flipH="false" flipV="true" rot="0">
              <a:off x="0" y="0"/>
              <a:ext cx="4090797" cy="671703"/>
            </a:xfrm>
            <a:custGeom>
              <a:avLst/>
              <a:gdLst/>
              <a:ahLst/>
              <a:cxnLst/>
              <a:rect r="r" b="b" t="t" l="l"/>
              <a:pathLst>
                <a:path h="671703" w="4090797">
                  <a:moveTo>
                    <a:pt x="0" y="671703"/>
                  </a:moveTo>
                  <a:lnTo>
                    <a:pt x="4090797" y="671703"/>
                  </a:lnTo>
                  <a:lnTo>
                    <a:pt x="4090797" y="0"/>
                  </a:lnTo>
                  <a:lnTo>
                    <a:pt x="0" y="0"/>
                  </a:lnTo>
                  <a:lnTo>
                    <a:pt x="0" y="671703"/>
                  </a:lnTo>
                  <a:close/>
                </a:path>
              </a:pathLst>
            </a:custGeom>
            <a:solidFill>
              <a:srgbClr val="FF914D"/>
            </a:solidFill>
          </p:spPr>
        </p:sp>
      </p:grpSp>
      <p:sp>
        <p:nvSpPr>
          <p:cNvPr name="Freeform 8" id="8"/>
          <p:cNvSpPr/>
          <p:nvPr/>
        </p:nvSpPr>
        <p:spPr>
          <a:xfrm flipH="false" flipV="false" rot="-5400000">
            <a:off x="12120564" y="5052657"/>
            <a:ext cx="10084834" cy="2269088"/>
          </a:xfrm>
          <a:custGeom>
            <a:avLst/>
            <a:gdLst/>
            <a:ahLst/>
            <a:cxnLst/>
            <a:rect r="r" b="b" t="t" l="l"/>
            <a:pathLst>
              <a:path h="2269088" w="10084834">
                <a:moveTo>
                  <a:pt x="0" y="0"/>
                </a:moveTo>
                <a:lnTo>
                  <a:pt x="10084834" y="0"/>
                </a:lnTo>
                <a:lnTo>
                  <a:pt x="10084834" y="2269088"/>
                </a:lnTo>
                <a:lnTo>
                  <a:pt x="0" y="226908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-10800000">
            <a:off x="15248496" y="1130884"/>
            <a:ext cx="3068079" cy="503739"/>
            <a:chOff x="0" y="0"/>
            <a:chExt cx="4090772" cy="671652"/>
          </a:xfrm>
        </p:grpSpPr>
        <p:sp>
          <p:nvSpPr>
            <p:cNvPr name="Freeform 10" id="10"/>
            <p:cNvSpPr/>
            <p:nvPr/>
          </p:nvSpPr>
          <p:spPr>
            <a:xfrm flipH="false" flipV="true" rot="0">
              <a:off x="0" y="0"/>
              <a:ext cx="4090797" cy="671703"/>
            </a:xfrm>
            <a:custGeom>
              <a:avLst/>
              <a:gdLst/>
              <a:ahLst/>
              <a:cxnLst/>
              <a:rect r="r" b="b" t="t" l="l"/>
              <a:pathLst>
                <a:path h="671703" w="4090797">
                  <a:moveTo>
                    <a:pt x="0" y="671703"/>
                  </a:moveTo>
                  <a:lnTo>
                    <a:pt x="4090797" y="671703"/>
                  </a:lnTo>
                  <a:lnTo>
                    <a:pt x="4090797" y="0"/>
                  </a:lnTo>
                  <a:lnTo>
                    <a:pt x="0" y="0"/>
                  </a:lnTo>
                  <a:lnTo>
                    <a:pt x="0" y="671703"/>
                  </a:lnTo>
                  <a:close/>
                </a:path>
              </a:pathLst>
            </a:custGeom>
            <a:solidFill>
              <a:srgbClr val="FF914D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5688825" y="96222"/>
            <a:ext cx="2423739" cy="924096"/>
            <a:chOff x="0" y="0"/>
            <a:chExt cx="2307438" cy="879754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307463" cy="879729"/>
            </a:xfrm>
            <a:custGeom>
              <a:avLst/>
              <a:gdLst/>
              <a:ahLst/>
              <a:cxnLst/>
              <a:rect r="r" b="b" t="t" l="l"/>
              <a:pathLst>
                <a:path h="879729" w="2307463">
                  <a:moveTo>
                    <a:pt x="0" y="0"/>
                  </a:moveTo>
                  <a:lnTo>
                    <a:pt x="2307463" y="0"/>
                  </a:lnTo>
                  <a:lnTo>
                    <a:pt x="2307463" y="879729"/>
                  </a:lnTo>
                  <a:lnTo>
                    <a:pt x="0" y="8797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76294" r="1" b="-85995"/>
              </a:stretch>
            </a:blip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-350872" y="9407052"/>
            <a:ext cx="25187234" cy="908523"/>
            <a:chOff x="0" y="0"/>
            <a:chExt cx="33582978" cy="1211364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9972477" cy="1211364"/>
            </a:xfrm>
            <a:custGeom>
              <a:avLst/>
              <a:gdLst/>
              <a:ahLst/>
              <a:cxnLst/>
              <a:rect r="r" b="b" t="t" l="l"/>
              <a:pathLst>
                <a:path h="1211364" w="19972477">
                  <a:moveTo>
                    <a:pt x="0" y="0"/>
                  </a:moveTo>
                  <a:lnTo>
                    <a:pt x="19972477" y="0"/>
                  </a:lnTo>
                  <a:lnTo>
                    <a:pt x="19972477" y="1211364"/>
                  </a:lnTo>
                  <a:lnTo>
                    <a:pt x="0" y="12113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13610501" y="0"/>
              <a:ext cx="19972477" cy="1211364"/>
            </a:xfrm>
            <a:custGeom>
              <a:avLst/>
              <a:gdLst/>
              <a:ahLst/>
              <a:cxnLst/>
              <a:rect r="r" b="b" t="t" l="l"/>
              <a:pathLst>
                <a:path h="1211364" w="19972477">
                  <a:moveTo>
                    <a:pt x="0" y="0"/>
                  </a:moveTo>
                  <a:lnTo>
                    <a:pt x="19972477" y="0"/>
                  </a:lnTo>
                  <a:lnTo>
                    <a:pt x="19972477" y="1211364"/>
                  </a:lnTo>
                  <a:lnTo>
                    <a:pt x="0" y="12113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16" id="16"/>
          <p:cNvSpPr/>
          <p:nvPr/>
        </p:nvSpPr>
        <p:spPr>
          <a:xfrm flipH="false" flipV="false" rot="0">
            <a:off x="252268" y="89049"/>
            <a:ext cx="2497801" cy="1034663"/>
          </a:xfrm>
          <a:custGeom>
            <a:avLst/>
            <a:gdLst/>
            <a:ahLst/>
            <a:cxnLst/>
            <a:rect r="r" b="b" t="t" l="l"/>
            <a:pathLst>
              <a:path h="1034663" w="2497801">
                <a:moveTo>
                  <a:pt x="0" y="0"/>
                </a:moveTo>
                <a:lnTo>
                  <a:pt x="2497801" y="0"/>
                </a:lnTo>
                <a:lnTo>
                  <a:pt x="2497801" y="1034663"/>
                </a:lnTo>
                <a:lnTo>
                  <a:pt x="0" y="103466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5988" t="-27243" r="-4375" b="-52819"/>
            </a:stretch>
          </a:blipFill>
        </p:spPr>
      </p:sp>
      <p:grpSp>
        <p:nvGrpSpPr>
          <p:cNvPr name="Group 18" id="18"/>
          <p:cNvGrpSpPr/>
          <p:nvPr/>
        </p:nvGrpSpPr>
        <p:grpSpPr>
          <a:xfrm rot="0">
            <a:off x="5954462" y="2830933"/>
            <a:ext cx="6379076" cy="4625134"/>
            <a:chOff x="0" y="0"/>
            <a:chExt cx="2079650" cy="1507846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079625" cy="1507871"/>
            </a:xfrm>
            <a:custGeom>
              <a:avLst/>
              <a:gdLst/>
              <a:ahLst/>
              <a:cxnLst/>
              <a:rect r="r" b="b" t="t" l="l"/>
              <a:pathLst>
                <a:path h="1507871" w="2079625">
                  <a:moveTo>
                    <a:pt x="0" y="0"/>
                  </a:moveTo>
                  <a:lnTo>
                    <a:pt x="2079625" y="0"/>
                  </a:lnTo>
                  <a:lnTo>
                    <a:pt x="2079625" y="1507871"/>
                  </a:lnTo>
                  <a:lnTo>
                    <a:pt x="0" y="15078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alphaModFix amt="13000"/>
              </a:blip>
              <a:stretch>
                <a:fillRect l="0" t="0" r="-1" b="1"/>
              </a:stretch>
            </a:blipFill>
          </p:spPr>
        </p:sp>
      </p:grpSp>
      <p:sp>
        <p:nvSpPr>
          <p:cNvPr name="Freeform 20" id="20"/>
          <p:cNvSpPr/>
          <p:nvPr/>
        </p:nvSpPr>
        <p:spPr>
          <a:xfrm flipH="false" flipV="false" rot="0">
            <a:off x="6236411" y="74654"/>
            <a:ext cx="5815177" cy="987762"/>
          </a:xfrm>
          <a:custGeom>
            <a:avLst/>
            <a:gdLst/>
            <a:ahLst/>
            <a:cxnLst/>
            <a:rect r="r" b="b" t="t" l="l"/>
            <a:pathLst>
              <a:path h="987762" w="5815177">
                <a:moveTo>
                  <a:pt x="0" y="0"/>
                </a:moveTo>
                <a:lnTo>
                  <a:pt x="5815178" y="0"/>
                </a:lnTo>
                <a:lnTo>
                  <a:pt x="5815178" y="987762"/>
                </a:lnTo>
                <a:lnTo>
                  <a:pt x="0" y="987762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-11062" t="-153011" r="-9149" b="-154810"/>
            </a:stretch>
          </a:blipFill>
        </p:spPr>
      </p:sp>
      <p:sp>
        <p:nvSpPr>
          <p:cNvPr id="21" name="TextBox 20"/>
          <p:cNvSpPr txBox="1"/>
          <p:nvPr/>
        </p:nvSpPr>
        <p:spPr>
          <a:xfrm>
            <a:off x="822960" y="1874520"/>
            <a:ext cx="9509760" cy="7315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3600" b="0" i="0">
                <a:solidFill>
                  <a:srgbClr val="000000"/>
                </a:solidFill>
                <a:latin typeface="Bahnschrift SemiBold"/>
                <a:ea typeface="Bahnschrift SemiBold"/>
                <a:cs typeface="Bahnschrift SemiBold"/>
              </a:rPr>
              <a:t>1. Participant Information &amp; Topic Name</a:t>
            </a:r>
          </a:p>
        </p:txBody>
      </p:sp>
      <p:sp>
        <p:nvSpPr>
          <p:cNvPr id="22" name="Oval 21"/>
          <p:cNvSpPr/>
          <p:nvPr/>
        </p:nvSpPr>
        <p:spPr>
          <a:xfrm>
            <a:off x="859536" y="3099816"/>
            <a:ext cx="146304" cy="146304"/>
          </a:xfrm>
          <a:prstGeom prst="ellipse">
            <a:avLst/>
          </a:prstGeom>
          <a:solidFill>
            <a:srgbClr val="FF91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88720" y="2926080"/>
            <a:ext cx="6858000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400" b="0" i="0">
                <a:solidFill>
                  <a:srgbClr val="1A1A1A"/>
                </a:solidFill>
                <a:latin typeface="Segoe UI Semibold"/>
                <a:ea typeface="Segoe UI Semibold"/>
                <a:cs typeface="Segoe UI Semibold"/>
              </a:rPr>
              <a:t>Team Name  </a:t>
            </a:r>
            <a:r>
              <a:rPr sz="2400" b="0" i="0">
                <a:solidFill>
                  <a:srgbClr val="5C5C5C"/>
                </a:solidFill>
                <a:latin typeface="Segoe UI"/>
                <a:ea typeface="Segoe UI"/>
                <a:cs typeface="Segoe UI"/>
              </a:rPr>
              <a:t>[ to fill ]</a:t>
            </a:r>
          </a:p>
        </p:txBody>
      </p:sp>
      <p:sp>
        <p:nvSpPr>
          <p:cNvPr id="24" name="Oval 23"/>
          <p:cNvSpPr/>
          <p:nvPr/>
        </p:nvSpPr>
        <p:spPr>
          <a:xfrm>
            <a:off x="859536" y="3721608"/>
            <a:ext cx="146304" cy="146304"/>
          </a:xfrm>
          <a:prstGeom prst="ellipse">
            <a:avLst/>
          </a:prstGeom>
          <a:solidFill>
            <a:srgbClr val="FF91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88720" y="3547872"/>
            <a:ext cx="6858000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400" b="0" i="0">
                <a:solidFill>
                  <a:srgbClr val="1A1A1A"/>
                </a:solidFill>
                <a:latin typeface="Segoe UI Semibold"/>
                <a:ea typeface="Segoe UI Semibold"/>
                <a:cs typeface="Segoe UI Semibold"/>
              </a:rPr>
              <a:t>Team Lead Name  </a:t>
            </a:r>
            <a:r>
              <a:rPr sz="2400" b="0" i="0">
                <a:solidFill>
                  <a:srgbClr val="5C5C5C"/>
                </a:solidFill>
                <a:latin typeface="Segoe UI"/>
                <a:ea typeface="Segoe UI"/>
                <a:cs typeface="Segoe UI"/>
              </a:rPr>
              <a:t>[ to fill ]</a:t>
            </a:r>
          </a:p>
        </p:txBody>
      </p:sp>
      <p:sp>
        <p:nvSpPr>
          <p:cNvPr id="26" name="Oval 25"/>
          <p:cNvSpPr/>
          <p:nvPr/>
        </p:nvSpPr>
        <p:spPr>
          <a:xfrm>
            <a:off x="859536" y="4343400"/>
            <a:ext cx="146304" cy="146304"/>
          </a:xfrm>
          <a:prstGeom prst="ellipse">
            <a:avLst/>
          </a:prstGeom>
          <a:solidFill>
            <a:srgbClr val="FF91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88720" y="4169664"/>
            <a:ext cx="6858000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400" b="0" i="0">
                <a:solidFill>
                  <a:srgbClr val="1A1A1A"/>
                </a:solidFill>
                <a:latin typeface="Segoe UI Semibold"/>
                <a:ea typeface="Segoe UI Semibold"/>
                <a:cs typeface="Segoe UI Semibold"/>
              </a:rPr>
              <a:t>Team Lead Contact No  </a:t>
            </a:r>
            <a:r>
              <a:rPr sz="2400" b="0" i="0">
                <a:solidFill>
                  <a:srgbClr val="5C5C5C"/>
                </a:solidFill>
                <a:latin typeface="Segoe UI"/>
                <a:ea typeface="Segoe UI"/>
                <a:cs typeface="Segoe UI"/>
              </a:rPr>
              <a:t>[ to fill ]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88720" y="4928616"/>
            <a:ext cx="685800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400" b="0" i="0">
                <a:solidFill>
                  <a:srgbClr val="1A1A1A"/>
                </a:solidFill>
                <a:latin typeface="Segoe UI Semibold"/>
                <a:ea typeface="Segoe UI Semibold"/>
                <a:cs typeface="Segoe UI Semibold"/>
              </a:rPr>
              <a:t>Selected Track</a:t>
            </a:r>
          </a:p>
        </p:txBody>
      </p:sp>
      <p:sp>
        <p:nvSpPr>
          <p:cNvPr id="29" name="Oval 28"/>
          <p:cNvSpPr/>
          <p:nvPr/>
        </p:nvSpPr>
        <p:spPr>
          <a:xfrm>
            <a:off x="1417320" y="5650992"/>
            <a:ext cx="182880" cy="18288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BDBD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783080" y="5522976"/>
            <a:ext cx="640080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200" b="0" i="0">
                <a:solidFill>
                  <a:srgbClr val="5C5C5C"/>
                </a:solidFill>
                <a:latin typeface="Segoe UI"/>
                <a:ea typeface="Segoe UI"/>
                <a:cs typeface="Segoe UI"/>
              </a:rPr>
              <a:t>Quantum Machine Learning (QML)</a:t>
            </a:r>
          </a:p>
        </p:txBody>
      </p:sp>
      <p:sp>
        <p:nvSpPr>
          <p:cNvPr id="31" name="Oval 30"/>
          <p:cNvSpPr/>
          <p:nvPr/>
        </p:nvSpPr>
        <p:spPr>
          <a:xfrm>
            <a:off x="1417320" y="6153912"/>
            <a:ext cx="182880" cy="182880"/>
          </a:xfrm>
          <a:prstGeom prst="ellipse">
            <a:avLst/>
          </a:prstGeom>
          <a:solidFill>
            <a:srgbClr val="FF91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783080" y="6025896"/>
            <a:ext cx="640080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200" b="0" i="0">
                <a:solidFill>
                  <a:srgbClr val="000000"/>
                </a:solidFill>
                <a:latin typeface="Segoe UI Semibold"/>
                <a:ea typeface="Segoe UI Semibold"/>
                <a:cs typeface="Segoe UI Semibold"/>
              </a:rPr>
              <a:t>Post-Quantum Cryptography (PQC)</a:t>
            </a:r>
          </a:p>
        </p:txBody>
      </p:sp>
      <p:sp>
        <p:nvSpPr>
          <p:cNvPr id="33" name="Oval 32"/>
          <p:cNvSpPr/>
          <p:nvPr/>
        </p:nvSpPr>
        <p:spPr>
          <a:xfrm>
            <a:off x="1417320" y="6656832"/>
            <a:ext cx="182880" cy="18288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BDBD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783080" y="6528816"/>
            <a:ext cx="640080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200" b="0" i="0">
                <a:solidFill>
                  <a:srgbClr val="5C5C5C"/>
                </a:solidFill>
                <a:latin typeface="Segoe UI"/>
                <a:ea typeface="Segoe UI"/>
                <a:cs typeface="Segoe UI"/>
              </a:rPr>
              <a:t>Web3 &amp; Blockchain</a:t>
            </a:r>
          </a:p>
        </p:txBody>
      </p:sp>
      <p:sp>
        <p:nvSpPr>
          <p:cNvPr id="35" name="Oval 34"/>
          <p:cNvSpPr/>
          <p:nvPr/>
        </p:nvSpPr>
        <p:spPr>
          <a:xfrm>
            <a:off x="1417320" y="7159752"/>
            <a:ext cx="182880" cy="18288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BDBD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783080" y="7031736"/>
            <a:ext cx="640080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200" b="0" i="0">
                <a:solidFill>
                  <a:srgbClr val="5C5C5C"/>
                </a:solidFill>
                <a:latin typeface="Segoe UI"/>
                <a:ea typeface="Segoe UI"/>
                <a:cs typeface="Segoe UI"/>
              </a:rPr>
              <a:t>Generative AI &amp; Machine Learning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058400" y="2926080"/>
            <a:ext cx="5577840" cy="11887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7200" b="0" i="0">
                <a:solidFill>
                  <a:srgbClr val="000000"/>
                </a:solidFill>
                <a:latin typeface="Bahnschrift SemiBold"/>
                <a:ea typeface="Bahnschrift SemiBold"/>
                <a:cs typeface="Bahnschrift SemiBold"/>
              </a:rPr>
              <a:t>Q-SHIELD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058400" y="4160520"/>
            <a:ext cx="5577840" cy="914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600" b="0" i="0">
                <a:solidFill>
                  <a:srgbClr val="1A1A1A"/>
                </a:solidFill>
                <a:latin typeface="Segoe UI Semibold"/>
                <a:ea typeface="Segoe UI Semibold"/>
                <a:cs typeface="Segoe UI Semibold"/>
              </a:rPr>
              <a:t>Continuous device trust with post-quantum-signed evidence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10058400" y="5349240"/>
            <a:ext cx="5486400" cy="0"/>
          </a:xfrm>
          <a:prstGeom prst="line">
            <a:avLst/>
          </a:prstGeom>
          <a:ln w="25400">
            <a:solidFill>
              <a:srgbClr val="FF91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10058400" y="5532120"/>
            <a:ext cx="5577840" cy="1371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2100" b="0" i="0">
                <a:solidFill>
                  <a:srgbClr val="1A1A1A"/>
                </a:solidFill>
                <a:latin typeface="Segoe UI"/>
                <a:ea typeface="Segoe UI"/>
                <a:cs typeface="Segoe UI"/>
              </a:rPr>
              <a:t>Authentication answers </a:t>
            </a:r>
            <a:r>
              <a:rPr sz="2100" b="0" i="0">
                <a:solidFill>
                  <a:srgbClr val="1A1A1A"/>
                </a:solidFill>
                <a:latin typeface="Segoe UI Semibold"/>
                <a:ea typeface="Segoe UI Semibold"/>
                <a:cs typeface="Segoe UI Semibold"/>
              </a:rPr>
              <a:t>who are you</a:t>
            </a:r>
            <a:r>
              <a:rPr sz="2100" b="0" i="0">
                <a:solidFill>
                  <a:srgbClr val="1A1A1A"/>
                </a:solidFill>
                <a:latin typeface="Segoe UI"/>
                <a:ea typeface="Segoe UI"/>
                <a:cs typeface="Segoe UI"/>
              </a:rPr>
              <a:t> once.</a:t>
            </a:r>
          </a:p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2100" b="0" i="0">
                <a:solidFill>
                  <a:srgbClr val="1A1A1A"/>
                </a:solidFill>
                <a:latin typeface="Segoe UI"/>
                <a:ea typeface="Segoe UI"/>
                <a:cs typeface="Segoe UI"/>
              </a:rPr>
              <a:t>Q-SHIELD keeps asking </a:t>
            </a:r>
            <a:r>
              <a:rPr sz="2100" b="0" i="0">
                <a:solidFill>
                  <a:srgbClr val="C2410C"/>
                </a:solidFill>
                <a:latin typeface="Segoe UI Semibold"/>
                <a:ea typeface="Segoe UI Semibold"/>
                <a:cs typeface="Segoe UI Semibold"/>
              </a:rPr>
              <a:t>can you still be trusted</a:t>
            </a:r>
            <a:r>
              <a:rPr sz="2100" b="0" i="0">
                <a:solidFill>
                  <a:srgbClr val="1A1A1A"/>
                </a:solidFill>
                <a:latin typeface="Segoe UI"/>
                <a:ea typeface="Segoe UI"/>
                <a:cs typeface="Segoe UI"/>
              </a:rPr>
              <a:t>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10058400" y="7223760"/>
            <a:ext cx="1554480" cy="685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>
            <a:noAutofit/>
          </a:bodyPr>
          <a:lstStyle/>
          <a:p>
            <a:pPr algn="ctr">
              <a:lnSpc>
                <a:spcPct val="100000"/>
              </a:lnSpc>
            </a:pPr>
            <a:r>
              <a:rPr sz="1900" b="0" i="0">
                <a:solidFill>
                  <a:srgbClr val="1A1A1A"/>
                </a:solidFill>
                <a:latin typeface="Segoe UI Semibold"/>
                <a:ea typeface="Segoe UI Semibold"/>
                <a:cs typeface="Segoe UI Semibold"/>
              </a:rPr>
              <a:t>Device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11649456" y="7566660"/>
            <a:ext cx="292608" cy="0"/>
          </a:xfrm>
          <a:prstGeom prst="line">
            <a:avLst/>
          </a:prstGeom>
          <a:ln w="22225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Rounded Rectangle 42"/>
          <p:cNvSpPr/>
          <p:nvPr/>
        </p:nvSpPr>
        <p:spPr>
          <a:xfrm>
            <a:off x="11978640" y="7223760"/>
            <a:ext cx="1554480" cy="685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>
            <a:noAutofit/>
          </a:bodyPr>
          <a:lstStyle/>
          <a:p>
            <a:pPr algn="ctr">
              <a:lnSpc>
                <a:spcPct val="100000"/>
              </a:lnSpc>
            </a:pPr>
            <a:r>
              <a:rPr sz="1900" b="0" i="0">
                <a:solidFill>
                  <a:srgbClr val="1A1A1A"/>
                </a:solidFill>
                <a:latin typeface="Segoe UI Semibold"/>
                <a:ea typeface="Segoe UI Semibold"/>
                <a:cs typeface="Segoe UI Semibold"/>
              </a:rPr>
              <a:t>Gateway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13569696" y="7566660"/>
            <a:ext cx="292608" cy="0"/>
          </a:xfrm>
          <a:prstGeom prst="line">
            <a:avLst/>
          </a:prstGeom>
          <a:ln w="22225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Rounded Rectangle 44"/>
          <p:cNvSpPr/>
          <p:nvPr/>
        </p:nvSpPr>
        <p:spPr>
          <a:xfrm>
            <a:off x="13898880" y="7223760"/>
            <a:ext cx="1554480" cy="685800"/>
          </a:xfrm>
          <a:prstGeom prst="roundRect">
            <a:avLst>
              <a:gd name="adj" fmla="val 12000"/>
            </a:avLst>
          </a:prstGeom>
          <a:solidFill>
            <a:srgbClr val="FF914D"/>
          </a:solidFill>
          <a:ln w="19050">
            <a:solidFill>
              <a:srgbClr val="FF91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>
            <a:noAutofit/>
          </a:bodyPr>
          <a:lstStyle/>
          <a:p>
            <a:pPr algn="ctr">
              <a:lnSpc>
                <a:spcPct val="100000"/>
              </a:lnSpc>
            </a:pPr>
            <a:r>
              <a:rPr sz="1900" b="0" i="0">
                <a:solidFill>
                  <a:srgbClr val="1A1A1A"/>
                </a:solidFill>
                <a:latin typeface="Segoe UI Semibold"/>
                <a:ea typeface="Segoe UI Semibold"/>
                <a:cs typeface="Segoe UI Semibold"/>
              </a:rPr>
              <a:t>Trust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058400" y="8092440"/>
            <a:ext cx="557784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0" i="0">
                <a:solidFill>
                  <a:srgbClr val="5C5C5C"/>
                </a:solidFill>
                <a:latin typeface="Consolas"/>
                <a:ea typeface="Consolas"/>
                <a:cs typeface="Consolas"/>
              </a:rPr>
              <a:t>ML-KEM-768 and ML-DSA-65 (FIPS 203, 204)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22960" y="9747504"/>
            <a:ext cx="822960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 i="0">
                <a:solidFill>
                  <a:srgbClr val="000000"/>
                </a:solidFill>
                <a:latin typeface="Segoe UI Semibold"/>
                <a:ea typeface="Segoe UI Semibold"/>
                <a:cs typeface="Segoe UI Semibold"/>
              </a:rPr>
              <a:t>Q-SHIELD</a:t>
            </a:r>
            <a:r>
              <a:rPr sz="1500" b="0" i="0">
                <a:solidFill>
                  <a:srgbClr val="000000"/>
                </a:solidFill>
                <a:latin typeface="Segoe UI"/>
                <a:ea typeface="Segoe UI"/>
                <a:cs typeface="Segoe UI"/>
              </a:rPr>
              <a:t>   continuous device trust with post-quantum-signed evidence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3350240" y="9747504"/>
            <a:ext cx="228600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500" b="0" i="0">
                <a:solidFill>
                  <a:srgbClr val="000000"/>
                </a:solidFill>
                <a:latin typeface="Segoe UI"/>
                <a:ea typeface="Segoe UI"/>
                <a:cs typeface="Segoe UI"/>
              </a:rPr>
              <a:t>1 / 24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name="Freeform 2" id="2"/>
          <p:cNvSpPr/>
          <p:nvPr/>
        </p:nvSpPr>
        <p:spPr>
          <a:xfrm flipH="false" flipV="false" rot="0">
            <a:off x="-350872" y="9407052"/>
            <a:ext cx="14979358" cy="908523"/>
          </a:xfrm>
          <a:custGeom>
            <a:avLst/>
            <a:gdLst/>
            <a:ahLst/>
            <a:cxnLst/>
            <a:rect r="r" b="b" t="t" l="l"/>
            <a:pathLst>
              <a:path h="908523" w="14979358">
                <a:moveTo>
                  <a:pt x="0" y="0"/>
                </a:moveTo>
                <a:lnTo>
                  <a:pt x="14979357" y="0"/>
                </a:lnTo>
                <a:lnTo>
                  <a:pt x="14979357" y="908523"/>
                </a:lnTo>
                <a:lnTo>
                  <a:pt x="0" y="90852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2273265" y="1130884"/>
            <a:ext cx="6870735" cy="543077"/>
            <a:chOff x="0" y="0"/>
            <a:chExt cx="9160980" cy="72410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9161018" cy="724154"/>
            </a:xfrm>
            <a:custGeom>
              <a:avLst/>
              <a:gdLst/>
              <a:ahLst/>
              <a:cxnLst/>
              <a:rect r="r" b="b" t="t" l="l"/>
              <a:pathLst>
                <a:path h="724154" w="9161018">
                  <a:moveTo>
                    <a:pt x="0" y="0"/>
                  </a:moveTo>
                  <a:lnTo>
                    <a:pt x="9161018" y="0"/>
                  </a:lnTo>
                  <a:lnTo>
                    <a:pt x="9161018" y="724154"/>
                  </a:lnTo>
                  <a:lnTo>
                    <a:pt x="0" y="72415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914D"/>
            </a:solidFill>
          </p:spPr>
        </p:sp>
      </p:grpSp>
      <p:grpSp>
        <p:nvGrpSpPr>
          <p:cNvPr name="Group 5" id="5"/>
          <p:cNvGrpSpPr/>
          <p:nvPr/>
        </p:nvGrpSpPr>
        <p:grpSpPr>
          <a:xfrm rot="-10800000">
            <a:off x="9124950" y="1130884"/>
            <a:ext cx="6870735" cy="543077"/>
            <a:chOff x="0" y="0"/>
            <a:chExt cx="9160980" cy="724103"/>
          </a:xfrm>
        </p:grpSpPr>
        <p:sp>
          <p:nvSpPr>
            <p:cNvPr name="Freeform 6" id="6"/>
            <p:cNvSpPr/>
            <p:nvPr/>
          </p:nvSpPr>
          <p:spPr>
            <a:xfrm flipH="false" flipV="true" rot="0">
              <a:off x="0" y="0"/>
              <a:ext cx="9161018" cy="724154"/>
            </a:xfrm>
            <a:custGeom>
              <a:avLst/>
              <a:gdLst/>
              <a:ahLst/>
              <a:cxnLst/>
              <a:rect r="r" b="b" t="t" l="l"/>
              <a:pathLst>
                <a:path h="724154" w="9161018">
                  <a:moveTo>
                    <a:pt x="0" y="724154"/>
                  </a:moveTo>
                  <a:lnTo>
                    <a:pt x="9161018" y="724154"/>
                  </a:lnTo>
                  <a:lnTo>
                    <a:pt x="9161018" y="0"/>
                  </a:lnTo>
                  <a:lnTo>
                    <a:pt x="0" y="0"/>
                  </a:lnTo>
                  <a:lnTo>
                    <a:pt x="0" y="724154"/>
                  </a:lnTo>
                  <a:close/>
                </a:path>
              </a:pathLst>
            </a:custGeom>
            <a:solidFill>
              <a:srgbClr val="FF914D"/>
            </a:solidFill>
          </p:spPr>
        </p:sp>
      </p:grpSp>
      <p:grpSp>
        <p:nvGrpSpPr>
          <p:cNvPr name="Group 7" id="7"/>
          <p:cNvGrpSpPr/>
          <p:nvPr/>
        </p:nvGrpSpPr>
        <p:grpSpPr>
          <a:xfrm rot="-10800000">
            <a:off x="-32871" y="1130884"/>
            <a:ext cx="3068079" cy="503739"/>
            <a:chOff x="0" y="0"/>
            <a:chExt cx="4090772" cy="671652"/>
          </a:xfrm>
        </p:grpSpPr>
        <p:sp>
          <p:nvSpPr>
            <p:cNvPr name="Freeform 8" id="8"/>
            <p:cNvSpPr/>
            <p:nvPr/>
          </p:nvSpPr>
          <p:spPr>
            <a:xfrm flipH="false" flipV="true" rot="0">
              <a:off x="0" y="0"/>
              <a:ext cx="4090797" cy="671703"/>
            </a:xfrm>
            <a:custGeom>
              <a:avLst/>
              <a:gdLst/>
              <a:ahLst/>
              <a:cxnLst/>
              <a:rect r="r" b="b" t="t" l="l"/>
              <a:pathLst>
                <a:path h="671703" w="4090797">
                  <a:moveTo>
                    <a:pt x="0" y="671703"/>
                  </a:moveTo>
                  <a:lnTo>
                    <a:pt x="4090797" y="671703"/>
                  </a:lnTo>
                  <a:lnTo>
                    <a:pt x="4090797" y="0"/>
                  </a:lnTo>
                  <a:lnTo>
                    <a:pt x="0" y="0"/>
                  </a:lnTo>
                  <a:lnTo>
                    <a:pt x="0" y="671703"/>
                  </a:lnTo>
                  <a:close/>
                </a:path>
              </a:pathLst>
            </a:custGeom>
            <a:solidFill>
              <a:srgbClr val="FF914D"/>
            </a:solidFill>
          </p:spPr>
        </p:sp>
      </p:grpSp>
      <p:sp>
        <p:nvSpPr>
          <p:cNvPr name="Freeform 9" id="9"/>
          <p:cNvSpPr/>
          <p:nvPr/>
        </p:nvSpPr>
        <p:spPr>
          <a:xfrm flipH="false" flipV="false" rot="-5400000">
            <a:off x="12120564" y="5052657"/>
            <a:ext cx="10084834" cy="2269088"/>
          </a:xfrm>
          <a:custGeom>
            <a:avLst/>
            <a:gdLst/>
            <a:ahLst/>
            <a:cxnLst/>
            <a:rect r="r" b="b" t="t" l="l"/>
            <a:pathLst>
              <a:path h="2269088" w="10084834">
                <a:moveTo>
                  <a:pt x="0" y="0"/>
                </a:moveTo>
                <a:lnTo>
                  <a:pt x="10084834" y="0"/>
                </a:lnTo>
                <a:lnTo>
                  <a:pt x="10084834" y="2269088"/>
                </a:lnTo>
                <a:lnTo>
                  <a:pt x="0" y="226908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-10800000">
            <a:off x="15248496" y="1130884"/>
            <a:ext cx="3068079" cy="503739"/>
            <a:chOff x="0" y="0"/>
            <a:chExt cx="4090772" cy="671652"/>
          </a:xfrm>
        </p:grpSpPr>
        <p:sp>
          <p:nvSpPr>
            <p:cNvPr name="Freeform 11" id="11"/>
            <p:cNvSpPr/>
            <p:nvPr/>
          </p:nvSpPr>
          <p:spPr>
            <a:xfrm flipH="false" flipV="true" rot="0">
              <a:off x="0" y="0"/>
              <a:ext cx="4090797" cy="671703"/>
            </a:xfrm>
            <a:custGeom>
              <a:avLst/>
              <a:gdLst/>
              <a:ahLst/>
              <a:cxnLst/>
              <a:rect r="r" b="b" t="t" l="l"/>
              <a:pathLst>
                <a:path h="671703" w="4090797">
                  <a:moveTo>
                    <a:pt x="0" y="671703"/>
                  </a:moveTo>
                  <a:lnTo>
                    <a:pt x="4090797" y="671703"/>
                  </a:lnTo>
                  <a:lnTo>
                    <a:pt x="4090797" y="0"/>
                  </a:lnTo>
                  <a:lnTo>
                    <a:pt x="0" y="0"/>
                  </a:lnTo>
                  <a:lnTo>
                    <a:pt x="0" y="671703"/>
                  </a:lnTo>
                  <a:close/>
                </a:path>
              </a:pathLst>
            </a:custGeom>
            <a:solidFill>
              <a:srgbClr val="FF914D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5688825" y="96222"/>
            <a:ext cx="2423739" cy="924096"/>
            <a:chOff x="0" y="0"/>
            <a:chExt cx="2307438" cy="879754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307463" cy="879729"/>
            </a:xfrm>
            <a:custGeom>
              <a:avLst/>
              <a:gdLst/>
              <a:ahLst/>
              <a:cxnLst/>
              <a:rect r="r" b="b" t="t" l="l"/>
              <a:pathLst>
                <a:path h="879729" w="2307463">
                  <a:moveTo>
                    <a:pt x="0" y="0"/>
                  </a:moveTo>
                  <a:lnTo>
                    <a:pt x="2307463" y="0"/>
                  </a:lnTo>
                  <a:lnTo>
                    <a:pt x="2307463" y="879729"/>
                  </a:lnTo>
                  <a:lnTo>
                    <a:pt x="0" y="8797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-76294" r="1" b="-85995"/>
              </a:stretch>
            </a:blipFill>
          </p:spPr>
        </p:sp>
      </p:grpSp>
      <p:sp>
        <p:nvSpPr>
          <p:cNvPr name="Freeform 14" id="14"/>
          <p:cNvSpPr/>
          <p:nvPr/>
        </p:nvSpPr>
        <p:spPr>
          <a:xfrm flipH="false" flipV="false" rot="0">
            <a:off x="9857003" y="9407052"/>
            <a:ext cx="14979358" cy="908523"/>
          </a:xfrm>
          <a:custGeom>
            <a:avLst/>
            <a:gdLst/>
            <a:ahLst/>
            <a:cxnLst/>
            <a:rect r="r" b="b" t="t" l="l"/>
            <a:pathLst>
              <a:path h="908523" w="14979358">
                <a:moveTo>
                  <a:pt x="0" y="0"/>
                </a:moveTo>
                <a:lnTo>
                  <a:pt x="14979358" y="0"/>
                </a:lnTo>
                <a:lnTo>
                  <a:pt x="14979358" y="908523"/>
                </a:lnTo>
                <a:lnTo>
                  <a:pt x="0" y="90852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252268" y="89049"/>
            <a:ext cx="2497801" cy="1034663"/>
          </a:xfrm>
          <a:custGeom>
            <a:avLst/>
            <a:gdLst/>
            <a:ahLst/>
            <a:cxnLst/>
            <a:rect r="r" b="b" t="t" l="l"/>
            <a:pathLst>
              <a:path h="1034663" w="2497801">
                <a:moveTo>
                  <a:pt x="0" y="0"/>
                </a:moveTo>
                <a:lnTo>
                  <a:pt x="2497801" y="0"/>
                </a:lnTo>
                <a:lnTo>
                  <a:pt x="2497801" y="1034663"/>
                </a:lnTo>
                <a:lnTo>
                  <a:pt x="0" y="103466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5988" t="-27243" r="-4375" b="-52819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6236411" y="74654"/>
            <a:ext cx="5815177" cy="987762"/>
          </a:xfrm>
          <a:custGeom>
            <a:avLst/>
            <a:gdLst/>
            <a:ahLst/>
            <a:cxnLst/>
            <a:rect r="r" b="b" t="t" l="l"/>
            <a:pathLst>
              <a:path h="987762" w="5815177">
                <a:moveTo>
                  <a:pt x="0" y="0"/>
                </a:moveTo>
                <a:lnTo>
                  <a:pt x="5815178" y="0"/>
                </a:lnTo>
                <a:lnTo>
                  <a:pt x="5815178" y="987762"/>
                </a:lnTo>
                <a:lnTo>
                  <a:pt x="0" y="987762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-11062" t="-153011" r="-9149" b="-154810"/>
            </a:stretch>
          </a:blipFill>
        </p:spPr>
      </p:sp>
      <p:sp>
        <p:nvSpPr>
          <p:cNvPr id="20" name="TextBox 19"/>
          <p:cNvSpPr txBox="1"/>
          <p:nvPr/>
        </p:nvSpPr>
        <p:spPr>
          <a:xfrm>
            <a:off x="822960" y="1874520"/>
            <a:ext cx="14813280" cy="7315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4000" b="0" i="0">
                <a:solidFill>
                  <a:srgbClr val="000000"/>
                </a:solidFill>
                <a:latin typeface="Bahnschrift SemiBold"/>
                <a:ea typeface="Bahnschrift SemiBold"/>
                <a:cs typeface="Bahnschrift SemiBold"/>
              </a:rPr>
              <a:t>2. Problem Definition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2578608"/>
            <a:ext cx="1481328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100" b="0" i="0">
                <a:solidFill>
                  <a:srgbClr val="5C5C5C"/>
                </a:solidFill>
                <a:latin typeface="Segoe UI"/>
                <a:ea typeface="Segoe UI"/>
                <a:cs typeface="Segoe UI"/>
              </a:rPr>
              <a:t>Problem description: authenticated is not the same as trustworthy</a:t>
            </a:r>
          </a:p>
        </p:txBody>
      </p:sp>
      <p:sp>
        <p:nvSpPr>
          <p:cNvPr id="22" name="Oval 21"/>
          <p:cNvSpPr/>
          <p:nvPr/>
        </p:nvSpPr>
        <p:spPr>
          <a:xfrm>
            <a:off x="822960" y="3063240"/>
            <a:ext cx="128016" cy="128016"/>
          </a:xfrm>
          <a:prstGeom prst="ellipse">
            <a:avLst/>
          </a:prstGeom>
          <a:solidFill>
            <a:srgbClr val="FFFFFF"/>
          </a:solidFill>
          <a:ln w="22225">
            <a:solidFill>
              <a:srgbClr val="FF91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3" name="Connector 22"/>
          <p:cNvCxnSpPr/>
          <p:nvPr/>
        </p:nvCxnSpPr>
        <p:spPr>
          <a:xfrm>
            <a:off x="950976" y="3127248"/>
            <a:ext cx="1335024" cy="0"/>
          </a:xfrm>
          <a:prstGeom prst="line">
            <a:avLst/>
          </a:prstGeom>
          <a:ln w="22225">
            <a:solidFill>
              <a:srgbClr val="FF91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822960" y="3429000"/>
            <a:ext cx="5669280" cy="53035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2200" b="0" i="0">
                <a:solidFill>
                  <a:srgbClr val="1A1A1A"/>
                </a:solidFill>
                <a:latin typeface="Segoe UI Semibold"/>
                <a:ea typeface="Segoe UI Semibold"/>
                <a:cs typeface="Segoe UI Semibold"/>
              </a:rPr>
              <a:t>A device passes authentication. Then:</a:t>
            </a:r>
          </a:p>
          <a:p>
            <a:pPr algn="l" marL="292608" indent="-292608">
              <a:lnSpc>
                <a:spcPct val="108000"/>
              </a:lnSpc>
              <a:spcAft>
                <a:spcPts val="400"/>
              </a:spcAft>
              <a:buClr>
                <a:srgbClr val="FF914D"/>
              </a:buClr>
              <a:buSzPct val="70000"/>
              <a:buFont typeface="Arial"/>
              <a:buChar char="■"/>
            </a:pPr>
            <a:r>
              <a:rPr sz="2200" b="0" i="0">
                <a:solidFill>
                  <a:srgbClr val="1A1A1A"/>
                </a:solidFill>
                <a:latin typeface="Segoe UI"/>
                <a:ea typeface="Segoe UI"/>
                <a:cs typeface="Segoe UI"/>
              </a:rPr>
              <a:t>its enclosure is opened</a:t>
            </a:r>
          </a:p>
          <a:p>
            <a:pPr algn="l" marL="292608" indent="-292608">
              <a:lnSpc>
                <a:spcPct val="108000"/>
              </a:lnSpc>
              <a:spcAft>
                <a:spcPts val="400"/>
              </a:spcAft>
              <a:buClr>
                <a:srgbClr val="FF914D"/>
              </a:buClr>
              <a:buSzPct val="70000"/>
              <a:buFont typeface="Arial"/>
              <a:buChar char="■"/>
            </a:pPr>
            <a:r>
              <a:rPr sz="2200" b="0" i="0">
                <a:solidFill>
                  <a:srgbClr val="1A1A1A"/>
                </a:solidFill>
                <a:latin typeface="Segoe UI"/>
                <a:ea typeface="Segoe UI"/>
                <a:cs typeface="Segoe UI"/>
              </a:rPr>
              <a:t>its configuration drifts</a:t>
            </a:r>
          </a:p>
          <a:p>
            <a:pPr algn="l" marL="292608" indent="-292608">
              <a:lnSpc>
                <a:spcPct val="108000"/>
              </a:lnSpc>
              <a:spcAft>
                <a:spcPts val="400"/>
              </a:spcAft>
              <a:buClr>
                <a:srgbClr val="FF914D"/>
              </a:buClr>
              <a:buSzPct val="70000"/>
              <a:buFont typeface="Arial"/>
              <a:buChar char="■"/>
            </a:pPr>
            <a:r>
              <a:rPr sz="2200" b="0" i="0">
                <a:solidFill>
                  <a:srgbClr val="1A1A1A"/>
                </a:solidFill>
                <a:latin typeface="Segoe UI"/>
                <a:ea typeface="Segoe UI"/>
                <a:cs typeface="Segoe UI"/>
              </a:rPr>
              <a:t>its camera is covered or turned</a:t>
            </a:r>
          </a:p>
          <a:p>
            <a:pPr algn="l" marL="292608" indent="-292608">
              <a:lnSpc>
                <a:spcPct val="108000"/>
              </a:lnSpc>
              <a:spcAft>
                <a:spcPts val="1600"/>
              </a:spcAft>
              <a:buClr>
                <a:srgbClr val="FF914D"/>
              </a:buClr>
              <a:buSzPct val="70000"/>
              <a:buFont typeface="Arial"/>
              <a:buChar char="■"/>
            </a:pPr>
            <a:r>
              <a:rPr sz="2200" b="0" i="0">
                <a:solidFill>
                  <a:srgbClr val="1A1A1A"/>
                </a:solidFill>
                <a:latin typeface="Segoe UI"/>
                <a:ea typeface="Segoe UI"/>
                <a:cs typeface="Segoe UI"/>
              </a:rPr>
              <a:t>its messages are forged or replayed</a:t>
            </a:r>
          </a:p>
          <a:p>
            <a:pPr algn="l">
              <a:lnSpc>
                <a:spcPct val="108000"/>
              </a:lnSpc>
              <a:spcAft>
                <a:spcPts val="1600"/>
              </a:spcAft>
            </a:pPr>
            <a:r>
              <a:rPr sz="2200" b="0" i="0">
                <a:solidFill>
                  <a:srgbClr val="1A1A1A"/>
                </a:solidFill>
                <a:latin typeface="Segoe UI"/>
                <a:ea typeface="Segoe UI"/>
                <a:cs typeface="Segoe UI"/>
              </a:rPr>
              <a:t>One-time authentication still says </a:t>
            </a:r>
            <a:r>
              <a:rPr sz="2200" b="0" i="0">
                <a:solidFill>
                  <a:srgbClr val="1A1A1A"/>
                </a:solidFill>
                <a:latin typeface="Segoe UI Semibold"/>
                <a:ea typeface="Segoe UI Semibold"/>
                <a:cs typeface="Segoe UI Semibold"/>
              </a:rPr>
              <a:t>trusted</a:t>
            </a:r>
            <a:r>
              <a:rPr sz="2200" b="0" i="0">
                <a:solidFill>
                  <a:srgbClr val="1A1A1A"/>
                </a:solidFill>
                <a:latin typeface="Segoe UI"/>
                <a:ea typeface="Segoe UI"/>
                <a:cs typeface="Segoe UI"/>
              </a:rPr>
              <a:t>.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200" b="0" i="0">
                <a:solidFill>
                  <a:srgbClr val="1A1A1A"/>
                </a:solidFill>
                <a:latin typeface="Segoe UI"/>
                <a:ea typeface="Segoe UI"/>
                <a:cs typeface="Segoe UI"/>
              </a:rPr>
              <a:t>Evidence recorded today must also stay unforgeable when quantum computers arrive.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6675120" y="5989320"/>
            <a:ext cx="8778240" cy="0"/>
          </a:xfrm>
          <a:prstGeom prst="line">
            <a:avLst/>
          </a:prstGeom>
          <a:ln w="2540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Oval 25"/>
          <p:cNvSpPr/>
          <p:nvPr/>
        </p:nvSpPr>
        <p:spPr>
          <a:xfrm>
            <a:off x="6848856" y="5843016"/>
            <a:ext cx="292608" cy="292608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55080" y="4526280"/>
            <a:ext cx="1463040" cy="914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800" b="0" i="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t0</a:t>
            </a:r>
          </a:p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800" b="0" i="0">
                <a:solidFill>
                  <a:srgbClr val="1A1A1A"/>
                </a:solidFill>
                <a:latin typeface="Segoe UI Semibold"/>
                <a:ea typeface="Segoe UI Semibold"/>
                <a:cs typeface="Segoe UI Semibold"/>
              </a:rPr>
              <a:t>authenticate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55080" y="6309360"/>
            <a:ext cx="146304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700" b="0" i="0">
                <a:solidFill>
                  <a:srgbClr val="5C5C5C"/>
                </a:solidFill>
                <a:latin typeface="Segoe UI"/>
                <a:ea typeface="Segoe UI"/>
                <a:cs typeface="Segoe UI"/>
              </a:rPr>
              <a:t>trusted</a:t>
            </a:r>
          </a:p>
        </p:txBody>
      </p:sp>
      <p:sp>
        <p:nvSpPr>
          <p:cNvPr id="29" name="Oval 28"/>
          <p:cNvSpPr/>
          <p:nvPr/>
        </p:nvSpPr>
        <p:spPr>
          <a:xfrm>
            <a:off x="8641080" y="5852160"/>
            <a:ext cx="274320" cy="274320"/>
          </a:xfrm>
          <a:prstGeom prst="ellipse">
            <a:avLst/>
          </a:prstGeom>
          <a:solidFill>
            <a:srgbClr val="FF91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818120" y="4572000"/>
            <a:ext cx="1920240" cy="10058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900" b="0" i="0">
                <a:solidFill>
                  <a:srgbClr val="1A1A1A"/>
                </a:solidFill>
                <a:latin typeface="Segoe UI Semibold"/>
                <a:ea typeface="Segoe UI Semibold"/>
                <a:cs typeface="Segoe UI Semibold"/>
              </a:rPr>
              <a:t>enclosure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900" b="0" i="0">
                <a:solidFill>
                  <a:srgbClr val="1A1A1A"/>
                </a:solidFill>
                <a:latin typeface="Segoe UI Semibold"/>
                <a:ea typeface="Segoe UI Semibold"/>
                <a:cs typeface="Segoe UI Semibold"/>
              </a:rPr>
              <a:t>opened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818120" y="6263640"/>
            <a:ext cx="192024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600" b="0" i="0">
                <a:solidFill>
                  <a:srgbClr val="5C5C5C"/>
                </a:solidFill>
                <a:latin typeface="Consolas"/>
                <a:ea typeface="Consolas"/>
                <a:cs typeface="Consolas"/>
              </a:rPr>
              <a:t>still trusted</a:t>
            </a:r>
          </a:p>
        </p:txBody>
      </p:sp>
      <p:sp>
        <p:nvSpPr>
          <p:cNvPr id="32" name="Oval 31"/>
          <p:cNvSpPr/>
          <p:nvPr/>
        </p:nvSpPr>
        <p:spPr>
          <a:xfrm>
            <a:off x="10607040" y="5852160"/>
            <a:ext cx="274320" cy="274320"/>
          </a:xfrm>
          <a:prstGeom prst="ellipse">
            <a:avLst/>
          </a:prstGeom>
          <a:solidFill>
            <a:srgbClr val="FF91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784080" y="4572000"/>
            <a:ext cx="1920240" cy="10058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900" b="0" i="0">
                <a:solidFill>
                  <a:srgbClr val="1A1A1A"/>
                </a:solidFill>
                <a:latin typeface="Segoe UI Semibold"/>
                <a:ea typeface="Segoe UI Semibold"/>
                <a:cs typeface="Segoe UI Semibold"/>
              </a:rPr>
              <a:t>configuration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900" b="0" i="0">
                <a:solidFill>
                  <a:srgbClr val="1A1A1A"/>
                </a:solidFill>
                <a:latin typeface="Segoe UI Semibold"/>
                <a:ea typeface="Segoe UI Semibold"/>
                <a:cs typeface="Segoe UI Semibold"/>
              </a:rPr>
              <a:t>drift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784080" y="6263640"/>
            <a:ext cx="192024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600" b="0" i="0">
                <a:solidFill>
                  <a:srgbClr val="5C5C5C"/>
                </a:solidFill>
                <a:latin typeface="Consolas"/>
                <a:ea typeface="Consolas"/>
                <a:cs typeface="Consolas"/>
              </a:rPr>
              <a:t>still trusted</a:t>
            </a:r>
          </a:p>
        </p:txBody>
      </p:sp>
      <p:sp>
        <p:nvSpPr>
          <p:cNvPr id="35" name="Oval 34"/>
          <p:cNvSpPr/>
          <p:nvPr/>
        </p:nvSpPr>
        <p:spPr>
          <a:xfrm>
            <a:off x="12573000" y="5852160"/>
            <a:ext cx="274320" cy="274320"/>
          </a:xfrm>
          <a:prstGeom prst="ellipse">
            <a:avLst/>
          </a:prstGeom>
          <a:solidFill>
            <a:srgbClr val="FF91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1750040" y="4572000"/>
            <a:ext cx="1920240" cy="10058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900" b="0" i="0">
                <a:solidFill>
                  <a:srgbClr val="1A1A1A"/>
                </a:solidFill>
                <a:latin typeface="Segoe UI Semibold"/>
                <a:ea typeface="Segoe UI Semibold"/>
                <a:cs typeface="Segoe UI Semibold"/>
              </a:rPr>
              <a:t>camera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900" b="0" i="0">
                <a:solidFill>
                  <a:srgbClr val="1A1A1A"/>
                </a:solidFill>
                <a:latin typeface="Segoe UI Semibold"/>
                <a:ea typeface="Segoe UI Semibold"/>
                <a:cs typeface="Segoe UI Semibold"/>
              </a:rPr>
              <a:t>blinded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750040" y="6263640"/>
            <a:ext cx="192024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600" b="0" i="0">
                <a:solidFill>
                  <a:srgbClr val="5C5C5C"/>
                </a:solidFill>
                <a:latin typeface="Consolas"/>
                <a:ea typeface="Consolas"/>
                <a:cs typeface="Consolas"/>
              </a:rPr>
              <a:t>still trusted</a:t>
            </a:r>
          </a:p>
        </p:txBody>
      </p:sp>
      <p:sp>
        <p:nvSpPr>
          <p:cNvPr id="38" name="Oval 37"/>
          <p:cNvSpPr/>
          <p:nvPr/>
        </p:nvSpPr>
        <p:spPr>
          <a:xfrm>
            <a:off x="14493240" y="5852160"/>
            <a:ext cx="274320" cy="274320"/>
          </a:xfrm>
          <a:prstGeom prst="ellipse">
            <a:avLst/>
          </a:prstGeom>
          <a:solidFill>
            <a:srgbClr val="FF91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3670280" y="4572000"/>
            <a:ext cx="1920240" cy="10058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900" b="0" i="0">
                <a:solidFill>
                  <a:srgbClr val="1A1A1A"/>
                </a:solidFill>
                <a:latin typeface="Segoe UI Semibold"/>
                <a:ea typeface="Segoe UI Semibold"/>
                <a:cs typeface="Segoe UI Semibold"/>
              </a:rPr>
              <a:t>forged or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900" b="0" i="0">
                <a:solidFill>
                  <a:srgbClr val="1A1A1A"/>
                </a:solidFill>
                <a:latin typeface="Segoe UI Semibold"/>
                <a:ea typeface="Segoe UI Semibold"/>
                <a:cs typeface="Segoe UI Semibold"/>
              </a:rPr>
              <a:t>replayed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3670280" y="6263640"/>
            <a:ext cx="192024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600" b="0" i="0">
                <a:solidFill>
                  <a:srgbClr val="5C5C5C"/>
                </a:solidFill>
                <a:latin typeface="Consolas"/>
                <a:ea typeface="Consolas"/>
                <a:cs typeface="Consolas"/>
              </a:rPr>
              <a:t>still trusted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8641080" y="7086600"/>
            <a:ext cx="6126480" cy="0"/>
          </a:xfrm>
          <a:prstGeom prst="line">
            <a:avLst/>
          </a:prstGeom>
          <a:ln w="38100">
            <a:solidFill>
              <a:srgbClr val="FF91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8641080" y="6858000"/>
            <a:ext cx="0" cy="228600"/>
          </a:xfrm>
          <a:prstGeom prst="line">
            <a:avLst/>
          </a:prstGeom>
          <a:ln w="38100">
            <a:solidFill>
              <a:srgbClr val="FF91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14767560" y="6858000"/>
            <a:ext cx="0" cy="228600"/>
          </a:xfrm>
          <a:prstGeom prst="line">
            <a:avLst/>
          </a:prstGeom>
          <a:ln w="38100">
            <a:solidFill>
              <a:srgbClr val="FF91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8641080" y="7269480"/>
            <a:ext cx="6126480" cy="914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2000" b="0" i="0">
                <a:solidFill>
                  <a:srgbClr val="C2410C"/>
                </a:solidFill>
                <a:latin typeface="Segoe UI Semibold"/>
                <a:ea typeface="Segoe UI Semibold"/>
                <a:cs typeface="Segoe UI Semibold"/>
              </a:rPr>
              <a:t>trust should change here</a:t>
            </a:r>
          </a:p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2000" b="0" i="0">
                <a:solidFill>
                  <a:srgbClr val="5C5C5C"/>
                </a:solidFill>
                <a:latin typeface="Segoe UI"/>
                <a:ea typeface="Segoe UI"/>
                <a:cs typeface="Segoe UI"/>
              </a:rPr>
              <a:t>but authentication never asks again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22960" y="9747504"/>
            <a:ext cx="822960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 i="0">
                <a:solidFill>
                  <a:srgbClr val="000000"/>
                </a:solidFill>
                <a:latin typeface="Segoe UI Semibold"/>
                <a:ea typeface="Segoe UI Semibold"/>
                <a:cs typeface="Segoe UI Semibold"/>
              </a:rPr>
              <a:t>Q-SHIELD</a:t>
            </a:r>
            <a:r>
              <a:rPr sz="1500" b="0" i="0">
                <a:solidFill>
                  <a:srgbClr val="000000"/>
                </a:solidFill>
                <a:latin typeface="Segoe UI"/>
                <a:ea typeface="Segoe UI"/>
                <a:cs typeface="Segoe UI"/>
              </a:rPr>
              <a:t>   continuous device trust with post-quantum-signed evidence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3350240" y="9747504"/>
            <a:ext cx="228600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500" b="0" i="0">
                <a:solidFill>
                  <a:srgbClr val="000000"/>
                </a:solidFill>
                <a:latin typeface="Segoe UI"/>
                <a:ea typeface="Segoe UI"/>
                <a:cs typeface="Segoe UI"/>
              </a:rPr>
              <a:t>2 / 24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name="Freeform 2" id="2"/>
          <p:cNvSpPr/>
          <p:nvPr/>
        </p:nvSpPr>
        <p:spPr>
          <a:xfrm flipH="false" flipV="false" rot="0">
            <a:off x="-350872" y="9407052"/>
            <a:ext cx="14979358" cy="908523"/>
          </a:xfrm>
          <a:custGeom>
            <a:avLst/>
            <a:gdLst/>
            <a:ahLst/>
            <a:cxnLst/>
            <a:rect r="r" b="b" t="t" l="l"/>
            <a:pathLst>
              <a:path h="908523" w="14979358">
                <a:moveTo>
                  <a:pt x="0" y="0"/>
                </a:moveTo>
                <a:lnTo>
                  <a:pt x="14979357" y="0"/>
                </a:lnTo>
                <a:lnTo>
                  <a:pt x="14979357" y="908523"/>
                </a:lnTo>
                <a:lnTo>
                  <a:pt x="0" y="90852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2273265" y="1130884"/>
            <a:ext cx="6870735" cy="543077"/>
            <a:chOff x="0" y="0"/>
            <a:chExt cx="9160980" cy="72410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9161018" cy="724154"/>
            </a:xfrm>
            <a:custGeom>
              <a:avLst/>
              <a:gdLst/>
              <a:ahLst/>
              <a:cxnLst/>
              <a:rect r="r" b="b" t="t" l="l"/>
              <a:pathLst>
                <a:path h="724154" w="9161018">
                  <a:moveTo>
                    <a:pt x="0" y="0"/>
                  </a:moveTo>
                  <a:lnTo>
                    <a:pt x="9161018" y="0"/>
                  </a:lnTo>
                  <a:lnTo>
                    <a:pt x="9161018" y="724154"/>
                  </a:lnTo>
                  <a:lnTo>
                    <a:pt x="0" y="72415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914D"/>
            </a:solidFill>
          </p:spPr>
        </p:sp>
      </p:grpSp>
      <p:grpSp>
        <p:nvGrpSpPr>
          <p:cNvPr name="Group 5" id="5"/>
          <p:cNvGrpSpPr/>
          <p:nvPr/>
        </p:nvGrpSpPr>
        <p:grpSpPr>
          <a:xfrm rot="-10800000">
            <a:off x="9124950" y="1130884"/>
            <a:ext cx="6870735" cy="543077"/>
            <a:chOff x="0" y="0"/>
            <a:chExt cx="9160980" cy="724103"/>
          </a:xfrm>
        </p:grpSpPr>
        <p:sp>
          <p:nvSpPr>
            <p:cNvPr name="Freeform 6" id="6"/>
            <p:cNvSpPr/>
            <p:nvPr/>
          </p:nvSpPr>
          <p:spPr>
            <a:xfrm flipH="false" flipV="true" rot="0">
              <a:off x="0" y="0"/>
              <a:ext cx="9161018" cy="724154"/>
            </a:xfrm>
            <a:custGeom>
              <a:avLst/>
              <a:gdLst/>
              <a:ahLst/>
              <a:cxnLst/>
              <a:rect r="r" b="b" t="t" l="l"/>
              <a:pathLst>
                <a:path h="724154" w="9161018">
                  <a:moveTo>
                    <a:pt x="0" y="724154"/>
                  </a:moveTo>
                  <a:lnTo>
                    <a:pt x="9161018" y="724154"/>
                  </a:lnTo>
                  <a:lnTo>
                    <a:pt x="9161018" y="0"/>
                  </a:lnTo>
                  <a:lnTo>
                    <a:pt x="0" y="0"/>
                  </a:lnTo>
                  <a:lnTo>
                    <a:pt x="0" y="724154"/>
                  </a:lnTo>
                  <a:close/>
                </a:path>
              </a:pathLst>
            </a:custGeom>
            <a:solidFill>
              <a:srgbClr val="FF914D"/>
            </a:solidFill>
          </p:spPr>
        </p:sp>
      </p:grpSp>
      <p:grpSp>
        <p:nvGrpSpPr>
          <p:cNvPr name="Group 7" id="7"/>
          <p:cNvGrpSpPr/>
          <p:nvPr/>
        </p:nvGrpSpPr>
        <p:grpSpPr>
          <a:xfrm rot="-10800000">
            <a:off x="-32871" y="1130884"/>
            <a:ext cx="3068079" cy="503739"/>
            <a:chOff x="0" y="0"/>
            <a:chExt cx="4090772" cy="671652"/>
          </a:xfrm>
        </p:grpSpPr>
        <p:sp>
          <p:nvSpPr>
            <p:cNvPr name="Freeform 8" id="8"/>
            <p:cNvSpPr/>
            <p:nvPr/>
          </p:nvSpPr>
          <p:spPr>
            <a:xfrm flipH="false" flipV="true" rot="0">
              <a:off x="0" y="0"/>
              <a:ext cx="4090797" cy="671703"/>
            </a:xfrm>
            <a:custGeom>
              <a:avLst/>
              <a:gdLst/>
              <a:ahLst/>
              <a:cxnLst/>
              <a:rect r="r" b="b" t="t" l="l"/>
              <a:pathLst>
                <a:path h="671703" w="4090797">
                  <a:moveTo>
                    <a:pt x="0" y="671703"/>
                  </a:moveTo>
                  <a:lnTo>
                    <a:pt x="4090797" y="671703"/>
                  </a:lnTo>
                  <a:lnTo>
                    <a:pt x="4090797" y="0"/>
                  </a:lnTo>
                  <a:lnTo>
                    <a:pt x="0" y="0"/>
                  </a:lnTo>
                  <a:lnTo>
                    <a:pt x="0" y="671703"/>
                  </a:lnTo>
                  <a:close/>
                </a:path>
              </a:pathLst>
            </a:custGeom>
            <a:solidFill>
              <a:srgbClr val="FF914D"/>
            </a:solidFill>
          </p:spPr>
        </p:sp>
      </p:grpSp>
      <p:sp>
        <p:nvSpPr>
          <p:cNvPr name="Freeform 9" id="9"/>
          <p:cNvSpPr/>
          <p:nvPr/>
        </p:nvSpPr>
        <p:spPr>
          <a:xfrm flipH="false" flipV="false" rot="-5400000">
            <a:off x="12120564" y="5052657"/>
            <a:ext cx="10084834" cy="2269088"/>
          </a:xfrm>
          <a:custGeom>
            <a:avLst/>
            <a:gdLst/>
            <a:ahLst/>
            <a:cxnLst/>
            <a:rect r="r" b="b" t="t" l="l"/>
            <a:pathLst>
              <a:path h="2269088" w="10084834">
                <a:moveTo>
                  <a:pt x="0" y="0"/>
                </a:moveTo>
                <a:lnTo>
                  <a:pt x="10084834" y="0"/>
                </a:lnTo>
                <a:lnTo>
                  <a:pt x="10084834" y="2269088"/>
                </a:lnTo>
                <a:lnTo>
                  <a:pt x="0" y="226908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-10800000">
            <a:off x="15248496" y="1130884"/>
            <a:ext cx="3068079" cy="503739"/>
            <a:chOff x="0" y="0"/>
            <a:chExt cx="4090772" cy="671652"/>
          </a:xfrm>
        </p:grpSpPr>
        <p:sp>
          <p:nvSpPr>
            <p:cNvPr name="Freeform 11" id="11"/>
            <p:cNvSpPr/>
            <p:nvPr/>
          </p:nvSpPr>
          <p:spPr>
            <a:xfrm flipH="false" flipV="true" rot="0">
              <a:off x="0" y="0"/>
              <a:ext cx="4090797" cy="671703"/>
            </a:xfrm>
            <a:custGeom>
              <a:avLst/>
              <a:gdLst/>
              <a:ahLst/>
              <a:cxnLst/>
              <a:rect r="r" b="b" t="t" l="l"/>
              <a:pathLst>
                <a:path h="671703" w="4090797">
                  <a:moveTo>
                    <a:pt x="0" y="671703"/>
                  </a:moveTo>
                  <a:lnTo>
                    <a:pt x="4090797" y="671703"/>
                  </a:lnTo>
                  <a:lnTo>
                    <a:pt x="4090797" y="0"/>
                  </a:lnTo>
                  <a:lnTo>
                    <a:pt x="0" y="0"/>
                  </a:lnTo>
                  <a:lnTo>
                    <a:pt x="0" y="671703"/>
                  </a:lnTo>
                  <a:close/>
                </a:path>
              </a:pathLst>
            </a:custGeom>
            <a:solidFill>
              <a:srgbClr val="FF914D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5688825" y="96222"/>
            <a:ext cx="2423739" cy="924096"/>
            <a:chOff x="0" y="0"/>
            <a:chExt cx="2307438" cy="879754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307463" cy="879729"/>
            </a:xfrm>
            <a:custGeom>
              <a:avLst/>
              <a:gdLst/>
              <a:ahLst/>
              <a:cxnLst/>
              <a:rect r="r" b="b" t="t" l="l"/>
              <a:pathLst>
                <a:path h="879729" w="2307463">
                  <a:moveTo>
                    <a:pt x="0" y="0"/>
                  </a:moveTo>
                  <a:lnTo>
                    <a:pt x="2307463" y="0"/>
                  </a:lnTo>
                  <a:lnTo>
                    <a:pt x="2307463" y="879729"/>
                  </a:lnTo>
                  <a:lnTo>
                    <a:pt x="0" y="8797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-76294" r="1" b="-85995"/>
              </a:stretch>
            </a:blipFill>
          </p:spPr>
        </p:sp>
      </p:grpSp>
      <p:sp>
        <p:nvSpPr>
          <p:cNvPr name="Freeform 14" id="14"/>
          <p:cNvSpPr/>
          <p:nvPr/>
        </p:nvSpPr>
        <p:spPr>
          <a:xfrm flipH="false" flipV="false" rot="0">
            <a:off x="9857003" y="9407052"/>
            <a:ext cx="14979358" cy="908523"/>
          </a:xfrm>
          <a:custGeom>
            <a:avLst/>
            <a:gdLst/>
            <a:ahLst/>
            <a:cxnLst/>
            <a:rect r="r" b="b" t="t" l="l"/>
            <a:pathLst>
              <a:path h="908523" w="14979358">
                <a:moveTo>
                  <a:pt x="0" y="0"/>
                </a:moveTo>
                <a:lnTo>
                  <a:pt x="14979358" y="0"/>
                </a:lnTo>
                <a:lnTo>
                  <a:pt x="14979358" y="908523"/>
                </a:lnTo>
                <a:lnTo>
                  <a:pt x="0" y="90852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252268" y="89049"/>
            <a:ext cx="2497801" cy="1034663"/>
          </a:xfrm>
          <a:custGeom>
            <a:avLst/>
            <a:gdLst/>
            <a:ahLst/>
            <a:cxnLst/>
            <a:rect r="r" b="b" t="t" l="l"/>
            <a:pathLst>
              <a:path h="1034663" w="2497801">
                <a:moveTo>
                  <a:pt x="0" y="0"/>
                </a:moveTo>
                <a:lnTo>
                  <a:pt x="2497801" y="0"/>
                </a:lnTo>
                <a:lnTo>
                  <a:pt x="2497801" y="1034663"/>
                </a:lnTo>
                <a:lnTo>
                  <a:pt x="0" y="103466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5988" t="-27243" r="-4375" b="-52819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6236411" y="74654"/>
            <a:ext cx="5815177" cy="987762"/>
          </a:xfrm>
          <a:custGeom>
            <a:avLst/>
            <a:gdLst/>
            <a:ahLst/>
            <a:cxnLst/>
            <a:rect r="r" b="b" t="t" l="l"/>
            <a:pathLst>
              <a:path h="987762" w="5815177">
                <a:moveTo>
                  <a:pt x="0" y="0"/>
                </a:moveTo>
                <a:lnTo>
                  <a:pt x="5815178" y="0"/>
                </a:lnTo>
                <a:lnTo>
                  <a:pt x="5815178" y="987762"/>
                </a:lnTo>
                <a:lnTo>
                  <a:pt x="0" y="987762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-11062" t="-153011" r="-9149" b="-154810"/>
            </a:stretch>
          </a:blipFill>
        </p:spPr>
      </p:sp>
      <p:sp>
        <p:nvSpPr>
          <p:cNvPr id="20" name="TextBox 19"/>
          <p:cNvSpPr txBox="1"/>
          <p:nvPr/>
        </p:nvSpPr>
        <p:spPr>
          <a:xfrm>
            <a:off x="822960" y="1810512"/>
            <a:ext cx="10972800" cy="3291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 i="0">
                <a:solidFill>
                  <a:srgbClr val="C2410C"/>
                </a:solidFill>
                <a:latin typeface="Segoe UI Semibold"/>
                <a:ea typeface="Segoe UI Semibold"/>
                <a:cs typeface="Segoe UI Semibold"/>
              </a:rPr>
              <a:t>2. Problem Definition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2084832"/>
            <a:ext cx="14813280" cy="7315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4000" b="0" i="0">
                <a:solidFill>
                  <a:srgbClr val="000000"/>
                </a:solidFill>
                <a:latin typeface="Bahnschrift SemiBold"/>
                <a:ea typeface="Bahnschrift SemiBold"/>
                <a:cs typeface="Bahnschrift SemiBold"/>
              </a:rPr>
              <a:t>Why authentication alone is not enough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2761488"/>
            <a:ext cx="1481328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100" b="0" i="0">
                <a:solidFill>
                  <a:srgbClr val="5C5C5C"/>
                </a:solidFill>
                <a:latin typeface="Segoe UI"/>
                <a:ea typeface="Segoe UI"/>
                <a:cs typeface="Segoe UI"/>
              </a:rPr>
              <a:t>Threat model: what each attack looks like, and what answers it</a:t>
            </a:r>
          </a:p>
        </p:txBody>
      </p:sp>
      <p:sp>
        <p:nvSpPr>
          <p:cNvPr id="23" name="Oval 22"/>
          <p:cNvSpPr/>
          <p:nvPr/>
        </p:nvSpPr>
        <p:spPr>
          <a:xfrm>
            <a:off x="822960" y="3246120"/>
            <a:ext cx="128016" cy="128016"/>
          </a:xfrm>
          <a:prstGeom prst="ellipse">
            <a:avLst/>
          </a:prstGeom>
          <a:solidFill>
            <a:srgbClr val="FFFFFF"/>
          </a:solidFill>
          <a:ln w="22225">
            <a:solidFill>
              <a:srgbClr val="FF91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4" name="Connector 23"/>
          <p:cNvCxnSpPr/>
          <p:nvPr/>
        </p:nvCxnSpPr>
        <p:spPr>
          <a:xfrm>
            <a:off x="950976" y="3310128"/>
            <a:ext cx="1335024" cy="0"/>
          </a:xfrm>
          <a:prstGeom prst="line">
            <a:avLst/>
          </a:prstGeom>
          <a:ln w="22225">
            <a:solidFill>
              <a:srgbClr val="FF91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1005840" y="3474720"/>
            <a:ext cx="443484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 i="0">
                <a:solidFill>
                  <a:srgbClr val="5C5C5C"/>
                </a:solidFill>
                <a:latin typeface="Segoe UI Semibold"/>
                <a:ea typeface="Segoe UI Semibold"/>
                <a:cs typeface="Segoe UI Semibold"/>
              </a:rPr>
              <a:t>Threat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577840" y="3474720"/>
            <a:ext cx="352044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 i="0">
                <a:solidFill>
                  <a:srgbClr val="5C5C5C"/>
                </a:solidFill>
                <a:latin typeface="Segoe UI Semibold"/>
                <a:ea typeface="Segoe UI Semibold"/>
                <a:cs typeface="Segoe UI Semibold"/>
              </a:rPr>
              <a:t>Authentication alone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35440" y="3474720"/>
            <a:ext cx="626364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 i="0">
                <a:solidFill>
                  <a:srgbClr val="5C5C5C"/>
                </a:solidFill>
                <a:latin typeface="Segoe UI Semibold"/>
                <a:ea typeface="Segoe UI Semibold"/>
                <a:cs typeface="Segoe UI Semibold"/>
              </a:rPr>
              <a:t>What Q-SHIELD adds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1005840" y="3886200"/>
            <a:ext cx="14630400" cy="0"/>
          </a:xfrm>
          <a:prstGeom prst="line">
            <a:avLst/>
          </a:prstGeom>
          <a:ln w="158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1005840" y="3977640"/>
            <a:ext cx="4389120" cy="85039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900" b="0" i="0">
                <a:solidFill>
                  <a:srgbClr val="1A1A1A"/>
                </a:solidFill>
                <a:latin typeface="Segoe UI Semibold"/>
                <a:ea typeface="Segoe UI Semibold"/>
                <a:cs typeface="Segoe UI Semibold"/>
              </a:rPr>
              <a:t>Forged message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577840" y="3977640"/>
            <a:ext cx="3474720" cy="85039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900" b="0" i="0">
                <a:solidFill>
                  <a:srgbClr val="1A1A1A"/>
                </a:solidFill>
                <a:latin typeface="Segoe UI"/>
                <a:ea typeface="Segoe UI"/>
                <a:cs typeface="Segoe UI"/>
              </a:rPr>
              <a:t>rejected, then forgotten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35440" y="3977640"/>
            <a:ext cx="6217920" cy="85039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900" b="0" i="0">
                <a:solidFill>
                  <a:srgbClr val="1A1A1A"/>
                </a:solidFill>
                <a:latin typeface="Segoe UI"/>
                <a:ea typeface="Segoe UI"/>
                <a:cs typeface="Segoe UI"/>
              </a:rPr>
              <a:t>security event + bounded pressure (at most 25 points)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1005840" y="4828032"/>
            <a:ext cx="14630400" cy="0"/>
          </a:xfrm>
          <a:prstGeom prst="line">
            <a:avLst/>
          </a:prstGeom>
          <a:ln w="9525">
            <a:solidFill>
              <a:srgbClr val="BDBD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1005840" y="4828032"/>
            <a:ext cx="4389120" cy="85039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900" b="0" i="0">
                <a:solidFill>
                  <a:srgbClr val="1A1A1A"/>
                </a:solidFill>
                <a:latin typeface="Segoe UI Semibold"/>
                <a:ea typeface="Segoe UI Semibold"/>
                <a:cs typeface="Segoe UI Semibold"/>
              </a:rPr>
              <a:t>Replayed message or observation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577840" y="4828032"/>
            <a:ext cx="3474720" cy="85039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900" b="0" i="0">
                <a:solidFill>
                  <a:srgbClr val="1A1A1A"/>
                </a:solidFill>
                <a:latin typeface="Segoe UI"/>
                <a:ea typeface="Segoe UI"/>
                <a:cs typeface="Segoe UI"/>
              </a:rPr>
              <a:t>rejected, then forgotten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235440" y="4828032"/>
            <a:ext cx="6217920" cy="85039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900" b="0" i="0">
                <a:solidFill>
                  <a:srgbClr val="1A1A1A"/>
                </a:solidFill>
                <a:latin typeface="Segoe UI"/>
                <a:ea typeface="Segoe UI"/>
                <a:cs typeface="Segoe UI"/>
              </a:rPr>
              <a:t>pressure; 3 replays in 10 min hold the score at 65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1005840" y="5678424"/>
            <a:ext cx="14630400" cy="0"/>
          </a:xfrm>
          <a:prstGeom prst="line">
            <a:avLst/>
          </a:prstGeom>
          <a:ln w="9525">
            <a:solidFill>
              <a:srgbClr val="BDBD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1005840" y="5678424"/>
            <a:ext cx="4389120" cy="85039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900" b="0" i="0">
                <a:solidFill>
                  <a:srgbClr val="1A1A1A"/>
                </a:solidFill>
                <a:latin typeface="Segoe UI Semibold"/>
                <a:ea typeface="Segoe UI Semibold"/>
                <a:cs typeface="Segoe UI Semibold"/>
              </a:rPr>
              <a:t>Enclosure opened (tamper switch)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577840" y="5678424"/>
            <a:ext cx="3474720" cy="85039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900" b="0" i="0">
                <a:solidFill>
                  <a:srgbClr val="1A1A1A"/>
                </a:solidFill>
                <a:latin typeface="Segoe UI"/>
                <a:ea typeface="Segoe UI"/>
                <a:cs typeface="Segoe UI"/>
              </a:rPr>
              <a:t>nothing to see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235440" y="5678424"/>
            <a:ext cx="6217920" cy="85039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900" b="0" i="0">
                <a:solidFill>
                  <a:srgbClr val="1A1A1A"/>
                </a:solidFill>
                <a:latin typeface="Segoe UI"/>
                <a:ea typeface="Segoe UI"/>
                <a:cs typeface="Segoe UI"/>
              </a:rPr>
              <a:t>physical factor CRITICAL; score held at 55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1005840" y="6528816"/>
            <a:ext cx="14630400" cy="0"/>
          </a:xfrm>
          <a:prstGeom prst="line">
            <a:avLst/>
          </a:prstGeom>
          <a:ln w="9525">
            <a:solidFill>
              <a:srgbClr val="BDBD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1005840" y="6528816"/>
            <a:ext cx="4389120" cy="85039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900" b="0" i="0">
                <a:solidFill>
                  <a:srgbClr val="1A1A1A"/>
                </a:solidFill>
                <a:latin typeface="Segoe UI Semibold"/>
                <a:ea typeface="Segoe UI Semibold"/>
                <a:cs typeface="Segoe UI Semibold"/>
              </a:rPr>
              <a:t>Camera covered, frozen or turned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577840" y="6528816"/>
            <a:ext cx="3474720" cy="85039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900" b="0" i="0">
                <a:solidFill>
                  <a:srgbClr val="1A1A1A"/>
                </a:solidFill>
                <a:latin typeface="Segoe UI"/>
                <a:ea typeface="Segoe UI"/>
                <a:cs typeface="Segoe UI"/>
              </a:rPr>
              <a:t>nothing to see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235440" y="6528816"/>
            <a:ext cx="6217920" cy="85039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900" b="0" i="0">
                <a:solidFill>
                  <a:srgbClr val="1A1A1A"/>
                </a:solidFill>
                <a:latin typeface="Segoe UI"/>
                <a:ea typeface="Segoe UI"/>
                <a:cs typeface="Segoe UI"/>
              </a:rPr>
              <a:t>signed camera-health report; visual factor HIGH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1005840" y="7379208"/>
            <a:ext cx="14630400" cy="0"/>
          </a:xfrm>
          <a:prstGeom prst="line">
            <a:avLst/>
          </a:prstGeom>
          <a:ln w="9525">
            <a:solidFill>
              <a:srgbClr val="BDBD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Rectangle 44"/>
          <p:cNvSpPr/>
          <p:nvPr/>
        </p:nvSpPr>
        <p:spPr>
          <a:xfrm>
            <a:off x="841248" y="7434072"/>
            <a:ext cx="73152" cy="704088"/>
          </a:xfrm>
          <a:prstGeom prst="rect">
            <a:avLst/>
          </a:prstGeom>
          <a:solidFill>
            <a:srgbClr val="FF91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>
            <a:noAutofit/>
          </a:bodyPr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005840" y="7379208"/>
            <a:ext cx="4389120" cy="85039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900" b="0" i="0">
                <a:solidFill>
                  <a:srgbClr val="1A1A1A"/>
                </a:solidFill>
                <a:latin typeface="Segoe UI Semibold"/>
                <a:ea typeface="Segoe UI Semibold"/>
                <a:cs typeface="Segoe UI Semibold"/>
              </a:rPr>
              <a:t>Tamper + visual evidence within 60 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577840" y="7379208"/>
            <a:ext cx="3474720" cy="85039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900" b="0" i="0">
                <a:solidFill>
                  <a:srgbClr val="1A1A1A"/>
                </a:solidFill>
                <a:latin typeface="Segoe UI"/>
                <a:ea typeface="Segoe UI"/>
                <a:cs typeface="Segoe UI"/>
              </a:rPr>
              <a:t>nothing to see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235440" y="7379208"/>
            <a:ext cx="6217920" cy="85039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900" b="0" i="0">
                <a:solidFill>
                  <a:srgbClr val="1A1A1A"/>
                </a:solidFill>
                <a:latin typeface="Segoe UI Semibold"/>
                <a:ea typeface="Segoe UI Semibold"/>
                <a:cs typeface="Segoe UI Semibold"/>
              </a:rPr>
              <a:t>confirmed incident: score 30, </a:t>
            </a:r>
            <a:r>
              <a:rPr sz="1900" b="0" i="0">
                <a:solidFill>
                  <a:srgbClr val="C2410C"/>
                </a:solidFill>
                <a:latin typeface="Segoe UI Semibold"/>
                <a:ea typeface="Segoe UI Semibold"/>
                <a:cs typeface="Segoe UI Semibold"/>
              </a:rPr>
              <a:t>quarantine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1005840" y="8229600"/>
            <a:ext cx="14630400" cy="0"/>
          </a:xfrm>
          <a:prstGeom prst="line">
            <a:avLst/>
          </a:prstGeom>
          <a:ln w="9525">
            <a:solidFill>
              <a:srgbClr val="BDBD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1005840" y="8229600"/>
            <a:ext cx="4389120" cy="85039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900" b="0" i="0">
                <a:solidFill>
                  <a:srgbClr val="1A1A1A"/>
                </a:solidFill>
                <a:latin typeface="Segoe UI Semibold"/>
                <a:ea typeface="Segoe UI Semibold"/>
                <a:cs typeface="Segoe UI Semibold"/>
              </a:rPr>
              <a:t>Quantum adversary recording traffic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577840" y="8229600"/>
            <a:ext cx="3474720" cy="85039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900" b="0" i="0">
                <a:solidFill>
                  <a:srgbClr val="1A1A1A"/>
                </a:solidFill>
                <a:latin typeface="Segoe UI"/>
                <a:ea typeface="Segoe UI"/>
                <a:cs typeface="Segoe UI"/>
              </a:rPr>
              <a:t>classical signatures forgeable later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235440" y="8229600"/>
            <a:ext cx="6217920" cy="85039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900" b="0" i="0">
                <a:solidFill>
                  <a:srgbClr val="1A1A1A"/>
                </a:solidFill>
                <a:latin typeface="Segoe UI"/>
                <a:ea typeface="Segoe UI"/>
                <a:cs typeface="Segoe UI"/>
              </a:rPr>
              <a:t>ML-DSA-65 signs the evidence; ML-KEM-768 keys the session</a:t>
            </a:r>
          </a:p>
        </p:txBody>
      </p:sp>
      <p:cxnSp>
        <p:nvCxnSpPr>
          <p:cNvPr id="53" name="Connector 52"/>
          <p:cNvCxnSpPr/>
          <p:nvPr/>
        </p:nvCxnSpPr>
        <p:spPr>
          <a:xfrm>
            <a:off x="1005840" y="9079992"/>
            <a:ext cx="14630400" cy="0"/>
          </a:xfrm>
          <a:prstGeom prst="line">
            <a:avLst/>
          </a:prstGeom>
          <a:ln w="9525">
            <a:solidFill>
              <a:srgbClr val="BDBD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TextBox 53"/>
          <p:cNvSpPr txBox="1"/>
          <p:nvPr/>
        </p:nvSpPr>
        <p:spPr>
          <a:xfrm>
            <a:off x="822960" y="9747504"/>
            <a:ext cx="822960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 i="0">
                <a:solidFill>
                  <a:srgbClr val="000000"/>
                </a:solidFill>
                <a:latin typeface="Segoe UI Semibold"/>
                <a:ea typeface="Segoe UI Semibold"/>
                <a:cs typeface="Segoe UI Semibold"/>
              </a:rPr>
              <a:t>Q-SHIELD</a:t>
            </a:r>
            <a:r>
              <a:rPr sz="1500" b="0" i="0">
                <a:solidFill>
                  <a:srgbClr val="000000"/>
                </a:solidFill>
                <a:latin typeface="Segoe UI"/>
                <a:ea typeface="Segoe UI"/>
                <a:cs typeface="Segoe UI"/>
              </a:rPr>
              <a:t>   continuous device trust with post-quantum-signed evidence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3350240" y="9747504"/>
            <a:ext cx="228600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500" b="0" i="0">
                <a:solidFill>
                  <a:srgbClr val="000000"/>
                </a:solidFill>
                <a:latin typeface="Segoe UI"/>
                <a:ea typeface="Segoe UI"/>
                <a:cs typeface="Segoe UI"/>
              </a:rPr>
              <a:t>3 / 24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name="Freeform 2" id="2"/>
          <p:cNvSpPr/>
          <p:nvPr/>
        </p:nvSpPr>
        <p:spPr>
          <a:xfrm flipH="false" flipV="false" rot="0">
            <a:off x="-350872" y="9407052"/>
            <a:ext cx="14979358" cy="908523"/>
          </a:xfrm>
          <a:custGeom>
            <a:avLst/>
            <a:gdLst/>
            <a:ahLst/>
            <a:cxnLst/>
            <a:rect r="r" b="b" t="t" l="l"/>
            <a:pathLst>
              <a:path h="908523" w="14979358">
                <a:moveTo>
                  <a:pt x="0" y="0"/>
                </a:moveTo>
                <a:lnTo>
                  <a:pt x="14979357" y="0"/>
                </a:lnTo>
                <a:lnTo>
                  <a:pt x="14979357" y="908523"/>
                </a:lnTo>
                <a:lnTo>
                  <a:pt x="0" y="90852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2273265" y="1130884"/>
            <a:ext cx="6870735" cy="543077"/>
            <a:chOff x="0" y="0"/>
            <a:chExt cx="9160980" cy="72410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9161018" cy="724154"/>
            </a:xfrm>
            <a:custGeom>
              <a:avLst/>
              <a:gdLst/>
              <a:ahLst/>
              <a:cxnLst/>
              <a:rect r="r" b="b" t="t" l="l"/>
              <a:pathLst>
                <a:path h="724154" w="9161018">
                  <a:moveTo>
                    <a:pt x="0" y="0"/>
                  </a:moveTo>
                  <a:lnTo>
                    <a:pt x="9161018" y="0"/>
                  </a:lnTo>
                  <a:lnTo>
                    <a:pt x="9161018" y="724154"/>
                  </a:lnTo>
                  <a:lnTo>
                    <a:pt x="0" y="72415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914D"/>
            </a:solidFill>
          </p:spPr>
        </p:sp>
      </p:grpSp>
      <p:grpSp>
        <p:nvGrpSpPr>
          <p:cNvPr name="Group 5" id="5"/>
          <p:cNvGrpSpPr/>
          <p:nvPr/>
        </p:nvGrpSpPr>
        <p:grpSpPr>
          <a:xfrm rot="-10800000">
            <a:off x="9124950" y="1130884"/>
            <a:ext cx="6870735" cy="543077"/>
            <a:chOff x="0" y="0"/>
            <a:chExt cx="9160980" cy="724103"/>
          </a:xfrm>
        </p:grpSpPr>
        <p:sp>
          <p:nvSpPr>
            <p:cNvPr name="Freeform 6" id="6"/>
            <p:cNvSpPr/>
            <p:nvPr/>
          </p:nvSpPr>
          <p:spPr>
            <a:xfrm flipH="false" flipV="true" rot="0">
              <a:off x="0" y="0"/>
              <a:ext cx="9161018" cy="724154"/>
            </a:xfrm>
            <a:custGeom>
              <a:avLst/>
              <a:gdLst/>
              <a:ahLst/>
              <a:cxnLst/>
              <a:rect r="r" b="b" t="t" l="l"/>
              <a:pathLst>
                <a:path h="724154" w="9161018">
                  <a:moveTo>
                    <a:pt x="0" y="724154"/>
                  </a:moveTo>
                  <a:lnTo>
                    <a:pt x="9161018" y="724154"/>
                  </a:lnTo>
                  <a:lnTo>
                    <a:pt x="9161018" y="0"/>
                  </a:lnTo>
                  <a:lnTo>
                    <a:pt x="0" y="0"/>
                  </a:lnTo>
                  <a:lnTo>
                    <a:pt x="0" y="724154"/>
                  </a:lnTo>
                  <a:close/>
                </a:path>
              </a:pathLst>
            </a:custGeom>
            <a:solidFill>
              <a:srgbClr val="FF914D"/>
            </a:solidFill>
          </p:spPr>
        </p:sp>
      </p:grpSp>
      <p:grpSp>
        <p:nvGrpSpPr>
          <p:cNvPr name="Group 7" id="7"/>
          <p:cNvGrpSpPr/>
          <p:nvPr/>
        </p:nvGrpSpPr>
        <p:grpSpPr>
          <a:xfrm rot="-10800000">
            <a:off x="-32871" y="1130884"/>
            <a:ext cx="3068079" cy="503739"/>
            <a:chOff x="0" y="0"/>
            <a:chExt cx="4090772" cy="671652"/>
          </a:xfrm>
        </p:grpSpPr>
        <p:sp>
          <p:nvSpPr>
            <p:cNvPr name="Freeform 8" id="8"/>
            <p:cNvSpPr/>
            <p:nvPr/>
          </p:nvSpPr>
          <p:spPr>
            <a:xfrm flipH="false" flipV="true" rot="0">
              <a:off x="0" y="0"/>
              <a:ext cx="4090797" cy="671703"/>
            </a:xfrm>
            <a:custGeom>
              <a:avLst/>
              <a:gdLst/>
              <a:ahLst/>
              <a:cxnLst/>
              <a:rect r="r" b="b" t="t" l="l"/>
              <a:pathLst>
                <a:path h="671703" w="4090797">
                  <a:moveTo>
                    <a:pt x="0" y="671703"/>
                  </a:moveTo>
                  <a:lnTo>
                    <a:pt x="4090797" y="671703"/>
                  </a:lnTo>
                  <a:lnTo>
                    <a:pt x="4090797" y="0"/>
                  </a:lnTo>
                  <a:lnTo>
                    <a:pt x="0" y="0"/>
                  </a:lnTo>
                  <a:lnTo>
                    <a:pt x="0" y="671703"/>
                  </a:lnTo>
                  <a:close/>
                </a:path>
              </a:pathLst>
            </a:custGeom>
            <a:solidFill>
              <a:srgbClr val="FF914D"/>
            </a:solidFill>
          </p:spPr>
        </p:sp>
      </p:grpSp>
      <p:sp>
        <p:nvSpPr>
          <p:cNvPr name="Freeform 9" id="9"/>
          <p:cNvSpPr/>
          <p:nvPr/>
        </p:nvSpPr>
        <p:spPr>
          <a:xfrm flipH="false" flipV="false" rot="-5400000">
            <a:off x="12120564" y="5052657"/>
            <a:ext cx="10084834" cy="2269088"/>
          </a:xfrm>
          <a:custGeom>
            <a:avLst/>
            <a:gdLst/>
            <a:ahLst/>
            <a:cxnLst/>
            <a:rect r="r" b="b" t="t" l="l"/>
            <a:pathLst>
              <a:path h="2269088" w="10084834">
                <a:moveTo>
                  <a:pt x="0" y="0"/>
                </a:moveTo>
                <a:lnTo>
                  <a:pt x="10084834" y="0"/>
                </a:lnTo>
                <a:lnTo>
                  <a:pt x="10084834" y="2269088"/>
                </a:lnTo>
                <a:lnTo>
                  <a:pt x="0" y="226908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-10800000">
            <a:off x="15248496" y="1130884"/>
            <a:ext cx="3068079" cy="503739"/>
            <a:chOff x="0" y="0"/>
            <a:chExt cx="4090772" cy="671652"/>
          </a:xfrm>
        </p:grpSpPr>
        <p:sp>
          <p:nvSpPr>
            <p:cNvPr name="Freeform 11" id="11"/>
            <p:cNvSpPr/>
            <p:nvPr/>
          </p:nvSpPr>
          <p:spPr>
            <a:xfrm flipH="false" flipV="true" rot="0">
              <a:off x="0" y="0"/>
              <a:ext cx="4090797" cy="671703"/>
            </a:xfrm>
            <a:custGeom>
              <a:avLst/>
              <a:gdLst/>
              <a:ahLst/>
              <a:cxnLst/>
              <a:rect r="r" b="b" t="t" l="l"/>
              <a:pathLst>
                <a:path h="671703" w="4090797">
                  <a:moveTo>
                    <a:pt x="0" y="671703"/>
                  </a:moveTo>
                  <a:lnTo>
                    <a:pt x="4090797" y="671703"/>
                  </a:lnTo>
                  <a:lnTo>
                    <a:pt x="4090797" y="0"/>
                  </a:lnTo>
                  <a:lnTo>
                    <a:pt x="0" y="0"/>
                  </a:lnTo>
                  <a:lnTo>
                    <a:pt x="0" y="671703"/>
                  </a:lnTo>
                  <a:close/>
                </a:path>
              </a:pathLst>
            </a:custGeom>
            <a:solidFill>
              <a:srgbClr val="FF914D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5688825" y="96222"/>
            <a:ext cx="2423739" cy="924096"/>
            <a:chOff x="0" y="0"/>
            <a:chExt cx="2307438" cy="879754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307463" cy="879729"/>
            </a:xfrm>
            <a:custGeom>
              <a:avLst/>
              <a:gdLst/>
              <a:ahLst/>
              <a:cxnLst/>
              <a:rect r="r" b="b" t="t" l="l"/>
              <a:pathLst>
                <a:path h="879729" w="2307463">
                  <a:moveTo>
                    <a:pt x="0" y="0"/>
                  </a:moveTo>
                  <a:lnTo>
                    <a:pt x="2307463" y="0"/>
                  </a:lnTo>
                  <a:lnTo>
                    <a:pt x="2307463" y="879729"/>
                  </a:lnTo>
                  <a:lnTo>
                    <a:pt x="0" y="8797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-76294" r="1" b="-85995"/>
              </a:stretch>
            </a:blipFill>
          </p:spPr>
        </p:sp>
      </p:grpSp>
      <p:sp>
        <p:nvSpPr>
          <p:cNvPr name="Freeform 14" id="14"/>
          <p:cNvSpPr/>
          <p:nvPr/>
        </p:nvSpPr>
        <p:spPr>
          <a:xfrm flipH="false" flipV="false" rot="0">
            <a:off x="9857003" y="9407052"/>
            <a:ext cx="14979358" cy="908523"/>
          </a:xfrm>
          <a:custGeom>
            <a:avLst/>
            <a:gdLst/>
            <a:ahLst/>
            <a:cxnLst/>
            <a:rect r="r" b="b" t="t" l="l"/>
            <a:pathLst>
              <a:path h="908523" w="14979358">
                <a:moveTo>
                  <a:pt x="0" y="0"/>
                </a:moveTo>
                <a:lnTo>
                  <a:pt x="14979358" y="0"/>
                </a:lnTo>
                <a:lnTo>
                  <a:pt x="14979358" y="908523"/>
                </a:lnTo>
                <a:lnTo>
                  <a:pt x="0" y="90852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252268" y="89049"/>
            <a:ext cx="2497801" cy="1034663"/>
          </a:xfrm>
          <a:custGeom>
            <a:avLst/>
            <a:gdLst/>
            <a:ahLst/>
            <a:cxnLst/>
            <a:rect r="r" b="b" t="t" l="l"/>
            <a:pathLst>
              <a:path h="1034663" w="2497801">
                <a:moveTo>
                  <a:pt x="0" y="0"/>
                </a:moveTo>
                <a:lnTo>
                  <a:pt x="2497801" y="0"/>
                </a:lnTo>
                <a:lnTo>
                  <a:pt x="2497801" y="1034663"/>
                </a:lnTo>
                <a:lnTo>
                  <a:pt x="0" y="103466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5988" t="-27243" r="-4375" b="-52819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6236411" y="74654"/>
            <a:ext cx="5815177" cy="987762"/>
          </a:xfrm>
          <a:custGeom>
            <a:avLst/>
            <a:gdLst/>
            <a:ahLst/>
            <a:cxnLst/>
            <a:rect r="r" b="b" t="t" l="l"/>
            <a:pathLst>
              <a:path h="987762" w="5815177">
                <a:moveTo>
                  <a:pt x="0" y="0"/>
                </a:moveTo>
                <a:lnTo>
                  <a:pt x="5815178" y="0"/>
                </a:lnTo>
                <a:lnTo>
                  <a:pt x="5815178" y="987762"/>
                </a:lnTo>
                <a:lnTo>
                  <a:pt x="0" y="987762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-11062" t="-153011" r="-9149" b="-154810"/>
            </a:stretch>
          </a:blipFill>
        </p:spPr>
      </p:sp>
      <p:sp>
        <p:nvSpPr>
          <p:cNvPr id="20" name="TextBox 19"/>
          <p:cNvSpPr txBox="1"/>
          <p:nvPr/>
        </p:nvSpPr>
        <p:spPr>
          <a:xfrm>
            <a:off x="822960" y="1810512"/>
            <a:ext cx="10972800" cy="3291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 i="0">
                <a:solidFill>
                  <a:srgbClr val="C2410C"/>
                </a:solidFill>
                <a:latin typeface="Segoe UI Semibold"/>
                <a:ea typeface="Segoe UI Semibold"/>
                <a:cs typeface="Segoe UI Semibold"/>
              </a:rPr>
              <a:t>2. Problem Definition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2084832"/>
            <a:ext cx="14813280" cy="7315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4000" b="0" i="0">
                <a:solidFill>
                  <a:srgbClr val="000000"/>
                </a:solidFill>
                <a:latin typeface="Bahnschrift SemiBold"/>
                <a:ea typeface="Bahnschrift SemiBold"/>
                <a:cs typeface="Bahnschrift SemiBold"/>
              </a:rPr>
              <a:t>Functional requirements and constraints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2761488"/>
            <a:ext cx="1481328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100" b="0" i="0">
                <a:solidFill>
                  <a:srgbClr val="5C5C5C"/>
                </a:solidFill>
                <a:latin typeface="Segoe UI"/>
                <a:ea typeface="Segoe UI"/>
                <a:cs typeface="Segoe UI"/>
              </a:rPr>
              <a:t>What the system must do, and the limits it was built under</a:t>
            </a:r>
          </a:p>
        </p:txBody>
      </p:sp>
      <p:sp>
        <p:nvSpPr>
          <p:cNvPr id="23" name="Oval 22"/>
          <p:cNvSpPr/>
          <p:nvPr/>
        </p:nvSpPr>
        <p:spPr>
          <a:xfrm>
            <a:off x="822960" y="3246120"/>
            <a:ext cx="128016" cy="128016"/>
          </a:xfrm>
          <a:prstGeom prst="ellipse">
            <a:avLst/>
          </a:prstGeom>
          <a:solidFill>
            <a:srgbClr val="FFFFFF"/>
          </a:solidFill>
          <a:ln w="22225">
            <a:solidFill>
              <a:srgbClr val="FF91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4" name="Connector 23"/>
          <p:cNvCxnSpPr/>
          <p:nvPr/>
        </p:nvCxnSpPr>
        <p:spPr>
          <a:xfrm>
            <a:off x="950976" y="3310128"/>
            <a:ext cx="1335024" cy="0"/>
          </a:xfrm>
          <a:prstGeom prst="line">
            <a:avLst/>
          </a:prstGeom>
          <a:ln w="22225">
            <a:solidFill>
              <a:srgbClr val="FF91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822960" y="3429000"/>
            <a:ext cx="694944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200" b="0" i="0">
                <a:solidFill>
                  <a:srgbClr val="1A1A1A"/>
                </a:solidFill>
                <a:latin typeface="Segoe UI Semibold"/>
                <a:ea typeface="Segoe UI Semibold"/>
                <a:cs typeface="Segoe UI Semibold"/>
              </a:rPr>
              <a:t>Functional requirements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932688" y="4297680"/>
            <a:ext cx="0" cy="3886200"/>
          </a:xfrm>
          <a:prstGeom prst="line">
            <a:avLst/>
          </a:prstGeom>
          <a:ln w="19050">
            <a:solidFill>
              <a:srgbClr val="FF91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Oval 26"/>
          <p:cNvSpPr/>
          <p:nvPr/>
        </p:nvSpPr>
        <p:spPr>
          <a:xfrm>
            <a:off x="832104" y="4197096"/>
            <a:ext cx="201168" cy="201168"/>
          </a:xfrm>
          <a:prstGeom prst="ellipse">
            <a:avLst/>
          </a:prstGeom>
          <a:solidFill>
            <a:srgbClr val="FF91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234440" y="4069080"/>
            <a:ext cx="6583680" cy="7772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1A1A1A"/>
                </a:solidFill>
                <a:latin typeface="Segoe UI Semibold"/>
                <a:ea typeface="Segoe UI Semibold"/>
                <a:cs typeface="Segoe UI Semibold"/>
              </a:rPr>
              <a:t>Continuous scoring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0" i="0">
                <a:solidFill>
                  <a:srgbClr val="5C5C5C"/>
                </a:solidFill>
                <a:latin typeface="Segoe UI"/>
                <a:ea typeface="Segoe UI"/>
                <a:cs typeface="Segoe UI"/>
              </a:rPr>
              <a:t>six evidence factors, every change explained</a:t>
            </a:r>
          </a:p>
        </p:txBody>
      </p:sp>
      <p:sp>
        <p:nvSpPr>
          <p:cNvPr id="29" name="Oval 28"/>
          <p:cNvSpPr/>
          <p:nvPr/>
        </p:nvSpPr>
        <p:spPr>
          <a:xfrm>
            <a:off x="832104" y="4974336"/>
            <a:ext cx="201168" cy="201168"/>
          </a:xfrm>
          <a:prstGeom prst="ellipse">
            <a:avLst/>
          </a:prstGeom>
          <a:solidFill>
            <a:srgbClr val="FF91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234440" y="4846320"/>
            <a:ext cx="6583680" cy="7772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1A1A1A"/>
                </a:solidFill>
                <a:latin typeface="Segoe UI Semibold"/>
                <a:ea typeface="Segoe UI Semibold"/>
                <a:cs typeface="Segoe UI Semibold"/>
              </a:rPr>
              <a:t>Cross-modal correlation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0" i="0">
                <a:solidFill>
                  <a:srgbClr val="5C5C5C"/>
                </a:solidFill>
                <a:latin typeface="Segoe UI"/>
                <a:ea typeface="Segoe UI"/>
                <a:cs typeface="Segoe UI"/>
              </a:rPr>
              <a:t>two independent signals within 60 s confirm an incident</a:t>
            </a:r>
          </a:p>
        </p:txBody>
      </p:sp>
      <p:sp>
        <p:nvSpPr>
          <p:cNvPr id="31" name="Oval 30"/>
          <p:cNvSpPr/>
          <p:nvPr/>
        </p:nvSpPr>
        <p:spPr>
          <a:xfrm>
            <a:off x="832104" y="5751576"/>
            <a:ext cx="201168" cy="201168"/>
          </a:xfrm>
          <a:prstGeom prst="ellipse">
            <a:avLst/>
          </a:prstGeom>
          <a:solidFill>
            <a:srgbClr val="FF91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234440" y="5623560"/>
            <a:ext cx="6583680" cy="7772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1A1A1A"/>
                </a:solidFill>
                <a:latin typeface="Segoe UI Semibold"/>
                <a:ea typeface="Segoe UI Semibold"/>
                <a:cs typeface="Segoe UI Semibold"/>
              </a:rPr>
              <a:t>Gateway enforcement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0" i="0">
                <a:solidFill>
                  <a:srgbClr val="5C5C5C"/>
                </a:solidFill>
                <a:latin typeface="Segoe UI"/>
                <a:ea typeface="Segoe UI"/>
                <a:cs typeface="Segoe UI"/>
              </a:rPr>
              <a:t>quarantine blocks the device's normal channel</a:t>
            </a:r>
          </a:p>
        </p:txBody>
      </p:sp>
      <p:sp>
        <p:nvSpPr>
          <p:cNvPr id="33" name="Oval 32"/>
          <p:cNvSpPr/>
          <p:nvPr/>
        </p:nvSpPr>
        <p:spPr>
          <a:xfrm>
            <a:off x="832104" y="6528816"/>
            <a:ext cx="201168" cy="201168"/>
          </a:xfrm>
          <a:prstGeom prst="ellipse">
            <a:avLst/>
          </a:prstGeom>
          <a:solidFill>
            <a:srgbClr val="FF91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234440" y="6400800"/>
            <a:ext cx="6583680" cy="7772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1A1A1A"/>
                </a:solidFill>
                <a:latin typeface="Segoe UI Semibold"/>
                <a:ea typeface="Segoe UI Semibold"/>
                <a:cs typeface="Segoe UI Semibold"/>
              </a:rPr>
              <a:t>Earned recovery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0" i="0">
                <a:solidFill>
                  <a:srgbClr val="5C5C5C"/>
                </a:solidFill>
                <a:latin typeface="Segoe UI"/>
                <a:ea typeface="Segoe UI"/>
                <a:cs typeface="Segoe UI"/>
              </a:rPr>
              <a:t>health checks, then trust rebuilt from fresh evidence</a:t>
            </a:r>
          </a:p>
        </p:txBody>
      </p:sp>
      <p:sp>
        <p:nvSpPr>
          <p:cNvPr id="35" name="Oval 34"/>
          <p:cNvSpPr/>
          <p:nvPr/>
        </p:nvSpPr>
        <p:spPr>
          <a:xfrm>
            <a:off x="832104" y="7306056"/>
            <a:ext cx="201168" cy="201168"/>
          </a:xfrm>
          <a:prstGeom prst="ellipse">
            <a:avLst/>
          </a:prstGeom>
          <a:solidFill>
            <a:srgbClr val="FF91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234440" y="7178040"/>
            <a:ext cx="6583680" cy="7772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1A1A1A"/>
                </a:solidFill>
                <a:latin typeface="Segoe UI Semibold"/>
                <a:ea typeface="Segoe UI Semibold"/>
                <a:cs typeface="Segoe UI Semibold"/>
              </a:rPr>
              <a:t>Tamper-evident record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0" i="0">
                <a:solidFill>
                  <a:srgbClr val="5C5C5C"/>
                </a:solidFill>
                <a:latin typeface="Segoe UI"/>
                <a:ea typeface="Segoe UI"/>
                <a:cs typeface="Segoe UI"/>
              </a:rPr>
              <a:t>SHA-256 linked, ML-DSA-65 signed evidence chain</a:t>
            </a:r>
          </a:p>
        </p:txBody>
      </p:sp>
      <p:sp>
        <p:nvSpPr>
          <p:cNvPr id="37" name="Oval 36"/>
          <p:cNvSpPr/>
          <p:nvPr/>
        </p:nvSpPr>
        <p:spPr>
          <a:xfrm>
            <a:off x="832104" y="8083296"/>
            <a:ext cx="201168" cy="201168"/>
          </a:xfrm>
          <a:prstGeom prst="ellipse">
            <a:avLst/>
          </a:prstGeom>
          <a:solidFill>
            <a:srgbClr val="FF91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234440" y="7955280"/>
            <a:ext cx="6583680" cy="7772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1A1A1A"/>
                </a:solidFill>
                <a:latin typeface="Segoe UI Semibold"/>
                <a:ea typeface="Segoe UI Semibold"/>
                <a:cs typeface="Segoe UI Semibold"/>
              </a:rPr>
              <a:t>Post-quantum evidence path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0" i="0">
                <a:solidFill>
                  <a:srgbClr val="5C5C5C"/>
                </a:solidFill>
                <a:latin typeface="Segoe UI"/>
                <a:ea typeface="Segoe UI"/>
                <a:cs typeface="Segoe UI"/>
              </a:rPr>
              <a:t>ML-KEM-768 session, ML-DSA-65 signatures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641080" y="3429000"/>
            <a:ext cx="694944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200" b="0" i="0">
                <a:solidFill>
                  <a:srgbClr val="1A1A1A"/>
                </a:solidFill>
                <a:latin typeface="Segoe UI Semibold"/>
                <a:ea typeface="Segoe UI Semibold"/>
                <a:cs typeface="Segoe UI Semibold"/>
              </a:rPr>
              <a:t>Constraints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8750808" y="4297680"/>
            <a:ext cx="0" cy="3108960"/>
          </a:xfrm>
          <a:prstGeom prst="line">
            <a:avLst/>
          </a:prstGeom>
          <a:ln w="19050">
            <a:solidFill>
              <a:srgbClr val="BDBD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Oval 40"/>
          <p:cNvSpPr/>
          <p:nvPr/>
        </p:nvSpPr>
        <p:spPr>
          <a:xfrm>
            <a:off x="8650224" y="4197096"/>
            <a:ext cx="201168" cy="20116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5C5C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052560" y="4069080"/>
            <a:ext cx="6583680" cy="7772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1A1A1A"/>
                </a:solidFill>
                <a:latin typeface="Segoe UI Semibold"/>
                <a:ea typeface="Segoe UI Semibold"/>
                <a:cs typeface="Segoe UI Semibold"/>
              </a:rPr>
              <a:t>IoT-class device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0" i="0">
                <a:solidFill>
                  <a:srgbClr val="5C5C5C"/>
                </a:solidFill>
                <a:latin typeface="Segoe UI"/>
                <a:ea typeface="Segoe UI"/>
                <a:cs typeface="Segoe UI"/>
              </a:rPr>
              <a:t>device path is HMAC-SHA256, not post-quantum</a:t>
            </a:r>
          </a:p>
        </p:txBody>
      </p:sp>
      <p:sp>
        <p:nvSpPr>
          <p:cNvPr id="43" name="Oval 42"/>
          <p:cNvSpPr/>
          <p:nvPr/>
        </p:nvSpPr>
        <p:spPr>
          <a:xfrm>
            <a:off x="8650224" y="4974336"/>
            <a:ext cx="201168" cy="20116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5C5C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052560" y="4846320"/>
            <a:ext cx="6583680" cy="7772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1A1A1A"/>
                </a:solidFill>
                <a:latin typeface="Segoe UI Semibold"/>
                <a:ea typeface="Segoe UI Semibold"/>
                <a:cs typeface="Segoe UI Semibold"/>
              </a:rPr>
              <a:t>No hardware attestation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0" i="0">
                <a:solidFill>
                  <a:srgbClr val="5C5C5C"/>
                </a:solidFill>
                <a:latin typeface="Segoe UI"/>
                <a:ea typeface="Segoe UI"/>
                <a:cs typeface="Segoe UI"/>
              </a:rPr>
              <a:t>device state is self-reported evidence</a:t>
            </a:r>
          </a:p>
        </p:txBody>
      </p:sp>
      <p:sp>
        <p:nvSpPr>
          <p:cNvPr id="45" name="Oval 44"/>
          <p:cNvSpPr/>
          <p:nvPr/>
        </p:nvSpPr>
        <p:spPr>
          <a:xfrm>
            <a:off x="8650224" y="5751576"/>
            <a:ext cx="201168" cy="20116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5C5C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052560" y="5623560"/>
            <a:ext cx="6583680" cy="7772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1A1A1A"/>
                </a:solidFill>
                <a:latin typeface="Segoe UI Semibold"/>
                <a:ea typeface="Segoe UI Semibold"/>
                <a:cs typeface="Segoe UI Semibold"/>
              </a:rPr>
              <a:t>Laptop gateway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0" i="0">
                <a:solidFill>
                  <a:srgbClr val="5C5C5C"/>
                </a:solidFill>
                <a:latin typeface="Segoe UI"/>
                <a:ea typeface="Segoe UI"/>
                <a:cs typeface="Segoe UI"/>
              </a:rPr>
              <a:t>FastAPI + SQLite, single process</a:t>
            </a:r>
          </a:p>
        </p:txBody>
      </p:sp>
      <p:sp>
        <p:nvSpPr>
          <p:cNvPr id="47" name="Oval 46"/>
          <p:cNvSpPr/>
          <p:nvPr/>
        </p:nvSpPr>
        <p:spPr>
          <a:xfrm>
            <a:off x="8650224" y="6528816"/>
            <a:ext cx="201168" cy="20116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5C5C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052560" y="6400800"/>
            <a:ext cx="6583680" cy="7772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1A1A1A"/>
                </a:solidFill>
                <a:latin typeface="Segoe UI Semibold"/>
                <a:ea typeface="Segoe UI Semibold"/>
                <a:cs typeface="Segoe UI Semibold"/>
              </a:rPr>
              <a:t>No physical device yet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0" i="0">
                <a:solidFill>
                  <a:srgbClr val="5C5C5C"/>
                </a:solidFill>
                <a:latin typeface="Segoe UI"/>
                <a:ea typeface="Segoe UI"/>
                <a:cs typeface="Segoe UI"/>
              </a:rPr>
              <a:t>telemetry comes from a labelled software agent</a:t>
            </a:r>
          </a:p>
        </p:txBody>
      </p:sp>
      <p:sp>
        <p:nvSpPr>
          <p:cNvPr id="49" name="Oval 48"/>
          <p:cNvSpPr/>
          <p:nvPr/>
        </p:nvSpPr>
        <p:spPr>
          <a:xfrm>
            <a:off x="8650224" y="7306056"/>
            <a:ext cx="201168" cy="20116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5C5C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052560" y="7178040"/>
            <a:ext cx="6583680" cy="7772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1A1A1A"/>
                </a:solidFill>
                <a:latin typeface="Segoe UI Semibold"/>
                <a:ea typeface="Segoe UI Semibold"/>
                <a:cs typeface="Segoe UI Semibold"/>
              </a:rPr>
              <a:t>Uncalibrated parameters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0" i="0">
                <a:solidFill>
                  <a:srgbClr val="5C5C5C"/>
                </a:solidFill>
                <a:latin typeface="Segoe UI"/>
                <a:ea typeface="Segoe UI"/>
                <a:cs typeface="Segoe UI"/>
              </a:rPr>
              <a:t>weights and thresholds are documented design choices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22960" y="9747504"/>
            <a:ext cx="822960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 i="0">
                <a:solidFill>
                  <a:srgbClr val="000000"/>
                </a:solidFill>
                <a:latin typeface="Segoe UI Semibold"/>
                <a:ea typeface="Segoe UI Semibold"/>
                <a:cs typeface="Segoe UI Semibold"/>
              </a:rPr>
              <a:t>Q-SHIELD</a:t>
            </a:r>
            <a:r>
              <a:rPr sz="1500" b="0" i="0">
                <a:solidFill>
                  <a:srgbClr val="000000"/>
                </a:solidFill>
                <a:latin typeface="Segoe UI"/>
                <a:ea typeface="Segoe UI"/>
                <a:cs typeface="Segoe UI"/>
              </a:rPr>
              <a:t>   continuous device trust with post-quantum-signed evidence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3350240" y="9747504"/>
            <a:ext cx="228600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500" b="0" i="0">
                <a:solidFill>
                  <a:srgbClr val="000000"/>
                </a:solidFill>
                <a:latin typeface="Segoe UI"/>
                <a:ea typeface="Segoe UI"/>
                <a:cs typeface="Segoe UI"/>
              </a:rPr>
              <a:t>4 / 24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name="Freeform 2" id="2"/>
          <p:cNvSpPr/>
          <p:nvPr/>
        </p:nvSpPr>
        <p:spPr>
          <a:xfrm flipH="false" flipV="false" rot="0">
            <a:off x="-350872" y="9407052"/>
            <a:ext cx="14979358" cy="908523"/>
          </a:xfrm>
          <a:custGeom>
            <a:avLst/>
            <a:gdLst/>
            <a:ahLst/>
            <a:cxnLst/>
            <a:rect r="r" b="b" t="t" l="l"/>
            <a:pathLst>
              <a:path h="908523" w="14979358">
                <a:moveTo>
                  <a:pt x="0" y="0"/>
                </a:moveTo>
                <a:lnTo>
                  <a:pt x="14979357" y="0"/>
                </a:lnTo>
                <a:lnTo>
                  <a:pt x="14979357" y="908523"/>
                </a:lnTo>
                <a:lnTo>
                  <a:pt x="0" y="90852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2273265" y="1130884"/>
            <a:ext cx="6870735" cy="543077"/>
            <a:chOff x="0" y="0"/>
            <a:chExt cx="9160980" cy="72410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9161018" cy="724154"/>
            </a:xfrm>
            <a:custGeom>
              <a:avLst/>
              <a:gdLst/>
              <a:ahLst/>
              <a:cxnLst/>
              <a:rect r="r" b="b" t="t" l="l"/>
              <a:pathLst>
                <a:path h="724154" w="9161018">
                  <a:moveTo>
                    <a:pt x="0" y="0"/>
                  </a:moveTo>
                  <a:lnTo>
                    <a:pt x="9161018" y="0"/>
                  </a:lnTo>
                  <a:lnTo>
                    <a:pt x="9161018" y="724154"/>
                  </a:lnTo>
                  <a:lnTo>
                    <a:pt x="0" y="72415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914D"/>
            </a:solidFill>
          </p:spPr>
        </p:sp>
      </p:grpSp>
      <p:grpSp>
        <p:nvGrpSpPr>
          <p:cNvPr name="Group 7" id="7"/>
          <p:cNvGrpSpPr/>
          <p:nvPr/>
        </p:nvGrpSpPr>
        <p:grpSpPr>
          <a:xfrm rot="-10800000">
            <a:off x="9124950" y="1130884"/>
            <a:ext cx="6870735" cy="543077"/>
            <a:chOff x="0" y="0"/>
            <a:chExt cx="9160980" cy="724103"/>
          </a:xfrm>
        </p:grpSpPr>
        <p:sp>
          <p:nvSpPr>
            <p:cNvPr name="Freeform 8" id="8"/>
            <p:cNvSpPr/>
            <p:nvPr/>
          </p:nvSpPr>
          <p:spPr>
            <a:xfrm flipH="false" flipV="true" rot="0">
              <a:off x="0" y="0"/>
              <a:ext cx="9161018" cy="724154"/>
            </a:xfrm>
            <a:custGeom>
              <a:avLst/>
              <a:gdLst/>
              <a:ahLst/>
              <a:cxnLst/>
              <a:rect r="r" b="b" t="t" l="l"/>
              <a:pathLst>
                <a:path h="724154" w="9161018">
                  <a:moveTo>
                    <a:pt x="0" y="724154"/>
                  </a:moveTo>
                  <a:lnTo>
                    <a:pt x="9161018" y="724154"/>
                  </a:lnTo>
                  <a:lnTo>
                    <a:pt x="9161018" y="0"/>
                  </a:lnTo>
                  <a:lnTo>
                    <a:pt x="0" y="0"/>
                  </a:lnTo>
                  <a:lnTo>
                    <a:pt x="0" y="724154"/>
                  </a:lnTo>
                  <a:close/>
                </a:path>
              </a:pathLst>
            </a:custGeom>
            <a:solidFill>
              <a:srgbClr val="FF914D"/>
            </a:solidFill>
          </p:spPr>
        </p:sp>
      </p:grpSp>
      <p:grpSp>
        <p:nvGrpSpPr>
          <p:cNvPr name="Group 9" id="9"/>
          <p:cNvGrpSpPr/>
          <p:nvPr/>
        </p:nvGrpSpPr>
        <p:grpSpPr>
          <a:xfrm rot="-10800000">
            <a:off x="-32871" y="1130884"/>
            <a:ext cx="3068079" cy="503739"/>
            <a:chOff x="0" y="0"/>
            <a:chExt cx="4090772" cy="671652"/>
          </a:xfrm>
        </p:grpSpPr>
        <p:sp>
          <p:nvSpPr>
            <p:cNvPr name="Freeform 10" id="10"/>
            <p:cNvSpPr/>
            <p:nvPr/>
          </p:nvSpPr>
          <p:spPr>
            <a:xfrm flipH="false" flipV="true" rot="0">
              <a:off x="0" y="0"/>
              <a:ext cx="4090797" cy="671703"/>
            </a:xfrm>
            <a:custGeom>
              <a:avLst/>
              <a:gdLst/>
              <a:ahLst/>
              <a:cxnLst/>
              <a:rect r="r" b="b" t="t" l="l"/>
              <a:pathLst>
                <a:path h="671703" w="4090797">
                  <a:moveTo>
                    <a:pt x="0" y="671703"/>
                  </a:moveTo>
                  <a:lnTo>
                    <a:pt x="4090797" y="671703"/>
                  </a:lnTo>
                  <a:lnTo>
                    <a:pt x="4090797" y="0"/>
                  </a:lnTo>
                  <a:lnTo>
                    <a:pt x="0" y="0"/>
                  </a:lnTo>
                  <a:lnTo>
                    <a:pt x="0" y="671703"/>
                  </a:lnTo>
                  <a:close/>
                </a:path>
              </a:pathLst>
            </a:custGeom>
            <a:solidFill>
              <a:srgbClr val="FF914D"/>
            </a:solidFill>
          </p:spPr>
        </p:sp>
      </p:grpSp>
      <p:sp>
        <p:nvSpPr>
          <p:cNvPr name="Freeform 11" id="11"/>
          <p:cNvSpPr/>
          <p:nvPr/>
        </p:nvSpPr>
        <p:spPr>
          <a:xfrm flipH="false" flipV="false" rot="-5400000">
            <a:off x="12120564" y="5052657"/>
            <a:ext cx="10084834" cy="2269088"/>
          </a:xfrm>
          <a:custGeom>
            <a:avLst/>
            <a:gdLst/>
            <a:ahLst/>
            <a:cxnLst/>
            <a:rect r="r" b="b" t="t" l="l"/>
            <a:pathLst>
              <a:path h="2269088" w="10084834">
                <a:moveTo>
                  <a:pt x="0" y="0"/>
                </a:moveTo>
                <a:lnTo>
                  <a:pt x="10084834" y="0"/>
                </a:lnTo>
                <a:lnTo>
                  <a:pt x="10084834" y="2269088"/>
                </a:lnTo>
                <a:lnTo>
                  <a:pt x="0" y="226908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-10800000">
            <a:off x="15248496" y="1130884"/>
            <a:ext cx="3068079" cy="503739"/>
            <a:chOff x="0" y="0"/>
            <a:chExt cx="4090772" cy="671652"/>
          </a:xfrm>
        </p:grpSpPr>
        <p:sp>
          <p:nvSpPr>
            <p:cNvPr name="Freeform 13" id="13"/>
            <p:cNvSpPr/>
            <p:nvPr/>
          </p:nvSpPr>
          <p:spPr>
            <a:xfrm flipH="false" flipV="true" rot="0">
              <a:off x="0" y="0"/>
              <a:ext cx="4090797" cy="671703"/>
            </a:xfrm>
            <a:custGeom>
              <a:avLst/>
              <a:gdLst/>
              <a:ahLst/>
              <a:cxnLst/>
              <a:rect r="r" b="b" t="t" l="l"/>
              <a:pathLst>
                <a:path h="671703" w="4090797">
                  <a:moveTo>
                    <a:pt x="0" y="671703"/>
                  </a:moveTo>
                  <a:lnTo>
                    <a:pt x="4090797" y="671703"/>
                  </a:lnTo>
                  <a:lnTo>
                    <a:pt x="4090797" y="0"/>
                  </a:lnTo>
                  <a:lnTo>
                    <a:pt x="0" y="0"/>
                  </a:lnTo>
                  <a:lnTo>
                    <a:pt x="0" y="671703"/>
                  </a:lnTo>
                  <a:close/>
                </a:path>
              </a:pathLst>
            </a:custGeom>
            <a:solidFill>
              <a:srgbClr val="FF914D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5688825" y="96222"/>
            <a:ext cx="2423739" cy="924096"/>
            <a:chOff x="0" y="0"/>
            <a:chExt cx="2307438" cy="879754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307463" cy="879729"/>
            </a:xfrm>
            <a:custGeom>
              <a:avLst/>
              <a:gdLst/>
              <a:ahLst/>
              <a:cxnLst/>
              <a:rect r="r" b="b" t="t" l="l"/>
              <a:pathLst>
                <a:path h="879729" w="2307463">
                  <a:moveTo>
                    <a:pt x="0" y="0"/>
                  </a:moveTo>
                  <a:lnTo>
                    <a:pt x="2307463" y="0"/>
                  </a:lnTo>
                  <a:lnTo>
                    <a:pt x="2307463" y="879729"/>
                  </a:lnTo>
                  <a:lnTo>
                    <a:pt x="0" y="8797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-76294" r="1" b="-85995"/>
              </a:stretch>
            </a:blipFill>
          </p:spPr>
        </p:sp>
      </p:grpSp>
      <p:sp>
        <p:nvSpPr>
          <p:cNvPr name="Freeform 16" id="16"/>
          <p:cNvSpPr/>
          <p:nvPr/>
        </p:nvSpPr>
        <p:spPr>
          <a:xfrm flipH="false" flipV="false" rot="0">
            <a:off x="9857003" y="9407052"/>
            <a:ext cx="14979358" cy="908523"/>
          </a:xfrm>
          <a:custGeom>
            <a:avLst/>
            <a:gdLst/>
            <a:ahLst/>
            <a:cxnLst/>
            <a:rect r="r" b="b" t="t" l="l"/>
            <a:pathLst>
              <a:path h="908523" w="14979358">
                <a:moveTo>
                  <a:pt x="0" y="0"/>
                </a:moveTo>
                <a:lnTo>
                  <a:pt x="14979358" y="0"/>
                </a:lnTo>
                <a:lnTo>
                  <a:pt x="14979358" y="908523"/>
                </a:lnTo>
                <a:lnTo>
                  <a:pt x="0" y="90852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252268" y="89049"/>
            <a:ext cx="2497801" cy="1034663"/>
          </a:xfrm>
          <a:custGeom>
            <a:avLst/>
            <a:gdLst/>
            <a:ahLst/>
            <a:cxnLst/>
            <a:rect r="r" b="b" t="t" l="l"/>
            <a:pathLst>
              <a:path h="1034663" w="2497801">
                <a:moveTo>
                  <a:pt x="0" y="0"/>
                </a:moveTo>
                <a:lnTo>
                  <a:pt x="2497801" y="0"/>
                </a:lnTo>
                <a:lnTo>
                  <a:pt x="2497801" y="1034663"/>
                </a:lnTo>
                <a:lnTo>
                  <a:pt x="0" y="103466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-5988" t="-27243" r="-4375" b="-52819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6236411" y="74654"/>
            <a:ext cx="5815177" cy="987762"/>
          </a:xfrm>
          <a:custGeom>
            <a:avLst/>
            <a:gdLst/>
            <a:ahLst/>
            <a:cxnLst/>
            <a:rect r="r" b="b" t="t" l="l"/>
            <a:pathLst>
              <a:path h="987762" w="5815177">
                <a:moveTo>
                  <a:pt x="0" y="0"/>
                </a:moveTo>
                <a:lnTo>
                  <a:pt x="5815178" y="0"/>
                </a:lnTo>
                <a:lnTo>
                  <a:pt x="5815178" y="987762"/>
                </a:lnTo>
                <a:lnTo>
                  <a:pt x="0" y="987762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-11062" t="-153011" r="-9149" b="-154810"/>
            </a:stretch>
          </a:blipFill>
        </p:spPr>
      </p:sp>
      <p:sp>
        <p:nvSpPr>
          <p:cNvPr id="19" name="TextBox 18"/>
          <p:cNvSpPr txBox="1"/>
          <p:nvPr/>
        </p:nvSpPr>
        <p:spPr>
          <a:xfrm>
            <a:off x="822960" y="1874520"/>
            <a:ext cx="14813280" cy="7315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4000" b="0" i="0">
                <a:solidFill>
                  <a:srgbClr val="000000"/>
                </a:solidFill>
                <a:latin typeface="Bahnschrift SemiBold"/>
                <a:ea typeface="Bahnschrift SemiBold"/>
                <a:cs typeface="Bahnschrift SemiBold"/>
              </a:rPr>
              <a:t>3. Proposed Solution &amp; Execution Plan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2578608"/>
            <a:ext cx="1481328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100" b="0" i="0">
                <a:solidFill>
                  <a:srgbClr val="5C5C5C"/>
                </a:solidFill>
                <a:latin typeface="Segoe UI"/>
                <a:ea typeface="Segoe UI"/>
                <a:cs typeface="Segoe UI"/>
              </a:rPr>
              <a:t>Solution overview: a closed loop around every device</a:t>
            </a:r>
          </a:p>
        </p:txBody>
      </p:sp>
      <p:sp>
        <p:nvSpPr>
          <p:cNvPr id="21" name="Oval 20"/>
          <p:cNvSpPr/>
          <p:nvPr/>
        </p:nvSpPr>
        <p:spPr>
          <a:xfrm>
            <a:off x="822960" y="3063240"/>
            <a:ext cx="128016" cy="128016"/>
          </a:xfrm>
          <a:prstGeom prst="ellipse">
            <a:avLst/>
          </a:prstGeom>
          <a:solidFill>
            <a:srgbClr val="FFFFFF"/>
          </a:solidFill>
          <a:ln w="22225">
            <a:solidFill>
              <a:srgbClr val="FF91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2" name="Connector 21"/>
          <p:cNvCxnSpPr/>
          <p:nvPr/>
        </p:nvCxnSpPr>
        <p:spPr>
          <a:xfrm>
            <a:off x="950976" y="3127248"/>
            <a:ext cx="1335024" cy="0"/>
          </a:xfrm>
          <a:prstGeom prst="line">
            <a:avLst/>
          </a:prstGeom>
          <a:ln w="22225">
            <a:solidFill>
              <a:srgbClr val="FF91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7824448" y="4437031"/>
            <a:ext cx="312338" cy="104134"/>
          </a:xfrm>
          <a:prstGeom prst="line">
            <a:avLst/>
          </a:prstGeom>
          <a:ln w="19050">
            <a:solidFill>
              <a:srgbClr val="5C5C5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9394902" y="5445252"/>
            <a:ext cx="0" cy="886968"/>
          </a:xfrm>
          <a:prstGeom prst="line">
            <a:avLst/>
          </a:prstGeom>
          <a:ln w="19050">
            <a:solidFill>
              <a:srgbClr val="5C5C5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H="1">
            <a:off x="7841797" y="7248811"/>
            <a:ext cx="312338" cy="104134"/>
          </a:xfrm>
          <a:prstGeom prst="line">
            <a:avLst/>
          </a:prstGeom>
          <a:ln w="19050">
            <a:solidFill>
              <a:srgbClr val="5C5C5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H="1" flipV="1">
            <a:off x="5030574" y="7254595"/>
            <a:ext cx="312338" cy="104134"/>
          </a:xfrm>
          <a:prstGeom prst="line">
            <a:avLst/>
          </a:prstGeom>
          <a:ln w="19050">
            <a:solidFill>
              <a:srgbClr val="5C5C5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3772458" y="5463540"/>
            <a:ext cx="0" cy="886968"/>
          </a:xfrm>
          <a:prstGeom prst="line">
            <a:avLst/>
          </a:prstGeom>
          <a:ln w="19050">
            <a:solidFill>
              <a:srgbClr val="5C5C5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V="1">
            <a:off x="5013225" y="4442815"/>
            <a:ext cx="312338" cy="104134"/>
          </a:xfrm>
          <a:prstGeom prst="line">
            <a:avLst/>
          </a:prstGeom>
          <a:ln w="19050">
            <a:solidFill>
              <a:srgbClr val="5C5C5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5394960" y="3593592"/>
            <a:ext cx="2377440" cy="85953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>
            <a:noAutofit/>
          </a:bodyPr>
          <a:lstStyle/>
          <a:p>
            <a:pPr algn="ctr">
              <a:lnSpc>
                <a:spcPct val="100000"/>
              </a:lnSpc>
            </a:pPr>
            <a:r>
              <a:rPr sz="2000" b="0" i="0">
                <a:solidFill>
                  <a:srgbClr val="1A1A1A"/>
                </a:solidFill>
                <a:latin typeface="Segoe UI Semibold"/>
                <a:ea typeface="Segoe UI Semibold"/>
                <a:cs typeface="Segoe UI Semibold"/>
              </a:rPr>
              <a:t>OBSERVE</a:t>
            </a:r>
          </a:p>
          <a:p>
            <a:pPr algn="ctr">
              <a:lnSpc>
                <a:spcPct val="100000"/>
              </a:lnSpc>
            </a:pPr>
            <a:r>
              <a:rPr sz="1500" b="0" i="0">
                <a:solidFill>
                  <a:srgbClr val="5C5C5C"/>
                </a:solidFill>
                <a:latin typeface="Segoe UI"/>
                <a:ea typeface="Segoe UI"/>
                <a:cs typeface="Segoe UI"/>
              </a:rPr>
              <a:t>device and camera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206182" y="4530852"/>
            <a:ext cx="2377440" cy="85953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>
            <a:noAutofit/>
          </a:bodyPr>
          <a:lstStyle/>
          <a:p>
            <a:pPr algn="ctr">
              <a:lnSpc>
                <a:spcPct val="100000"/>
              </a:lnSpc>
            </a:pPr>
            <a:r>
              <a:rPr sz="2000" b="0" i="0">
                <a:solidFill>
                  <a:srgbClr val="1A1A1A"/>
                </a:solidFill>
                <a:latin typeface="Segoe UI Semibold"/>
                <a:ea typeface="Segoe UI Semibold"/>
                <a:cs typeface="Segoe UI Semibold"/>
              </a:rPr>
              <a:t>VERIFY</a:t>
            </a:r>
          </a:p>
          <a:p>
            <a:pPr algn="ctr">
              <a:lnSpc>
                <a:spcPct val="100000"/>
              </a:lnSpc>
            </a:pPr>
            <a:r>
              <a:rPr sz="1500" b="0" i="0">
                <a:solidFill>
                  <a:srgbClr val="5C5C5C"/>
                </a:solidFill>
                <a:latin typeface="Segoe UI"/>
                <a:ea typeface="Segoe UI"/>
                <a:cs typeface="Segoe UI"/>
              </a:rPr>
              <a:t>HMAC, ML-DSA-65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206182" y="6405372"/>
            <a:ext cx="2377440" cy="85953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>
            <a:noAutofit/>
          </a:bodyPr>
          <a:lstStyle/>
          <a:p>
            <a:pPr algn="ctr">
              <a:lnSpc>
                <a:spcPct val="100000"/>
              </a:lnSpc>
            </a:pPr>
            <a:r>
              <a:rPr sz="2000" b="0" i="0">
                <a:solidFill>
                  <a:srgbClr val="1A1A1A"/>
                </a:solidFill>
                <a:latin typeface="Segoe UI Semibold"/>
                <a:ea typeface="Segoe UI Semibold"/>
                <a:cs typeface="Segoe UI Semibold"/>
              </a:rPr>
              <a:t>SCORE</a:t>
            </a:r>
          </a:p>
          <a:p>
            <a:pPr algn="ctr">
              <a:lnSpc>
                <a:spcPct val="100000"/>
              </a:lnSpc>
            </a:pPr>
            <a:r>
              <a:rPr sz="1500" b="0" i="0">
                <a:solidFill>
                  <a:srgbClr val="5C5C5C"/>
                </a:solidFill>
                <a:latin typeface="Segoe UI"/>
                <a:ea typeface="Segoe UI"/>
                <a:cs typeface="Segoe UI"/>
              </a:rPr>
              <a:t>trust engine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394960" y="7342632"/>
            <a:ext cx="2377440" cy="859536"/>
          </a:xfrm>
          <a:prstGeom prst="roundRect">
            <a:avLst>
              <a:gd name="adj" fmla="val 12000"/>
            </a:avLst>
          </a:prstGeom>
          <a:solidFill>
            <a:srgbClr val="FF914D"/>
          </a:solidFill>
          <a:ln w="19050">
            <a:solidFill>
              <a:srgbClr val="FF91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>
            <a:noAutofit/>
          </a:bodyPr>
          <a:lstStyle/>
          <a:p>
            <a:pPr algn="ctr">
              <a:lnSpc>
                <a:spcPct val="100000"/>
              </a:lnSpc>
            </a:pPr>
            <a:r>
              <a:rPr sz="2000" b="0" i="0">
                <a:solidFill>
                  <a:srgbClr val="1A1A1A"/>
                </a:solidFill>
                <a:latin typeface="Segoe UI Semibold"/>
                <a:ea typeface="Segoe UI Semibold"/>
                <a:cs typeface="Segoe UI Semibold"/>
              </a:rPr>
              <a:t>ENFORCE</a:t>
            </a:r>
          </a:p>
          <a:p>
            <a:pPr algn="ctr">
              <a:lnSpc>
                <a:spcPct val="100000"/>
              </a:lnSpc>
            </a:pPr>
            <a:r>
              <a:rPr sz="1500" b="0" i="0">
                <a:solidFill>
                  <a:srgbClr val="000000"/>
                </a:solidFill>
                <a:latin typeface="Segoe UI"/>
                <a:ea typeface="Segoe UI"/>
                <a:cs typeface="Segoe UI"/>
              </a:rPr>
              <a:t>quarantine at gateway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2583738" y="6405372"/>
            <a:ext cx="2377440" cy="859536"/>
          </a:xfrm>
          <a:prstGeom prst="roundRect">
            <a:avLst>
              <a:gd name="adj" fmla="val 12000"/>
            </a:avLst>
          </a:prstGeom>
          <a:solidFill>
            <a:srgbClr val="FF914D"/>
          </a:solidFill>
          <a:ln w="19050">
            <a:solidFill>
              <a:srgbClr val="FF91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>
            <a:noAutofit/>
          </a:bodyPr>
          <a:lstStyle/>
          <a:p>
            <a:pPr algn="ctr">
              <a:lnSpc>
                <a:spcPct val="100000"/>
              </a:lnSpc>
            </a:pPr>
            <a:r>
              <a:rPr sz="2000" b="0" i="0">
                <a:solidFill>
                  <a:srgbClr val="1A1A1A"/>
                </a:solidFill>
                <a:latin typeface="Segoe UI Semibold"/>
                <a:ea typeface="Segoe UI Semibold"/>
                <a:cs typeface="Segoe UI Semibold"/>
              </a:rPr>
              <a:t>RECOVER</a:t>
            </a:r>
          </a:p>
          <a:p>
            <a:pPr algn="ctr">
              <a:lnSpc>
                <a:spcPct val="100000"/>
              </a:lnSpc>
            </a:pPr>
            <a:r>
              <a:rPr sz="1500" b="0" i="0">
                <a:solidFill>
                  <a:srgbClr val="000000"/>
                </a:solidFill>
                <a:latin typeface="Segoe UI"/>
                <a:ea typeface="Segoe UI"/>
                <a:cs typeface="Segoe UI"/>
              </a:rPr>
              <a:t>verified, earned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583738" y="4530852"/>
            <a:ext cx="2377440" cy="85953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>
            <a:noAutofit/>
          </a:bodyPr>
          <a:lstStyle/>
          <a:p>
            <a:pPr algn="ctr">
              <a:lnSpc>
                <a:spcPct val="100000"/>
              </a:lnSpc>
            </a:pPr>
            <a:r>
              <a:rPr sz="2000" b="0" i="0">
                <a:solidFill>
                  <a:srgbClr val="1A1A1A"/>
                </a:solidFill>
                <a:latin typeface="Segoe UI Semibold"/>
                <a:ea typeface="Segoe UI Semibold"/>
                <a:cs typeface="Segoe UI Semibold"/>
              </a:rPr>
              <a:t>PROVE</a:t>
            </a:r>
          </a:p>
          <a:p>
            <a:pPr algn="ctr">
              <a:lnSpc>
                <a:spcPct val="100000"/>
              </a:lnSpc>
            </a:pPr>
            <a:r>
              <a:rPr sz="1500" b="0" i="0">
                <a:solidFill>
                  <a:srgbClr val="5C5C5C"/>
                </a:solidFill>
                <a:latin typeface="Segoe UI"/>
                <a:ea typeface="Segoe UI"/>
                <a:cs typeface="Segoe UI"/>
              </a:rPr>
              <a:t>signed evidence chain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623560" y="5440680"/>
            <a:ext cx="1920240" cy="914400"/>
          </a:xfrm>
          <a:prstGeom prst="roundRect">
            <a:avLst>
              <a:gd name="adj" fmla="val 12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>
            <a:noAutofit/>
          </a:bodyPr>
          <a:lstStyle/>
          <a:p>
            <a:pPr algn="ctr">
              <a:lnSpc>
                <a:spcPct val="100000"/>
              </a:lnSpc>
            </a:pPr>
            <a:r>
              <a:rPr sz="2000" b="0" i="0">
                <a:solidFill>
                  <a:srgbClr val="C2410C"/>
                </a:solidFill>
                <a:latin typeface="Segoe UI Semibold"/>
                <a:ea typeface="Segoe UI Semibold"/>
                <a:cs typeface="Segoe UI Semibold"/>
              </a:rPr>
              <a:t>continuous</a:t>
            </a:r>
          </a:p>
          <a:p>
            <a:pPr algn="ctr">
              <a:lnSpc>
                <a:spcPct val="100000"/>
              </a:lnSpc>
            </a:pPr>
            <a:r>
              <a:rPr sz="2000" b="0" i="0">
                <a:solidFill>
                  <a:srgbClr val="C2410C"/>
                </a:solidFill>
                <a:latin typeface="Segoe UI Semibold"/>
                <a:ea typeface="Segoe UI Semibold"/>
                <a:cs typeface="Segoe UI Semibold"/>
              </a:rPr>
              <a:t>trust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247120" y="3520440"/>
            <a:ext cx="4389120" cy="43891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2000" b="0" i="0">
                <a:solidFill>
                  <a:srgbClr val="1A1A1A"/>
                </a:solidFill>
                <a:latin typeface="Segoe UI Semibold"/>
                <a:ea typeface="Segoe UI Semibold"/>
                <a:cs typeface="Segoe UI Semibold"/>
              </a:rPr>
              <a:t>Working principle</a:t>
            </a:r>
          </a:p>
          <a:p>
            <a:pPr algn="l" marL="292608" indent="-292608">
              <a:lnSpc>
                <a:spcPct val="108000"/>
              </a:lnSpc>
              <a:spcAft>
                <a:spcPts val="400"/>
              </a:spcAft>
              <a:buClr>
                <a:srgbClr val="FF914D"/>
              </a:buClr>
              <a:buSzPct val="70000"/>
              <a:buFont typeface="Arial"/>
              <a:buChar char="■"/>
            </a:pPr>
            <a:r>
              <a:rPr sz="2000" b="0" i="0">
                <a:solidFill>
                  <a:srgbClr val="1A1A1A"/>
                </a:solidFill>
                <a:latin typeface="Segoe UI"/>
                <a:ea typeface="Segoe UI"/>
                <a:cs typeface="Segoe UI"/>
              </a:rPr>
              <a:t>Every message is authenticated before it counts</a:t>
            </a:r>
          </a:p>
          <a:p>
            <a:pPr algn="l" marL="292608" indent="-292608">
              <a:lnSpc>
                <a:spcPct val="108000"/>
              </a:lnSpc>
              <a:spcAft>
                <a:spcPts val="400"/>
              </a:spcAft>
              <a:buClr>
                <a:srgbClr val="FF914D"/>
              </a:buClr>
              <a:buSzPct val="70000"/>
              <a:buFont typeface="Arial"/>
              <a:buChar char="■"/>
            </a:pPr>
            <a:r>
              <a:rPr sz="2000" b="0" i="0">
                <a:solidFill>
                  <a:srgbClr val="1A1A1A"/>
                </a:solidFill>
                <a:latin typeface="Segoe UI"/>
                <a:ea typeface="Segoe UI"/>
                <a:cs typeface="Segoe UI"/>
              </a:rPr>
              <a:t>Every decision is scored and explained</a:t>
            </a:r>
          </a:p>
          <a:p>
            <a:pPr algn="l" marL="292608" indent="-292608">
              <a:lnSpc>
                <a:spcPct val="108000"/>
              </a:lnSpc>
              <a:spcAft>
                <a:spcPts val="400"/>
              </a:spcAft>
              <a:buClr>
                <a:srgbClr val="FF914D"/>
              </a:buClr>
              <a:buSzPct val="70000"/>
              <a:buFont typeface="Arial"/>
              <a:buChar char="■"/>
            </a:pPr>
            <a:r>
              <a:rPr sz="2000" b="0" i="0">
                <a:solidFill>
                  <a:srgbClr val="1A1A1A"/>
                </a:solidFill>
                <a:latin typeface="Segoe UI"/>
                <a:ea typeface="Segoe UI"/>
                <a:cs typeface="Segoe UI"/>
              </a:rPr>
              <a:t>Every block is enforced at the gateway</a:t>
            </a:r>
          </a:p>
          <a:p>
            <a:pPr algn="l" marL="292608" indent="-292608">
              <a:lnSpc>
                <a:spcPct val="108000"/>
              </a:lnSpc>
              <a:spcAft>
                <a:spcPts val="400"/>
              </a:spcAft>
              <a:buClr>
                <a:srgbClr val="FF914D"/>
              </a:buClr>
              <a:buSzPct val="70000"/>
              <a:buFont typeface="Arial"/>
              <a:buChar char="■"/>
            </a:pPr>
            <a:r>
              <a:rPr sz="2000" b="0" i="0">
                <a:solidFill>
                  <a:srgbClr val="1A1A1A"/>
                </a:solidFill>
                <a:latin typeface="Segoe UI"/>
                <a:ea typeface="Segoe UI"/>
                <a:cs typeface="Segoe UI"/>
              </a:rPr>
              <a:t>Every change is signed into the chain</a:t>
            </a:r>
          </a:p>
          <a:p>
            <a:pPr algn="l" marL="292608" indent="-292608">
              <a:lnSpc>
                <a:spcPct val="108000"/>
              </a:lnSpc>
              <a:spcAft>
                <a:spcPts val="400"/>
              </a:spcAft>
              <a:buClr>
                <a:srgbClr val="FF914D"/>
              </a:buClr>
              <a:buSzPct val="70000"/>
              <a:buFont typeface="Arial"/>
              <a:buChar char="■"/>
            </a:pPr>
            <a:r>
              <a:rPr sz="2000" b="0" i="0">
                <a:solidFill>
                  <a:srgbClr val="1A1A1A"/>
                </a:solidFill>
                <a:latin typeface="Segoe UI"/>
                <a:ea typeface="Segoe UI"/>
                <a:cs typeface="Segoe UI"/>
              </a:rPr>
              <a:t>Trust comes back only with fresh evidence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2960" y="8339328"/>
            <a:ext cx="2743200" cy="411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0" i="0">
                <a:solidFill>
                  <a:srgbClr val="1A1A1A"/>
                </a:solidFill>
                <a:latin typeface="Segoe UI Semibold"/>
                <a:ea typeface="Segoe UI Semibold"/>
                <a:cs typeface="Segoe UI Semibold"/>
              </a:rPr>
              <a:t>Execution plan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2834640" y="8211312"/>
            <a:ext cx="2011680" cy="713232"/>
          </a:xfrm>
          <a:prstGeom prst="roundRect">
            <a:avLst>
              <a:gd name="adj" fmla="val 12000"/>
            </a:avLst>
          </a:prstGeom>
          <a:solidFill>
            <a:srgbClr val="F6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36576" bIns="36576">
            <a:no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1A1A1A"/>
                </a:solidFill>
                <a:latin typeface="Segoe UI Semibold"/>
                <a:ea typeface="Segoe UI Semibold"/>
                <a:cs typeface="Segoe UI Semibold"/>
              </a:rPr>
              <a:t>Phases 0-3</a:t>
            </a:r>
          </a:p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5C5C5C"/>
                </a:solidFill>
                <a:latin typeface="Segoe UI"/>
                <a:ea typeface="Segoe UI"/>
                <a:cs typeface="Segoe UI"/>
              </a:rPr>
              <a:t>protocol, PQC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4873752" y="8567928"/>
            <a:ext cx="219456" cy="0"/>
          </a:xfrm>
          <a:prstGeom prst="line">
            <a:avLst/>
          </a:prstGeom>
          <a:ln w="22225">
            <a:solidFill>
              <a:srgbClr val="FF914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ounded Rectangle 39"/>
          <p:cNvSpPr/>
          <p:nvPr/>
        </p:nvSpPr>
        <p:spPr>
          <a:xfrm>
            <a:off x="5120640" y="8211312"/>
            <a:ext cx="2011680" cy="713232"/>
          </a:xfrm>
          <a:prstGeom prst="roundRect">
            <a:avLst>
              <a:gd name="adj" fmla="val 12000"/>
            </a:avLst>
          </a:prstGeom>
          <a:solidFill>
            <a:srgbClr val="F6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36576" bIns="36576">
            <a:no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1A1A1A"/>
                </a:solidFill>
                <a:latin typeface="Segoe UI Semibold"/>
                <a:ea typeface="Segoe UI Semibold"/>
                <a:cs typeface="Segoe UI Semibold"/>
              </a:rPr>
              <a:t>Phase 4</a:t>
            </a:r>
          </a:p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5C5C5C"/>
                </a:solidFill>
                <a:latin typeface="Segoe UI"/>
                <a:ea typeface="Segoe UI"/>
                <a:cs typeface="Segoe UI"/>
              </a:rPr>
              <a:t>trust engine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7159752" y="8567928"/>
            <a:ext cx="219456" cy="0"/>
          </a:xfrm>
          <a:prstGeom prst="line">
            <a:avLst/>
          </a:prstGeom>
          <a:ln w="22225">
            <a:solidFill>
              <a:srgbClr val="FF914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ounded Rectangle 41"/>
          <p:cNvSpPr/>
          <p:nvPr/>
        </p:nvSpPr>
        <p:spPr>
          <a:xfrm>
            <a:off x="7406640" y="8211312"/>
            <a:ext cx="3749040" cy="713232"/>
          </a:xfrm>
          <a:prstGeom prst="roundRect">
            <a:avLst>
              <a:gd name="adj" fmla="val 12000"/>
            </a:avLst>
          </a:prstGeom>
          <a:solidFill>
            <a:srgbClr val="F6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36576" bIns="36576">
            <a:no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1A1A1A"/>
                </a:solidFill>
                <a:latin typeface="Segoe UI Semibold"/>
                <a:ea typeface="Segoe UI Semibold"/>
                <a:cs typeface="Segoe UI Semibold"/>
              </a:rPr>
              <a:t>Phases 5-11</a:t>
            </a:r>
          </a:p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5C5C5C"/>
                </a:solidFill>
                <a:latin typeface="Segoe UI"/>
                <a:ea typeface="Segoe UI"/>
                <a:cs typeface="Segoe UI"/>
              </a:rPr>
              <a:t>attacks, quarantine, recovery, demo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11183112" y="8567928"/>
            <a:ext cx="219456" cy="0"/>
          </a:xfrm>
          <a:prstGeom prst="line">
            <a:avLst/>
          </a:prstGeom>
          <a:ln w="22225">
            <a:solidFill>
              <a:srgbClr val="FF914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Rounded Rectangle 43"/>
          <p:cNvSpPr/>
          <p:nvPr/>
        </p:nvSpPr>
        <p:spPr>
          <a:xfrm>
            <a:off x="11430000" y="8211312"/>
            <a:ext cx="4206240" cy="713232"/>
          </a:xfrm>
          <a:prstGeom prst="roundRect">
            <a:avLst>
              <a:gd name="adj" fmla="val 12000"/>
            </a:avLst>
          </a:prstGeom>
          <a:solidFill>
            <a:srgbClr val="F6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36576" bIns="36576">
            <a:no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1A1A1A"/>
                </a:solidFill>
                <a:latin typeface="Segoe UI Semibold"/>
                <a:ea typeface="Segoe UI Semibold"/>
                <a:cs typeface="Segoe UI Semibold"/>
              </a:rPr>
              <a:t>Phases 12-17</a:t>
            </a:r>
          </a:p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5C5C5C"/>
                </a:solidFill>
                <a:latin typeface="Segoe UI"/>
                <a:ea typeface="Segoe UI"/>
                <a:cs typeface="Segoe UI"/>
              </a:rPr>
              <a:t>operators, UI, hardening, camera boundary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22960" y="9747504"/>
            <a:ext cx="822960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 i="0">
                <a:solidFill>
                  <a:srgbClr val="000000"/>
                </a:solidFill>
                <a:latin typeface="Segoe UI Semibold"/>
                <a:ea typeface="Segoe UI Semibold"/>
                <a:cs typeface="Segoe UI Semibold"/>
              </a:rPr>
              <a:t>Q-SHIELD</a:t>
            </a:r>
            <a:r>
              <a:rPr sz="1500" b="0" i="0">
                <a:solidFill>
                  <a:srgbClr val="000000"/>
                </a:solidFill>
                <a:latin typeface="Segoe UI"/>
                <a:ea typeface="Segoe UI"/>
                <a:cs typeface="Segoe UI"/>
              </a:rPr>
              <a:t>   continuous device trust with post-quantum-signed evidence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3350240" y="9747504"/>
            <a:ext cx="228600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500" b="0" i="0">
                <a:solidFill>
                  <a:srgbClr val="000000"/>
                </a:solidFill>
                <a:latin typeface="Segoe UI"/>
                <a:ea typeface="Segoe UI"/>
                <a:cs typeface="Segoe UI"/>
              </a:rPr>
              <a:t>5 / 24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name="Freeform 2" id="2"/>
          <p:cNvSpPr/>
          <p:nvPr/>
        </p:nvSpPr>
        <p:spPr>
          <a:xfrm flipH="false" flipV="false" rot="0">
            <a:off x="-350872" y="9407052"/>
            <a:ext cx="14979358" cy="908523"/>
          </a:xfrm>
          <a:custGeom>
            <a:avLst/>
            <a:gdLst/>
            <a:ahLst/>
            <a:cxnLst/>
            <a:rect r="r" b="b" t="t" l="l"/>
            <a:pathLst>
              <a:path h="908523" w="14979358">
                <a:moveTo>
                  <a:pt x="0" y="0"/>
                </a:moveTo>
                <a:lnTo>
                  <a:pt x="14979357" y="0"/>
                </a:lnTo>
                <a:lnTo>
                  <a:pt x="14979357" y="908523"/>
                </a:lnTo>
                <a:lnTo>
                  <a:pt x="0" y="90852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2273265" y="1130884"/>
            <a:ext cx="6870735" cy="543077"/>
            <a:chOff x="0" y="0"/>
            <a:chExt cx="9160980" cy="72410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9161018" cy="724154"/>
            </a:xfrm>
            <a:custGeom>
              <a:avLst/>
              <a:gdLst/>
              <a:ahLst/>
              <a:cxnLst/>
              <a:rect r="r" b="b" t="t" l="l"/>
              <a:pathLst>
                <a:path h="724154" w="9161018">
                  <a:moveTo>
                    <a:pt x="0" y="0"/>
                  </a:moveTo>
                  <a:lnTo>
                    <a:pt x="9161018" y="0"/>
                  </a:lnTo>
                  <a:lnTo>
                    <a:pt x="9161018" y="724154"/>
                  </a:lnTo>
                  <a:lnTo>
                    <a:pt x="0" y="72415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914D"/>
            </a:solidFill>
          </p:spPr>
        </p:sp>
      </p:grpSp>
      <p:grpSp>
        <p:nvGrpSpPr>
          <p:cNvPr name="Group 7" id="7"/>
          <p:cNvGrpSpPr/>
          <p:nvPr/>
        </p:nvGrpSpPr>
        <p:grpSpPr>
          <a:xfrm rot="-10800000">
            <a:off x="9124950" y="1130884"/>
            <a:ext cx="6870735" cy="543077"/>
            <a:chOff x="0" y="0"/>
            <a:chExt cx="9160980" cy="724103"/>
          </a:xfrm>
        </p:grpSpPr>
        <p:sp>
          <p:nvSpPr>
            <p:cNvPr name="Freeform 8" id="8"/>
            <p:cNvSpPr/>
            <p:nvPr/>
          </p:nvSpPr>
          <p:spPr>
            <a:xfrm flipH="false" flipV="true" rot="0">
              <a:off x="0" y="0"/>
              <a:ext cx="9161018" cy="724154"/>
            </a:xfrm>
            <a:custGeom>
              <a:avLst/>
              <a:gdLst/>
              <a:ahLst/>
              <a:cxnLst/>
              <a:rect r="r" b="b" t="t" l="l"/>
              <a:pathLst>
                <a:path h="724154" w="9161018">
                  <a:moveTo>
                    <a:pt x="0" y="724154"/>
                  </a:moveTo>
                  <a:lnTo>
                    <a:pt x="9161018" y="724154"/>
                  </a:lnTo>
                  <a:lnTo>
                    <a:pt x="9161018" y="0"/>
                  </a:lnTo>
                  <a:lnTo>
                    <a:pt x="0" y="0"/>
                  </a:lnTo>
                  <a:lnTo>
                    <a:pt x="0" y="724154"/>
                  </a:lnTo>
                  <a:close/>
                </a:path>
              </a:pathLst>
            </a:custGeom>
            <a:solidFill>
              <a:srgbClr val="FF914D"/>
            </a:solidFill>
          </p:spPr>
        </p:sp>
      </p:grpSp>
      <p:grpSp>
        <p:nvGrpSpPr>
          <p:cNvPr name="Group 9" id="9"/>
          <p:cNvGrpSpPr/>
          <p:nvPr/>
        </p:nvGrpSpPr>
        <p:grpSpPr>
          <a:xfrm rot="-10800000">
            <a:off x="-32871" y="1130884"/>
            <a:ext cx="3068079" cy="503739"/>
            <a:chOff x="0" y="0"/>
            <a:chExt cx="4090772" cy="671652"/>
          </a:xfrm>
        </p:grpSpPr>
        <p:sp>
          <p:nvSpPr>
            <p:cNvPr name="Freeform 10" id="10"/>
            <p:cNvSpPr/>
            <p:nvPr/>
          </p:nvSpPr>
          <p:spPr>
            <a:xfrm flipH="false" flipV="true" rot="0">
              <a:off x="0" y="0"/>
              <a:ext cx="4090797" cy="671703"/>
            </a:xfrm>
            <a:custGeom>
              <a:avLst/>
              <a:gdLst/>
              <a:ahLst/>
              <a:cxnLst/>
              <a:rect r="r" b="b" t="t" l="l"/>
              <a:pathLst>
                <a:path h="671703" w="4090797">
                  <a:moveTo>
                    <a:pt x="0" y="671703"/>
                  </a:moveTo>
                  <a:lnTo>
                    <a:pt x="4090797" y="671703"/>
                  </a:lnTo>
                  <a:lnTo>
                    <a:pt x="4090797" y="0"/>
                  </a:lnTo>
                  <a:lnTo>
                    <a:pt x="0" y="0"/>
                  </a:lnTo>
                  <a:lnTo>
                    <a:pt x="0" y="671703"/>
                  </a:lnTo>
                  <a:close/>
                </a:path>
              </a:pathLst>
            </a:custGeom>
            <a:solidFill>
              <a:srgbClr val="FF914D"/>
            </a:solidFill>
          </p:spPr>
        </p:sp>
      </p:grpSp>
      <p:sp>
        <p:nvSpPr>
          <p:cNvPr name="Freeform 11" id="11"/>
          <p:cNvSpPr/>
          <p:nvPr/>
        </p:nvSpPr>
        <p:spPr>
          <a:xfrm flipH="false" flipV="false" rot="-5400000">
            <a:off x="12120564" y="5052657"/>
            <a:ext cx="10084834" cy="2269088"/>
          </a:xfrm>
          <a:custGeom>
            <a:avLst/>
            <a:gdLst/>
            <a:ahLst/>
            <a:cxnLst/>
            <a:rect r="r" b="b" t="t" l="l"/>
            <a:pathLst>
              <a:path h="2269088" w="10084834">
                <a:moveTo>
                  <a:pt x="0" y="0"/>
                </a:moveTo>
                <a:lnTo>
                  <a:pt x="10084834" y="0"/>
                </a:lnTo>
                <a:lnTo>
                  <a:pt x="10084834" y="2269088"/>
                </a:lnTo>
                <a:lnTo>
                  <a:pt x="0" y="226908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-10800000">
            <a:off x="15248496" y="1130884"/>
            <a:ext cx="3068079" cy="503739"/>
            <a:chOff x="0" y="0"/>
            <a:chExt cx="4090772" cy="671652"/>
          </a:xfrm>
        </p:grpSpPr>
        <p:sp>
          <p:nvSpPr>
            <p:cNvPr name="Freeform 13" id="13"/>
            <p:cNvSpPr/>
            <p:nvPr/>
          </p:nvSpPr>
          <p:spPr>
            <a:xfrm flipH="false" flipV="true" rot="0">
              <a:off x="0" y="0"/>
              <a:ext cx="4090797" cy="671703"/>
            </a:xfrm>
            <a:custGeom>
              <a:avLst/>
              <a:gdLst/>
              <a:ahLst/>
              <a:cxnLst/>
              <a:rect r="r" b="b" t="t" l="l"/>
              <a:pathLst>
                <a:path h="671703" w="4090797">
                  <a:moveTo>
                    <a:pt x="0" y="671703"/>
                  </a:moveTo>
                  <a:lnTo>
                    <a:pt x="4090797" y="671703"/>
                  </a:lnTo>
                  <a:lnTo>
                    <a:pt x="4090797" y="0"/>
                  </a:lnTo>
                  <a:lnTo>
                    <a:pt x="0" y="0"/>
                  </a:lnTo>
                  <a:lnTo>
                    <a:pt x="0" y="671703"/>
                  </a:lnTo>
                  <a:close/>
                </a:path>
              </a:pathLst>
            </a:custGeom>
            <a:solidFill>
              <a:srgbClr val="FF914D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5688825" y="96222"/>
            <a:ext cx="2423739" cy="924096"/>
            <a:chOff x="0" y="0"/>
            <a:chExt cx="2307438" cy="879754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307463" cy="879729"/>
            </a:xfrm>
            <a:custGeom>
              <a:avLst/>
              <a:gdLst/>
              <a:ahLst/>
              <a:cxnLst/>
              <a:rect r="r" b="b" t="t" l="l"/>
              <a:pathLst>
                <a:path h="879729" w="2307463">
                  <a:moveTo>
                    <a:pt x="0" y="0"/>
                  </a:moveTo>
                  <a:lnTo>
                    <a:pt x="2307463" y="0"/>
                  </a:lnTo>
                  <a:lnTo>
                    <a:pt x="2307463" y="879729"/>
                  </a:lnTo>
                  <a:lnTo>
                    <a:pt x="0" y="8797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-76294" r="1" b="-85995"/>
              </a:stretch>
            </a:blipFill>
          </p:spPr>
        </p:sp>
      </p:grpSp>
      <p:sp>
        <p:nvSpPr>
          <p:cNvPr name="Freeform 16" id="16"/>
          <p:cNvSpPr/>
          <p:nvPr/>
        </p:nvSpPr>
        <p:spPr>
          <a:xfrm flipH="false" flipV="false" rot="0">
            <a:off x="9857003" y="9407052"/>
            <a:ext cx="14979358" cy="908523"/>
          </a:xfrm>
          <a:custGeom>
            <a:avLst/>
            <a:gdLst/>
            <a:ahLst/>
            <a:cxnLst/>
            <a:rect r="r" b="b" t="t" l="l"/>
            <a:pathLst>
              <a:path h="908523" w="14979358">
                <a:moveTo>
                  <a:pt x="0" y="0"/>
                </a:moveTo>
                <a:lnTo>
                  <a:pt x="14979358" y="0"/>
                </a:lnTo>
                <a:lnTo>
                  <a:pt x="14979358" y="908523"/>
                </a:lnTo>
                <a:lnTo>
                  <a:pt x="0" y="90852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252268" y="89049"/>
            <a:ext cx="2497801" cy="1034663"/>
          </a:xfrm>
          <a:custGeom>
            <a:avLst/>
            <a:gdLst/>
            <a:ahLst/>
            <a:cxnLst/>
            <a:rect r="r" b="b" t="t" l="l"/>
            <a:pathLst>
              <a:path h="1034663" w="2497801">
                <a:moveTo>
                  <a:pt x="0" y="0"/>
                </a:moveTo>
                <a:lnTo>
                  <a:pt x="2497801" y="0"/>
                </a:lnTo>
                <a:lnTo>
                  <a:pt x="2497801" y="1034663"/>
                </a:lnTo>
                <a:lnTo>
                  <a:pt x="0" y="103466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-5988" t="-27243" r="-4375" b="-52819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6236411" y="74654"/>
            <a:ext cx="5815177" cy="987762"/>
          </a:xfrm>
          <a:custGeom>
            <a:avLst/>
            <a:gdLst/>
            <a:ahLst/>
            <a:cxnLst/>
            <a:rect r="r" b="b" t="t" l="l"/>
            <a:pathLst>
              <a:path h="987762" w="5815177">
                <a:moveTo>
                  <a:pt x="0" y="0"/>
                </a:moveTo>
                <a:lnTo>
                  <a:pt x="5815178" y="0"/>
                </a:lnTo>
                <a:lnTo>
                  <a:pt x="5815178" y="987762"/>
                </a:lnTo>
                <a:lnTo>
                  <a:pt x="0" y="987762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-11062" t="-153011" r="-9149" b="-154810"/>
            </a:stretch>
          </a:blipFill>
        </p:spPr>
      </p:sp>
      <p:sp>
        <p:nvSpPr>
          <p:cNvPr id="19" name="TextBox 18"/>
          <p:cNvSpPr txBox="1"/>
          <p:nvPr/>
        </p:nvSpPr>
        <p:spPr>
          <a:xfrm>
            <a:off x="822960" y="1810512"/>
            <a:ext cx="10972800" cy="3291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 i="0">
                <a:solidFill>
                  <a:srgbClr val="C2410C"/>
                </a:solidFill>
                <a:latin typeface="Segoe UI Semibold"/>
                <a:ea typeface="Segoe UI Semibold"/>
                <a:cs typeface="Segoe UI Semibold"/>
              </a:rPr>
              <a:t>3. Proposed Solution &amp; Execution Plan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2084832"/>
            <a:ext cx="14813280" cy="7315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4000" b="0" i="0">
                <a:solidFill>
                  <a:srgbClr val="000000"/>
                </a:solidFill>
                <a:latin typeface="Bahnschrift SemiBold"/>
                <a:ea typeface="Bahnschrift SemiBold"/>
                <a:cs typeface="Bahnschrift SemiBold"/>
              </a:rPr>
              <a:t>Working principle: system architecture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2761488"/>
            <a:ext cx="1481328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100" b="0" i="0">
                <a:solidFill>
                  <a:srgbClr val="5C5C5C"/>
                </a:solidFill>
                <a:latin typeface="Segoe UI"/>
                <a:ea typeface="Segoe UI"/>
                <a:cs typeface="Segoe UI"/>
              </a:rPr>
              <a:t>Two clients authenticate differently and never interchangeably</a:t>
            </a:r>
          </a:p>
        </p:txBody>
      </p:sp>
      <p:sp>
        <p:nvSpPr>
          <p:cNvPr id="22" name="Oval 21"/>
          <p:cNvSpPr/>
          <p:nvPr/>
        </p:nvSpPr>
        <p:spPr>
          <a:xfrm>
            <a:off x="822960" y="3246120"/>
            <a:ext cx="128016" cy="128016"/>
          </a:xfrm>
          <a:prstGeom prst="ellipse">
            <a:avLst/>
          </a:prstGeom>
          <a:solidFill>
            <a:srgbClr val="FFFFFF"/>
          </a:solidFill>
          <a:ln w="22225">
            <a:solidFill>
              <a:srgbClr val="FF91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3" name="Connector 22"/>
          <p:cNvCxnSpPr/>
          <p:nvPr/>
        </p:nvCxnSpPr>
        <p:spPr>
          <a:xfrm>
            <a:off x="950976" y="3310128"/>
            <a:ext cx="1335024" cy="0"/>
          </a:xfrm>
          <a:prstGeom prst="line">
            <a:avLst/>
          </a:prstGeom>
          <a:ln w="22225">
            <a:solidFill>
              <a:srgbClr val="FF91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822960" y="3520440"/>
            <a:ext cx="2514600" cy="868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>
            <a:noAutofit/>
          </a:bodyPr>
          <a:lstStyle/>
          <a:p>
            <a:pPr algn="ctr">
              <a:lnSpc>
                <a:spcPct val="100000"/>
              </a:lnSpc>
            </a:pPr>
            <a:r>
              <a:rPr sz="1800" b="0" i="0">
                <a:solidFill>
                  <a:srgbClr val="1A1A1A"/>
                </a:solidFill>
                <a:latin typeface="Segoe UI Semibold"/>
                <a:ea typeface="Segoe UI Semibold"/>
                <a:cs typeface="Segoe UI Semibold"/>
              </a:rPr>
              <a:t>ESP32 / device agent</a:t>
            </a:r>
          </a:p>
          <a:p>
            <a:pPr algn="ctr">
              <a:lnSpc>
                <a:spcPct val="100000"/>
              </a:lnSpc>
            </a:pPr>
            <a:r>
              <a:rPr sz="1500" b="0" i="0">
                <a:solidFill>
                  <a:srgbClr val="5C5C5C"/>
                </a:solidFill>
                <a:latin typeface="Segoe UI"/>
                <a:ea typeface="Segoe UI"/>
                <a:cs typeface="Segoe UI"/>
              </a:rPr>
              <a:t>simulated today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794760" y="3520440"/>
            <a:ext cx="2834640" cy="868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>
            <a:noAutofit/>
          </a:bodyPr>
          <a:lstStyle/>
          <a:p>
            <a:pPr algn="ctr">
              <a:lnSpc>
                <a:spcPct val="100000"/>
              </a:lnSpc>
            </a:pPr>
            <a:r>
              <a:rPr sz="1800" b="0" i="0">
                <a:solidFill>
                  <a:srgbClr val="1A1A1A"/>
                </a:solidFill>
                <a:latin typeface="Segoe UI Semibold"/>
                <a:ea typeface="Segoe UI Semibold"/>
                <a:cs typeface="Segoe UI Semibold"/>
              </a:rPr>
              <a:t>Identity</a:t>
            </a:r>
          </a:p>
          <a:p>
            <a:pPr algn="ctr">
              <a:lnSpc>
                <a:spcPct val="100000"/>
              </a:lnSpc>
            </a:pPr>
            <a:r>
              <a:rPr sz="1500" b="0" i="0">
                <a:solidFill>
                  <a:srgbClr val="5C5C5C"/>
                </a:solidFill>
                <a:latin typeface="Consolas"/>
                <a:ea typeface="Consolas"/>
                <a:cs typeface="Consolas"/>
              </a:rPr>
              <a:t>HMAC-SHA256 + counter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3374136" y="3950208"/>
            <a:ext cx="384048" cy="0"/>
          </a:xfrm>
          <a:prstGeom prst="line">
            <a:avLst/>
          </a:prstGeom>
          <a:ln w="22225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822960" y="4892040"/>
            <a:ext cx="2514600" cy="868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>
            <a:noAutofit/>
          </a:bodyPr>
          <a:lstStyle/>
          <a:p>
            <a:pPr algn="ctr">
              <a:lnSpc>
                <a:spcPct val="100000"/>
              </a:lnSpc>
            </a:pPr>
            <a:r>
              <a:rPr sz="1800" b="0" i="0">
                <a:solidFill>
                  <a:srgbClr val="1A1A1A"/>
                </a:solidFill>
                <a:latin typeface="Segoe UI Semibold"/>
                <a:ea typeface="Segoe UI Semibold"/>
                <a:cs typeface="Segoe UI Semibold"/>
              </a:rPr>
              <a:t>Vision service</a:t>
            </a:r>
          </a:p>
          <a:p>
            <a:pPr algn="ctr">
              <a:lnSpc>
                <a:spcPct val="100000"/>
              </a:lnSpc>
            </a:pPr>
            <a:r>
              <a:rPr sz="1500" b="0" i="0">
                <a:solidFill>
                  <a:srgbClr val="5C5C5C"/>
                </a:solidFill>
                <a:latin typeface="Segoe UI"/>
                <a:ea typeface="Segoe UI"/>
                <a:cs typeface="Segoe UI"/>
              </a:rPr>
              <a:t>camera + YOLO11n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794760" y="4892040"/>
            <a:ext cx="2834640" cy="868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>
            <a:noAutofit/>
          </a:bodyPr>
          <a:lstStyle/>
          <a:p>
            <a:pPr algn="ctr">
              <a:lnSpc>
                <a:spcPct val="100000"/>
              </a:lnSpc>
            </a:pPr>
            <a:r>
              <a:rPr sz="1800" b="0" i="0">
                <a:solidFill>
                  <a:srgbClr val="1A1A1A"/>
                </a:solidFill>
                <a:latin typeface="Segoe UI Semibold"/>
                <a:ea typeface="Segoe UI Semibold"/>
                <a:cs typeface="Segoe UI Semibold"/>
              </a:rPr>
              <a:t>PQC session</a:t>
            </a:r>
          </a:p>
          <a:p>
            <a:pPr algn="ctr">
              <a:lnSpc>
                <a:spcPct val="100000"/>
              </a:lnSpc>
            </a:pPr>
            <a:r>
              <a:rPr sz="1500" b="0" i="0">
                <a:solidFill>
                  <a:srgbClr val="5C5C5C"/>
                </a:solidFill>
                <a:latin typeface="Consolas"/>
                <a:ea typeface="Consolas"/>
                <a:cs typeface="Consolas"/>
              </a:rPr>
              <a:t>ML-KEM-768, AES-256-GCM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086600" y="4892040"/>
            <a:ext cx="2743200" cy="868680"/>
          </a:xfrm>
          <a:prstGeom prst="roundRect">
            <a:avLst>
              <a:gd name="adj" fmla="val 12000"/>
            </a:avLst>
          </a:prstGeom>
          <a:solidFill>
            <a:srgbClr val="FFE9DB"/>
          </a:solidFill>
          <a:ln w="19050">
            <a:solidFill>
              <a:srgbClr val="FF91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>
            <a:noAutofit/>
          </a:bodyPr>
          <a:lstStyle/>
          <a:p>
            <a:pPr algn="ctr">
              <a:lnSpc>
                <a:spcPct val="100000"/>
              </a:lnSpc>
            </a:pPr>
            <a:r>
              <a:rPr sz="1800" b="0" i="0">
                <a:solidFill>
                  <a:srgbClr val="1A1A1A"/>
                </a:solidFill>
                <a:latin typeface="Segoe UI Semibold"/>
                <a:ea typeface="Segoe UI Semibold"/>
                <a:cs typeface="Segoe UI Semibold"/>
              </a:rPr>
              <a:t>Signed observations</a:t>
            </a:r>
          </a:p>
          <a:p>
            <a:pPr algn="ctr">
              <a:lnSpc>
                <a:spcPct val="100000"/>
              </a:lnSpc>
            </a:pPr>
            <a:r>
              <a:rPr sz="1500" b="0" i="0">
                <a:solidFill>
                  <a:srgbClr val="5C5C5C"/>
                </a:solidFill>
                <a:latin typeface="Consolas"/>
                <a:ea typeface="Consolas"/>
                <a:cs typeface="Consolas"/>
              </a:rPr>
              <a:t>ML-DSA-65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3374136" y="5321808"/>
            <a:ext cx="384048" cy="0"/>
          </a:xfrm>
          <a:prstGeom prst="line">
            <a:avLst/>
          </a:prstGeom>
          <a:ln w="22225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6665976" y="5321808"/>
            <a:ext cx="384048" cy="0"/>
          </a:xfrm>
          <a:prstGeom prst="line">
            <a:avLst/>
          </a:prstGeom>
          <a:ln w="22225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10332720" y="3520440"/>
            <a:ext cx="2331720" cy="22402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>
            <a:noAutofit/>
          </a:bodyPr>
          <a:lstStyle/>
          <a:p>
            <a:pPr algn="ctr">
              <a:lnSpc>
                <a:spcPct val="100000"/>
              </a:lnSpc>
            </a:pPr>
            <a:r>
              <a:rPr sz="2000" b="0" i="0">
                <a:solidFill>
                  <a:srgbClr val="1A1A1A"/>
                </a:solidFill>
                <a:latin typeface="Segoe UI Semibold"/>
                <a:ea typeface="Segoe UI Semibold"/>
                <a:cs typeface="Segoe UI Semibold"/>
              </a:rPr>
              <a:t>Gateway</a:t>
            </a:r>
          </a:p>
          <a:p>
            <a:pPr algn="ctr">
              <a:lnSpc>
                <a:spcPct val="100000"/>
              </a:lnSpc>
            </a:pPr>
            <a:r>
              <a:rPr sz="1500" b="0" i="0">
                <a:solidFill>
                  <a:srgbClr val="5C5C5C"/>
                </a:solidFill>
                <a:latin typeface="Segoe UI"/>
                <a:ea typeface="Segoe UI"/>
                <a:cs typeface="Segoe UI"/>
              </a:rPr>
              <a:t>authenticate</a:t>
            </a:r>
          </a:p>
          <a:p>
            <a:pPr algn="ctr">
              <a:lnSpc>
                <a:spcPct val="100000"/>
              </a:lnSpc>
            </a:pPr>
            <a:r>
              <a:rPr sz="1500" b="0" i="0">
                <a:solidFill>
                  <a:srgbClr val="5C5C5C"/>
                </a:solidFill>
                <a:latin typeface="Segoe UI"/>
                <a:ea typeface="Segoe UI"/>
                <a:cs typeface="Segoe UI"/>
              </a:rPr>
              <a:t>enforce</a:t>
            </a:r>
          </a:p>
          <a:p>
            <a:pPr algn="ctr">
              <a:lnSpc>
                <a:spcPct val="100000"/>
              </a:lnSpc>
            </a:pPr>
            <a:r>
              <a:rPr sz="1500" b="0" i="0">
                <a:solidFill>
                  <a:srgbClr val="5C5C5C"/>
                </a:solidFill>
                <a:latin typeface="Segoe UI"/>
                <a:ea typeface="Segoe UI"/>
                <a:cs typeface="Segoe UI"/>
              </a:rPr>
              <a:t>record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6665976" y="3950208"/>
            <a:ext cx="3630168" cy="0"/>
          </a:xfrm>
          <a:prstGeom prst="line">
            <a:avLst/>
          </a:prstGeom>
          <a:ln w="22225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9866376" y="5321808"/>
            <a:ext cx="429768" cy="0"/>
          </a:xfrm>
          <a:prstGeom prst="line">
            <a:avLst/>
          </a:prstGeom>
          <a:ln w="22225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13121640" y="3520440"/>
            <a:ext cx="2514600" cy="2240280"/>
          </a:xfrm>
          <a:prstGeom prst="roundRect">
            <a:avLst>
              <a:gd name="adj" fmla="val 12000"/>
            </a:avLst>
          </a:prstGeom>
          <a:solidFill>
            <a:srgbClr val="000000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>
            <a:noAutofit/>
          </a:bodyPr>
          <a:lstStyle/>
          <a:p>
            <a:pPr algn="ctr">
              <a:lnSpc>
                <a:spcPct val="100000"/>
              </a:lnSpc>
            </a:pPr>
            <a:r>
              <a:rPr sz="2000" b="0" i="0">
                <a:solidFill>
                  <a:srgbClr val="FFFFFF"/>
                </a:solidFill>
                <a:latin typeface="Segoe UI Semibold"/>
                <a:ea typeface="Segoe UI Semibold"/>
                <a:cs typeface="Segoe UI Semibold"/>
              </a:rPr>
              <a:t>Trust engine</a:t>
            </a:r>
          </a:p>
          <a:p>
            <a:pPr algn="ctr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six factors</a:t>
            </a:r>
          </a:p>
          <a:p>
            <a:pPr algn="ctr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caps, decay</a:t>
            </a:r>
          </a:p>
          <a:p>
            <a:pPr algn="ctr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state machine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12701016" y="4636008"/>
            <a:ext cx="384048" cy="0"/>
          </a:xfrm>
          <a:prstGeom prst="line">
            <a:avLst/>
          </a:prstGeom>
          <a:ln w="22225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Diamond 36"/>
          <p:cNvSpPr/>
          <p:nvPr/>
        </p:nvSpPr>
        <p:spPr>
          <a:xfrm>
            <a:off x="13368528" y="6108192"/>
            <a:ext cx="2011680" cy="1097280"/>
          </a:xfrm>
          <a:prstGeom prst="diamond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36576" bIns="36576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0" i="0">
                <a:solidFill>
                  <a:srgbClr val="1A1A1A"/>
                </a:solidFill>
                <a:latin typeface="Segoe UI Semibold"/>
                <a:ea typeface="Segoe UI Semibold"/>
                <a:cs typeface="Segoe UI Semibold"/>
              </a:rPr>
              <a:t>Decision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14374368" y="5797296"/>
            <a:ext cx="0" cy="338328"/>
          </a:xfrm>
          <a:prstGeom prst="line">
            <a:avLst/>
          </a:prstGeom>
          <a:ln w="22225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ounded Rectangle 38"/>
          <p:cNvSpPr/>
          <p:nvPr/>
        </p:nvSpPr>
        <p:spPr>
          <a:xfrm>
            <a:off x="12984480" y="7909560"/>
            <a:ext cx="2651760" cy="868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0" i="0">
                <a:solidFill>
                  <a:srgbClr val="1A1A1A"/>
                </a:solidFill>
                <a:latin typeface="Segoe UI Semibold"/>
                <a:ea typeface="Segoe UI Semibold"/>
                <a:cs typeface="Segoe UI Semibold"/>
              </a:rPr>
              <a:t>TRUSTED or SUSPICIOUS</a:t>
            </a:r>
          </a:p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5C5C5C"/>
                </a:solidFill>
                <a:latin typeface="Segoe UI"/>
                <a:ea typeface="Segoe UI"/>
                <a:cs typeface="Segoe UI"/>
              </a:rPr>
              <a:t>normal access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14374368" y="7223760"/>
            <a:ext cx="0" cy="649224"/>
          </a:xfrm>
          <a:prstGeom prst="line">
            <a:avLst/>
          </a:prstGeom>
          <a:ln w="22225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14447520" y="7315200"/>
            <a:ext cx="118872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400" b="0" i="0">
                <a:solidFill>
                  <a:srgbClr val="5C5C5C"/>
                </a:solidFill>
                <a:latin typeface="Consolas"/>
                <a:ea typeface="Consolas"/>
                <a:cs typeface="Consolas"/>
              </a:rPr>
              <a:t>≥ 50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0332720" y="6236208"/>
            <a:ext cx="2331720" cy="822960"/>
          </a:xfrm>
          <a:prstGeom prst="roundRect">
            <a:avLst>
              <a:gd name="adj" fmla="val 12000"/>
            </a:avLst>
          </a:prstGeom>
          <a:solidFill>
            <a:srgbClr val="FF914D"/>
          </a:solidFill>
          <a:ln w="19050">
            <a:solidFill>
              <a:srgbClr val="FF91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>
            <a:noAutofit/>
          </a:bodyPr>
          <a:lstStyle/>
          <a:p>
            <a:pPr algn="ctr">
              <a:lnSpc>
                <a:spcPct val="100000"/>
              </a:lnSpc>
            </a:pPr>
            <a:r>
              <a:rPr sz="1800" b="0" i="0">
                <a:solidFill>
                  <a:srgbClr val="1A1A1A"/>
                </a:solidFill>
                <a:latin typeface="Segoe UI Semibold"/>
                <a:ea typeface="Segoe UI Semibold"/>
                <a:cs typeface="Segoe UI Semibold"/>
              </a:rPr>
              <a:t>QUARANTINE</a:t>
            </a:r>
          </a:p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000000"/>
                </a:solidFill>
                <a:latin typeface="Consolas"/>
                <a:ea typeface="Consolas"/>
                <a:cs typeface="Consolas"/>
              </a:rPr>
              <a:t>normal channel 403</a:t>
            </a:r>
          </a:p>
        </p:txBody>
      </p:sp>
      <p:cxnSp>
        <p:nvCxnSpPr>
          <p:cNvPr id="43" name="Connector 42"/>
          <p:cNvCxnSpPr/>
          <p:nvPr/>
        </p:nvCxnSpPr>
        <p:spPr>
          <a:xfrm flipH="1">
            <a:off x="12701016" y="6647688"/>
            <a:ext cx="649224" cy="0"/>
          </a:xfrm>
          <a:prstGeom prst="line">
            <a:avLst/>
          </a:prstGeom>
          <a:ln w="22225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12755880" y="6236208"/>
            <a:ext cx="86868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400" b="0" i="0">
                <a:solidFill>
                  <a:srgbClr val="5C5C5C"/>
                </a:solidFill>
                <a:latin typeface="Consolas"/>
                <a:ea typeface="Consolas"/>
                <a:cs typeface="Consolas"/>
              </a:rPr>
              <a:t>&lt; 50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086600" y="6236208"/>
            <a:ext cx="2743200" cy="8229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>
            <a:noAutofit/>
          </a:bodyPr>
          <a:lstStyle/>
          <a:p>
            <a:pPr algn="ctr">
              <a:lnSpc>
                <a:spcPct val="100000"/>
              </a:lnSpc>
            </a:pPr>
            <a:r>
              <a:rPr sz="1800" b="0" i="0">
                <a:solidFill>
                  <a:srgbClr val="1A1A1A"/>
                </a:solidFill>
                <a:latin typeface="Segoe UI Semibold"/>
                <a:ea typeface="Segoe UI Semibold"/>
                <a:cs typeface="Segoe UI Semibold"/>
              </a:rPr>
              <a:t>Recovery</a:t>
            </a:r>
          </a:p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5C5C5C"/>
                </a:solidFill>
                <a:latin typeface="Segoe UI"/>
                <a:ea typeface="Segoe UI"/>
                <a:cs typeface="Segoe UI"/>
              </a:rPr>
              <a:t>operator-started, verified</a:t>
            </a:r>
          </a:p>
        </p:txBody>
      </p:sp>
      <p:cxnSp>
        <p:nvCxnSpPr>
          <p:cNvPr id="46" name="Connector 45"/>
          <p:cNvCxnSpPr/>
          <p:nvPr/>
        </p:nvCxnSpPr>
        <p:spPr>
          <a:xfrm flipH="1">
            <a:off x="9866376" y="6647688"/>
            <a:ext cx="429768" cy="0"/>
          </a:xfrm>
          <a:prstGeom prst="line">
            <a:avLst/>
          </a:prstGeom>
          <a:ln w="22225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Rounded Rectangle 46"/>
          <p:cNvSpPr/>
          <p:nvPr/>
        </p:nvSpPr>
        <p:spPr>
          <a:xfrm>
            <a:off x="3794760" y="6236208"/>
            <a:ext cx="2834640" cy="8229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>
            <a:noAutofit/>
          </a:bodyPr>
          <a:lstStyle/>
          <a:p>
            <a:pPr algn="ctr">
              <a:lnSpc>
                <a:spcPct val="100000"/>
              </a:lnSpc>
            </a:pPr>
            <a:r>
              <a:rPr sz="1800" b="0" i="0">
                <a:solidFill>
                  <a:srgbClr val="1A1A1A"/>
                </a:solidFill>
                <a:latin typeface="Segoe UI Semibold"/>
                <a:ea typeface="Segoe UI Semibold"/>
                <a:cs typeface="Segoe UI Semibold"/>
              </a:rPr>
              <a:t>VERIFIED → TRUSTED</a:t>
            </a:r>
          </a:p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5C5C5C"/>
                </a:solidFill>
                <a:latin typeface="Segoe UI"/>
                <a:ea typeface="Segoe UI"/>
                <a:cs typeface="Segoe UI"/>
              </a:rPr>
              <a:t>trust re-earned</a:t>
            </a:r>
          </a:p>
        </p:txBody>
      </p:sp>
      <p:cxnSp>
        <p:nvCxnSpPr>
          <p:cNvPr id="48" name="Connector 47"/>
          <p:cNvCxnSpPr/>
          <p:nvPr/>
        </p:nvCxnSpPr>
        <p:spPr>
          <a:xfrm flipH="1">
            <a:off x="6665976" y="6647688"/>
            <a:ext cx="384048" cy="0"/>
          </a:xfrm>
          <a:prstGeom prst="line">
            <a:avLst/>
          </a:prstGeom>
          <a:ln w="22225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Rounded Rectangle 48"/>
          <p:cNvSpPr/>
          <p:nvPr/>
        </p:nvSpPr>
        <p:spPr>
          <a:xfrm>
            <a:off x="822960" y="7680960"/>
            <a:ext cx="4572000" cy="1051560"/>
          </a:xfrm>
          <a:prstGeom prst="roundRect">
            <a:avLst>
              <a:gd name="adj" fmla="val 12000"/>
            </a:avLst>
          </a:prstGeom>
          <a:solidFill>
            <a:srgbClr val="F6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36576" bIns="36576">
            <a:noAutofit/>
          </a:bodyPr>
          <a:lstStyle/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1A1A1A"/>
                </a:solidFill>
                <a:latin typeface="Segoe UI Semibold"/>
                <a:ea typeface="Segoe UI Semibold"/>
                <a:cs typeface="Segoe UI Semibold"/>
              </a:rPr>
              <a:t>Digital twin</a:t>
            </a:r>
          </a:p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5C5C5C"/>
                </a:solidFill>
                <a:latin typeface="Segoe UI"/>
                <a:ea typeface="Segoe UI"/>
                <a:cs typeface="Segoe UI"/>
              </a:rPr>
              <a:t>expected vs self-reported state, used by trust and recovery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5623560" y="7680960"/>
            <a:ext cx="5897880" cy="1051560"/>
          </a:xfrm>
          <a:prstGeom prst="roundRect">
            <a:avLst>
              <a:gd name="adj" fmla="val 12000"/>
            </a:avLst>
          </a:prstGeom>
          <a:solidFill>
            <a:srgbClr val="F6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36576" bIns="36576">
            <a:noAutofit/>
          </a:bodyPr>
          <a:lstStyle/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1A1A1A"/>
                </a:solidFill>
                <a:latin typeface="Segoe UI Semibold"/>
                <a:ea typeface="Segoe UI Semibold"/>
                <a:cs typeface="Segoe UI Semibold"/>
              </a:rPr>
              <a:t>Evidence chain</a:t>
            </a:r>
          </a:p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5C5C5C"/>
                </a:solidFill>
                <a:latin typeface="Segoe UI"/>
                <a:ea typeface="Segoe UI"/>
                <a:cs typeface="Segoe UI"/>
              </a:rPr>
              <a:t>records every decision: SHA-256 linked, ML-DSA-65 signed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22960" y="9747504"/>
            <a:ext cx="822960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 i="0">
                <a:solidFill>
                  <a:srgbClr val="000000"/>
                </a:solidFill>
                <a:latin typeface="Segoe UI Semibold"/>
                <a:ea typeface="Segoe UI Semibold"/>
                <a:cs typeface="Segoe UI Semibold"/>
              </a:rPr>
              <a:t>Q-SHIELD</a:t>
            </a:r>
            <a:r>
              <a:rPr sz="1500" b="0" i="0">
                <a:solidFill>
                  <a:srgbClr val="000000"/>
                </a:solidFill>
                <a:latin typeface="Segoe UI"/>
                <a:ea typeface="Segoe UI"/>
                <a:cs typeface="Segoe UI"/>
              </a:rPr>
              <a:t>   continuous device trust with post-quantum-signed evidence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3350240" y="9747504"/>
            <a:ext cx="228600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500" b="0" i="0">
                <a:solidFill>
                  <a:srgbClr val="000000"/>
                </a:solidFill>
                <a:latin typeface="Segoe UI"/>
                <a:ea typeface="Segoe UI"/>
                <a:cs typeface="Segoe UI"/>
              </a:rPr>
              <a:t>6 / 24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name="Freeform 2" id="2"/>
          <p:cNvSpPr/>
          <p:nvPr/>
        </p:nvSpPr>
        <p:spPr>
          <a:xfrm flipH="false" flipV="false" rot="0">
            <a:off x="-350872" y="9407052"/>
            <a:ext cx="14979358" cy="908523"/>
          </a:xfrm>
          <a:custGeom>
            <a:avLst/>
            <a:gdLst/>
            <a:ahLst/>
            <a:cxnLst/>
            <a:rect r="r" b="b" t="t" l="l"/>
            <a:pathLst>
              <a:path h="908523" w="14979358">
                <a:moveTo>
                  <a:pt x="0" y="0"/>
                </a:moveTo>
                <a:lnTo>
                  <a:pt x="14979357" y="0"/>
                </a:lnTo>
                <a:lnTo>
                  <a:pt x="14979357" y="908523"/>
                </a:lnTo>
                <a:lnTo>
                  <a:pt x="0" y="90852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2273265" y="1130884"/>
            <a:ext cx="6870735" cy="543077"/>
            <a:chOff x="0" y="0"/>
            <a:chExt cx="9160980" cy="72410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9161018" cy="724154"/>
            </a:xfrm>
            <a:custGeom>
              <a:avLst/>
              <a:gdLst/>
              <a:ahLst/>
              <a:cxnLst/>
              <a:rect r="r" b="b" t="t" l="l"/>
              <a:pathLst>
                <a:path h="724154" w="9161018">
                  <a:moveTo>
                    <a:pt x="0" y="0"/>
                  </a:moveTo>
                  <a:lnTo>
                    <a:pt x="9161018" y="0"/>
                  </a:lnTo>
                  <a:lnTo>
                    <a:pt x="9161018" y="724154"/>
                  </a:lnTo>
                  <a:lnTo>
                    <a:pt x="0" y="72415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914D"/>
            </a:solidFill>
          </p:spPr>
        </p:sp>
      </p:grpSp>
      <p:grpSp>
        <p:nvGrpSpPr>
          <p:cNvPr name="Group 7" id="7"/>
          <p:cNvGrpSpPr/>
          <p:nvPr/>
        </p:nvGrpSpPr>
        <p:grpSpPr>
          <a:xfrm rot="-10800000">
            <a:off x="9124950" y="1130884"/>
            <a:ext cx="6870735" cy="543077"/>
            <a:chOff x="0" y="0"/>
            <a:chExt cx="9160980" cy="724103"/>
          </a:xfrm>
        </p:grpSpPr>
        <p:sp>
          <p:nvSpPr>
            <p:cNvPr name="Freeform 8" id="8"/>
            <p:cNvSpPr/>
            <p:nvPr/>
          </p:nvSpPr>
          <p:spPr>
            <a:xfrm flipH="false" flipV="true" rot="0">
              <a:off x="0" y="0"/>
              <a:ext cx="9161018" cy="724154"/>
            </a:xfrm>
            <a:custGeom>
              <a:avLst/>
              <a:gdLst/>
              <a:ahLst/>
              <a:cxnLst/>
              <a:rect r="r" b="b" t="t" l="l"/>
              <a:pathLst>
                <a:path h="724154" w="9161018">
                  <a:moveTo>
                    <a:pt x="0" y="724154"/>
                  </a:moveTo>
                  <a:lnTo>
                    <a:pt x="9161018" y="724154"/>
                  </a:lnTo>
                  <a:lnTo>
                    <a:pt x="9161018" y="0"/>
                  </a:lnTo>
                  <a:lnTo>
                    <a:pt x="0" y="0"/>
                  </a:lnTo>
                  <a:lnTo>
                    <a:pt x="0" y="724154"/>
                  </a:lnTo>
                  <a:close/>
                </a:path>
              </a:pathLst>
            </a:custGeom>
            <a:solidFill>
              <a:srgbClr val="FF914D"/>
            </a:solidFill>
          </p:spPr>
        </p:sp>
      </p:grpSp>
      <p:grpSp>
        <p:nvGrpSpPr>
          <p:cNvPr name="Group 9" id="9"/>
          <p:cNvGrpSpPr/>
          <p:nvPr/>
        </p:nvGrpSpPr>
        <p:grpSpPr>
          <a:xfrm rot="-10800000">
            <a:off x="-32871" y="1130884"/>
            <a:ext cx="3068079" cy="503739"/>
            <a:chOff x="0" y="0"/>
            <a:chExt cx="4090772" cy="671652"/>
          </a:xfrm>
        </p:grpSpPr>
        <p:sp>
          <p:nvSpPr>
            <p:cNvPr name="Freeform 10" id="10"/>
            <p:cNvSpPr/>
            <p:nvPr/>
          </p:nvSpPr>
          <p:spPr>
            <a:xfrm flipH="false" flipV="true" rot="0">
              <a:off x="0" y="0"/>
              <a:ext cx="4090797" cy="671703"/>
            </a:xfrm>
            <a:custGeom>
              <a:avLst/>
              <a:gdLst/>
              <a:ahLst/>
              <a:cxnLst/>
              <a:rect r="r" b="b" t="t" l="l"/>
              <a:pathLst>
                <a:path h="671703" w="4090797">
                  <a:moveTo>
                    <a:pt x="0" y="671703"/>
                  </a:moveTo>
                  <a:lnTo>
                    <a:pt x="4090797" y="671703"/>
                  </a:lnTo>
                  <a:lnTo>
                    <a:pt x="4090797" y="0"/>
                  </a:lnTo>
                  <a:lnTo>
                    <a:pt x="0" y="0"/>
                  </a:lnTo>
                  <a:lnTo>
                    <a:pt x="0" y="671703"/>
                  </a:lnTo>
                  <a:close/>
                </a:path>
              </a:pathLst>
            </a:custGeom>
            <a:solidFill>
              <a:srgbClr val="FF914D"/>
            </a:solidFill>
          </p:spPr>
        </p:sp>
      </p:grpSp>
      <p:sp>
        <p:nvSpPr>
          <p:cNvPr name="Freeform 11" id="11"/>
          <p:cNvSpPr/>
          <p:nvPr/>
        </p:nvSpPr>
        <p:spPr>
          <a:xfrm flipH="false" flipV="false" rot="-5400000">
            <a:off x="12120564" y="5052657"/>
            <a:ext cx="10084834" cy="2269088"/>
          </a:xfrm>
          <a:custGeom>
            <a:avLst/>
            <a:gdLst/>
            <a:ahLst/>
            <a:cxnLst/>
            <a:rect r="r" b="b" t="t" l="l"/>
            <a:pathLst>
              <a:path h="2269088" w="10084834">
                <a:moveTo>
                  <a:pt x="0" y="0"/>
                </a:moveTo>
                <a:lnTo>
                  <a:pt x="10084834" y="0"/>
                </a:lnTo>
                <a:lnTo>
                  <a:pt x="10084834" y="2269088"/>
                </a:lnTo>
                <a:lnTo>
                  <a:pt x="0" y="226908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-10800000">
            <a:off x="15248496" y="1130884"/>
            <a:ext cx="3068079" cy="503739"/>
            <a:chOff x="0" y="0"/>
            <a:chExt cx="4090772" cy="671652"/>
          </a:xfrm>
        </p:grpSpPr>
        <p:sp>
          <p:nvSpPr>
            <p:cNvPr name="Freeform 13" id="13"/>
            <p:cNvSpPr/>
            <p:nvPr/>
          </p:nvSpPr>
          <p:spPr>
            <a:xfrm flipH="false" flipV="true" rot="0">
              <a:off x="0" y="0"/>
              <a:ext cx="4090797" cy="671703"/>
            </a:xfrm>
            <a:custGeom>
              <a:avLst/>
              <a:gdLst/>
              <a:ahLst/>
              <a:cxnLst/>
              <a:rect r="r" b="b" t="t" l="l"/>
              <a:pathLst>
                <a:path h="671703" w="4090797">
                  <a:moveTo>
                    <a:pt x="0" y="671703"/>
                  </a:moveTo>
                  <a:lnTo>
                    <a:pt x="4090797" y="671703"/>
                  </a:lnTo>
                  <a:lnTo>
                    <a:pt x="4090797" y="0"/>
                  </a:lnTo>
                  <a:lnTo>
                    <a:pt x="0" y="0"/>
                  </a:lnTo>
                  <a:lnTo>
                    <a:pt x="0" y="671703"/>
                  </a:lnTo>
                  <a:close/>
                </a:path>
              </a:pathLst>
            </a:custGeom>
            <a:solidFill>
              <a:srgbClr val="FF914D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5688825" y="96222"/>
            <a:ext cx="2423739" cy="924096"/>
            <a:chOff x="0" y="0"/>
            <a:chExt cx="2307438" cy="879754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307463" cy="879729"/>
            </a:xfrm>
            <a:custGeom>
              <a:avLst/>
              <a:gdLst/>
              <a:ahLst/>
              <a:cxnLst/>
              <a:rect r="r" b="b" t="t" l="l"/>
              <a:pathLst>
                <a:path h="879729" w="2307463">
                  <a:moveTo>
                    <a:pt x="0" y="0"/>
                  </a:moveTo>
                  <a:lnTo>
                    <a:pt x="2307463" y="0"/>
                  </a:lnTo>
                  <a:lnTo>
                    <a:pt x="2307463" y="879729"/>
                  </a:lnTo>
                  <a:lnTo>
                    <a:pt x="0" y="8797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-76294" r="1" b="-85995"/>
              </a:stretch>
            </a:blipFill>
          </p:spPr>
        </p:sp>
      </p:grpSp>
      <p:sp>
        <p:nvSpPr>
          <p:cNvPr name="Freeform 16" id="16"/>
          <p:cNvSpPr/>
          <p:nvPr/>
        </p:nvSpPr>
        <p:spPr>
          <a:xfrm flipH="false" flipV="false" rot="0">
            <a:off x="9857003" y="9407052"/>
            <a:ext cx="14979358" cy="908523"/>
          </a:xfrm>
          <a:custGeom>
            <a:avLst/>
            <a:gdLst/>
            <a:ahLst/>
            <a:cxnLst/>
            <a:rect r="r" b="b" t="t" l="l"/>
            <a:pathLst>
              <a:path h="908523" w="14979358">
                <a:moveTo>
                  <a:pt x="0" y="0"/>
                </a:moveTo>
                <a:lnTo>
                  <a:pt x="14979358" y="0"/>
                </a:lnTo>
                <a:lnTo>
                  <a:pt x="14979358" y="908523"/>
                </a:lnTo>
                <a:lnTo>
                  <a:pt x="0" y="90852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252268" y="89049"/>
            <a:ext cx="2497801" cy="1034663"/>
          </a:xfrm>
          <a:custGeom>
            <a:avLst/>
            <a:gdLst/>
            <a:ahLst/>
            <a:cxnLst/>
            <a:rect r="r" b="b" t="t" l="l"/>
            <a:pathLst>
              <a:path h="1034663" w="2497801">
                <a:moveTo>
                  <a:pt x="0" y="0"/>
                </a:moveTo>
                <a:lnTo>
                  <a:pt x="2497801" y="0"/>
                </a:lnTo>
                <a:lnTo>
                  <a:pt x="2497801" y="1034663"/>
                </a:lnTo>
                <a:lnTo>
                  <a:pt x="0" y="103466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-5988" t="-27243" r="-4375" b="-52819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6236411" y="74654"/>
            <a:ext cx="5815177" cy="987762"/>
          </a:xfrm>
          <a:custGeom>
            <a:avLst/>
            <a:gdLst/>
            <a:ahLst/>
            <a:cxnLst/>
            <a:rect r="r" b="b" t="t" l="l"/>
            <a:pathLst>
              <a:path h="987762" w="5815177">
                <a:moveTo>
                  <a:pt x="0" y="0"/>
                </a:moveTo>
                <a:lnTo>
                  <a:pt x="5815178" y="0"/>
                </a:lnTo>
                <a:lnTo>
                  <a:pt x="5815178" y="987762"/>
                </a:lnTo>
                <a:lnTo>
                  <a:pt x="0" y="987762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-11062" t="-153011" r="-9149" b="-154810"/>
            </a:stretch>
          </a:blipFill>
        </p:spPr>
      </p:sp>
      <p:sp>
        <p:nvSpPr>
          <p:cNvPr id="19" name="TextBox 18"/>
          <p:cNvSpPr txBox="1"/>
          <p:nvPr/>
        </p:nvSpPr>
        <p:spPr>
          <a:xfrm>
            <a:off x="822960" y="1810512"/>
            <a:ext cx="10972800" cy="3291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 i="0">
                <a:solidFill>
                  <a:srgbClr val="C2410C"/>
                </a:solidFill>
                <a:latin typeface="Segoe UI Semibold"/>
                <a:ea typeface="Segoe UI Semibold"/>
                <a:cs typeface="Segoe UI Semibold"/>
              </a:rPr>
              <a:t>3. Proposed Solution &amp; Execution Plan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2084832"/>
            <a:ext cx="14813280" cy="7315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4000" b="0" i="0">
                <a:solidFill>
                  <a:srgbClr val="000000"/>
                </a:solidFill>
                <a:latin typeface="Bahnschrift SemiBold"/>
                <a:ea typeface="Bahnschrift SemiBold"/>
                <a:cs typeface="Bahnschrift SemiBold"/>
              </a:rPr>
              <a:t>Core functionality: the six-factor trust model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2761488"/>
            <a:ext cx="1481328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100" b="0" i="0">
                <a:solidFill>
                  <a:srgbClr val="5C5C5C"/>
                </a:solidFill>
                <a:latin typeface="Segoe UI"/>
                <a:ea typeface="Segoe UI"/>
                <a:cs typeface="Segoe UI"/>
              </a:rPr>
              <a:t>Each factor is scored from its own evidence</a:t>
            </a:r>
          </a:p>
        </p:txBody>
      </p:sp>
      <p:sp>
        <p:nvSpPr>
          <p:cNvPr id="22" name="Oval 21"/>
          <p:cNvSpPr/>
          <p:nvPr/>
        </p:nvSpPr>
        <p:spPr>
          <a:xfrm>
            <a:off x="822960" y="3246120"/>
            <a:ext cx="128016" cy="128016"/>
          </a:xfrm>
          <a:prstGeom prst="ellipse">
            <a:avLst/>
          </a:prstGeom>
          <a:solidFill>
            <a:srgbClr val="FFFFFF"/>
          </a:solidFill>
          <a:ln w="22225">
            <a:solidFill>
              <a:srgbClr val="FF91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3" name="Connector 22"/>
          <p:cNvCxnSpPr/>
          <p:nvPr/>
        </p:nvCxnSpPr>
        <p:spPr>
          <a:xfrm>
            <a:off x="950976" y="3310128"/>
            <a:ext cx="1335024" cy="0"/>
          </a:xfrm>
          <a:prstGeom prst="line">
            <a:avLst/>
          </a:prstGeom>
          <a:ln w="22225">
            <a:solidFill>
              <a:srgbClr val="FF91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822960" y="3520440"/>
            <a:ext cx="3566160" cy="7772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900" b="0" i="0">
                <a:solidFill>
                  <a:srgbClr val="1A1A1A"/>
                </a:solidFill>
                <a:latin typeface="Segoe UI Semibold"/>
                <a:ea typeface="Segoe UI Semibold"/>
                <a:cs typeface="Segoe UI Semibold"/>
              </a:rPr>
              <a:t>Identity / crypto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 i="0">
                <a:solidFill>
                  <a:srgbClr val="5C5C5C"/>
                </a:solidFill>
                <a:latin typeface="Consolas"/>
                <a:ea typeface="Consolas"/>
                <a:cs typeface="Consolas"/>
              </a:rPr>
              <a:t>identity_crypto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26280" y="3675888"/>
            <a:ext cx="4023360" cy="457200"/>
          </a:xfrm>
          <a:prstGeom prst="rect">
            <a:avLst/>
          </a:prstGeom>
          <a:solidFill>
            <a:srgbClr val="FF91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>
            <a:noAutofit/>
          </a:bodyPr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59368" y="3630168"/>
            <a:ext cx="914400" cy="5486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000" b="0" i="0">
                <a:solidFill>
                  <a:srgbClr val="1A1A1A"/>
                </a:solidFill>
                <a:latin typeface="Segoe UI Semibold"/>
                <a:ea typeface="Segoe UI Semibold"/>
                <a:cs typeface="Segoe UI Semibold"/>
              </a:rPr>
              <a:t>25%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" y="4416552"/>
            <a:ext cx="3566160" cy="7772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900" b="0" i="0">
                <a:solidFill>
                  <a:srgbClr val="1A1A1A"/>
                </a:solidFill>
                <a:latin typeface="Segoe UI Semibold"/>
                <a:ea typeface="Segoe UI Semibold"/>
                <a:cs typeface="Segoe UI Semibold"/>
              </a:rPr>
              <a:t>Physical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 i="0">
                <a:solidFill>
                  <a:srgbClr val="5C5C5C"/>
                </a:solidFill>
                <a:latin typeface="Consolas"/>
                <a:ea typeface="Consolas"/>
                <a:cs typeface="Consolas"/>
              </a:rPr>
              <a:t>physical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26280" y="4572000"/>
            <a:ext cx="3218688" cy="457200"/>
          </a:xfrm>
          <a:prstGeom prst="rect">
            <a:avLst/>
          </a:prstGeom>
          <a:solidFill>
            <a:srgbClr val="FF91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>
            <a:noAutofit/>
          </a:bodyPr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854696" y="4526280"/>
            <a:ext cx="914400" cy="5486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000" b="0" i="0">
                <a:solidFill>
                  <a:srgbClr val="1A1A1A"/>
                </a:solidFill>
                <a:latin typeface="Segoe UI Semibold"/>
                <a:ea typeface="Segoe UI Semibold"/>
                <a:cs typeface="Segoe UI Semibold"/>
              </a:rPr>
              <a:t>20%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" y="5312664"/>
            <a:ext cx="3566160" cy="7772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900" b="0" i="0">
                <a:solidFill>
                  <a:srgbClr val="1A1A1A"/>
                </a:solidFill>
                <a:latin typeface="Segoe UI Semibold"/>
                <a:ea typeface="Segoe UI Semibold"/>
                <a:cs typeface="Segoe UI Semibold"/>
              </a:rPr>
              <a:t>Configuration integrity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 i="0">
                <a:solidFill>
                  <a:srgbClr val="5C5C5C"/>
                </a:solidFill>
                <a:latin typeface="Consolas"/>
                <a:ea typeface="Consolas"/>
                <a:cs typeface="Consolas"/>
              </a:rPr>
              <a:t>config_integrity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26280" y="5468112"/>
            <a:ext cx="2414016" cy="457200"/>
          </a:xfrm>
          <a:prstGeom prst="rect">
            <a:avLst/>
          </a:prstGeom>
          <a:solidFill>
            <a:srgbClr val="FF91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>
            <a:noAutofit/>
          </a:bodyPr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050024" y="5422392"/>
            <a:ext cx="914400" cy="5486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000" b="0" i="0">
                <a:solidFill>
                  <a:srgbClr val="1A1A1A"/>
                </a:solidFill>
                <a:latin typeface="Segoe UI Semibold"/>
                <a:ea typeface="Segoe UI Semibold"/>
                <a:cs typeface="Segoe UI Semibold"/>
              </a:rPr>
              <a:t>15%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2960" y="6208776"/>
            <a:ext cx="3566160" cy="7772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900" b="0" i="0">
                <a:solidFill>
                  <a:srgbClr val="1A1A1A"/>
                </a:solidFill>
                <a:latin typeface="Segoe UI Semibold"/>
                <a:ea typeface="Segoe UI Semibold"/>
                <a:cs typeface="Segoe UI Semibold"/>
              </a:rPr>
              <a:t>Sensor consistency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 i="0">
                <a:solidFill>
                  <a:srgbClr val="5C5C5C"/>
                </a:solidFill>
                <a:latin typeface="Consolas"/>
                <a:ea typeface="Consolas"/>
                <a:cs typeface="Consolas"/>
              </a:rPr>
              <a:t>sensor_consistency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26280" y="6364224"/>
            <a:ext cx="2414016" cy="457200"/>
          </a:xfrm>
          <a:prstGeom prst="rect">
            <a:avLst/>
          </a:prstGeom>
          <a:solidFill>
            <a:srgbClr val="FF91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>
            <a:noAutofit/>
          </a:bodyPr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050024" y="6318504"/>
            <a:ext cx="914400" cy="5486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000" b="0" i="0">
                <a:solidFill>
                  <a:srgbClr val="1A1A1A"/>
                </a:solidFill>
                <a:latin typeface="Segoe UI Semibold"/>
                <a:ea typeface="Segoe UI Semibold"/>
                <a:cs typeface="Segoe UI Semibold"/>
              </a:rPr>
              <a:t>15%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2960" y="7104888"/>
            <a:ext cx="3566160" cy="7772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900" b="0" i="0">
                <a:solidFill>
                  <a:srgbClr val="1A1A1A"/>
                </a:solidFill>
                <a:latin typeface="Segoe UI Semibold"/>
                <a:ea typeface="Segoe UI Semibold"/>
                <a:cs typeface="Segoe UI Semibold"/>
              </a:rPr>
              <a:t>Visual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 i="0">
                <a:solidFill>
                  <a:srgbClr val="5C5C5C"/>
                </a:solidFill>
                <a:latin typeface="Consolas"/>
                <a:ea typeface="Consolas"/>
                <a:cs typeface="Consolas"/>
              </a:rPr>
              <a:t>visual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26280" y="7260336"/>
            <a:ext cx="2414016" cy="457200"/>
          </a:xfrm>
          <a:prstGeom prst="rect">
            <a:avLst/>
          </a:prstGeom>
          <a:solidFill>
            <a:srgbClr val="FF91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>
            <a:noAutofit/>
          </a:bodyPr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050024" y="7214616"/>
            <a:ext cx="914400" cy="5486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000" b="0" i="0">
                <a:solidFill>
                  <a:srgbClr val="1A1A1A"/>
                </a:solidFill>
                <a:latin typeface="Segoe UI Semibold"/>
                <a:ea typeface="Segoe UI Semibold"/>
                <a:cs typeface="Segoe UI Semibold"/>
              </a:rPr>
              <a:t>15%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2960" y="8001000"/>
            <a:ext cx="3566160" cy="7772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900" b="0" i="0">
                <a:solidFill>
                  <a:srgbClr val="1A1A1A"/>
                </a:solidFill>
                <a:latin typeface="Segoe UI Semibold"/>
                <a:ea typeface="Segoe UI Semibold"/>
                <a:cs typeface="Segoe UI Semibold"/>
              </a:rPr>
              <a:t>Network liveness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 i="0">
                <a:solidFill>
                  <a:srgbClr val="5C5C5C"/>
                </a:solidFill>
                <a:latin typeface="Consolas"/>
                <a:ea typeface="Consolas"/>
                <a:cs typeface="Consolas"/>
              </a:rPr>
              <a:t>network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526280" y="8156448"/>
            <a:ext cx="1609344" cy="457200"/>
          </a:xfrm>
          <a:prstGeom prst="rect">
            <a:avLst/>
          </a:prstGeom>
          <a:solidFill>
            <a:srgbClr val="FF91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>
            <a:noAutofit/>
          </a:bodyPr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245352" y="8110728"/>
            <a:ext cx="914400" cy="5486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000" b="0" i="0">
                <a:solidFill>
                  <a:srgbClr val="1A1A1A"/>
                </a:solidFill>
                <a:latin typeface="Segoe UI Semibold"/>
                <a:ea typeface="Segoe UI Semibold"/>
                <a:cs typeface="Segoe UI Semibold"/>
              </a:rPr>
              <a:t>10%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9326880" y="3904488"/>
            <a:ext cx="0" cy="448056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9189720" y="3904488"/>
            <a:ext cx="137160" cy="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9189720" y="4800600"/>
            <a:ext cx="137160" cy="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9189720" y="5696712"/>
            <a:ext cx="137160" cy="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9189720" y="6592824"/>
            <a:ext cx="137160" cy="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9189720" y="7488936"/>
            <a:ext cx="137160" cy="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9189720" y="8385048"/>
            <a:ext cx="137160" cy="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9326880" y="4087368"/>
            <a:ext cx="786384" cy="0"/>
          </a:xfrm>
          <a:prstGeom prst="line">
            <a:avLst/>
          </a:prstGeom>
          <a:ln w="22225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Rounded Rectangle 49"/>
          <p:cNvSpPr/>
          <p:nvPr/>
        </p:nvSpPr>
        <p:spPr>
          <a:xfrm>
            <a:off x="10149840" y="3566160"/>
            <a:ext cx="2743200" cy="10515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>
            <a:noAutofit/>
          </a:bodyPr>
          <a:lstStyle/>
          <a:p>
            <a:pPr algn="ctr">
              <a:lnSpc>
                <a:spcPct val="100000"/>
              </a:lnSpc>
            </a:pPr>
            <a:r>
              <a:rPr sz="1900" b="0" i="0">
                <a:solidFill>
                  <a:srgbClr val="1A1A1A"/>
                </a:solidFill>
                <a:latin typeface="Segoe UI Semibold"/>
                <a:ea typeface="Segoe UI Semibold"/>
                <a:cs typeface="Segoe UI Semibold"/>
              </a:rPr>
              <a:t>Weighted sum</a:t>
            </a:r>
          </a:p>
          <a:p>
            <a:pPr algn="ctr">
              <a:lnSpc>
                <a:spcPct val="100000"/>
              </a:lnSpc>
            </a:pPr>
            <a:r>
              <a:rPr sz="1600" b="0" i="0">
                <a:solidFill>
                  <a:srgbClr val="5C5C5C"/>
                </a:solidFill>
                <a:latin typeface="Consolas"/>
                <a:ea typeface="Consolas"/>
                <a:cs typeface="Consolas"/>
              </a:rPr>
              <a:t>100 − Σ wᵢ·pᵢ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11521440" y="4654296"/>
            <a:ext cx="0" cy="292608"/>
          </a:xfrm>
          <a:prstGeom prst="line">
            <a:avLst/>
          </a:prstGeom>
          <a:ln w="22225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Rounded Rectangle 51"/>
          <p:cNvSpPr/>
          <p:nvPr/>
        </p:nvSpPr>
        <p:spPr>
          <a:xfrm>
            <a:off x="10149840" y="4983480"/>
            <a:ext cx="2743200" cy="10515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>
            <a:noAutofit/>
          </a:bodyPr>
          <a:lstStyle/>
          <a:p>
            <a:pPr algn="ctr">
              <a:lnSpc>
                <a:spcPct val="100000"/>
              </a:lnSpc>
            </a:pPr>
            <a:r>
              <a:rPr sz="1900" b="0" i="0">
                <a:solidFill>
                  <a:srgbClr val="1A1A1A"/>
                </a:solidFill>
                <a:latin typeface="Segoe UI Semibold"/>
                <a:ea typeface="Segoe UI Semibold"/>
                <a:cs typeface="Segoe UI Semibold"/>
              </a:rPr>
              <a:t>− Pressure</a:t>
            </a:r>
          </a:p>
          <a:p>
            <a:pPr algn="ctr">
              <a:lnSpc>
                <a:spcPct val="100000"/>
              </a:lnSpc>
            </a:pPr>
            <a:r>
              <a:rPr sz="1600" b="0" i="0">
                <a:solidFill>
                  <a:srgbClr val="5C5C5C"/>
                </a:solidFill>
                <a:latin typeface="Consolas"/>
                <a:ea typeface="Consolas"/>
                <a:cs typeface="Consolas"/>
              </a:rPr>
              <a:t>unauthenticated, ≤ 25</a:t>
            </a:r>
          </a:p>
        </p:txBody>
      </p:sp>
      <p:cxnSp>
        <p:nvCxnSpPr>
          <p:cNvPr id="53" name="Connector 52"/>
          <p:cNvCxnSpPr/>
          <p:nvPr/>
        </p:nvCxnSpPr>
        <p:spPr>
          <a:xfrm>
            <a:off x="11521440" y="6071616"/>
            <a:ext cx="0" cy="292608"/>
          </a:xfrm>
          <a:prstGeom prst="line">
            <a:avLst/>
          </a:prstGeom>
          <a:ln w="22225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Rounded Rectangle 53"/>
          <p:cNvSpPr/>
          <p:nvPr/>
        </p:nvSpPr>
        <p:spPr>
          <a:xfrm>
            <a:off x="10149840" y="6400800"/>
            <a:ext cx="2743200" cy="10515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>
            <a:noAutofit/>
          </a:bodyPr>
          <a:lstStyle/>
          <a:p>
            <a:pPr algn="ctr">
              <a:lnSpc>
                <a:spcPct val="100000"/>
              </a:lnSpc>
            </a:pPr>
            <a:r>
              <a:rPr sz="1900" b="0" i="0">
                <a:solidFill>
                  <a:srgbClr val="1A1A1A"/>
                </a:solidFill>
                <a:latin typeface="Segoe UI Semibold"/>
                <a:ea typeface="Segoe UI Semibold"/>
                <a:cs typeface="Segoe UI Semibold"/>
              </a:rPr>
              <a:t>min( caps )</a:t>
            </a:r>
          </a:p>
          <a:p>
            <a:pPr algn="ctr">
              <a:lnSpc>
                <a:spcPct val="100000"/>
              </a:lnSpc>
            </a:pPr>
            <a:r>
              <a:rPr sz="1600" b="0" i="0">
                <a:solidFill>
                  <a:srgbClr val="5C5C5C"/>
                </a:solidFill>
                <a:latin typeface="Consolas"/>
                <a:ea typeface="Consolas"/>
                <a:cs typeface="Consolas"/>
              </a:rPr>
              <a:t>30, 55, 65, 79</a:t>
            </a:r>
          </a:p>
        </p:txBody>
      </p:sp>
      <p:cxnSp>
        <p:nvCxnSpPr>
          <p:cNvPr id="55" name="Connector 54"/>
          <p:cNvCxnSpPr/>
          <p:nvPr/>
        </p:nvCxnSpPr>
        <p:spPr>
          <a:xfrm>
            <a:off x="11521440" y="7488936"/>
            <a:ext cx="0" cy="292608"/>
          </a:xfrm>
          <a:prstGeom prst="line">
            <a:avLst/>
          </a:prstGeom>
          <a:ln w="22225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Oval 55"/>
          <p:cNvSpPr/>
          <p:nvPr/>
        </p:nvSpPr>
        <p:spPr>
          <a:xfrm>
            <a:off x="10607040" y="7818120"/>
            <a:ext cx="1828800" cy="1143000"/>
          </a:xfrm>
          <a:prstGeom prst="ellipse">
            <a:avLst/>
          </a:prstGeom>
          <a:solidFill>
            <a:srgbClr val="000000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>
            <a:noAutofit/>
          </a:bodyPr>
          <a:lstStyle/>
          <a:p>
            <a:pPr algn="ctr">
              <a:lnSpc>
                <a:spcPct val="100000"/>
              </a:lnSpc>
            </a:pPr>
            <a:r>
              <a:rPr sz="2000" b="0" i="0">
                <a:solidFill>
                  <a:srgbClr val="FFFFFF"/>
                </a:solidFill>
                <a:latin typeface="Segoe UI Semibold"/>
                <a:ea typeface="Segoe UI Semibold"/>
                <a:cs typeface="Segoe UI Semibold"/>
              </a:rPr>
              <a:t>SCORE</a:t>
            </a:r>
          </a:p>
          <a:p>
            <a:pPr algn="ctr">
              <a:lnSpc>
                <a:spcPct val="100000"/>
              </a:lnSpc>
            </a:pPr>
            <a:r>
              <a:rPr sz="1600" b="0" i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0-100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3350240" y="3566160"/>
            <a:ext cx="2331720" cy="53035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  <a:spcAft>
                <a:spcPts val="800"/>
              </a:spcAft>
            </a:pPr>
            <a:r>
              <a:rPr sz="1700" b="0" i="0">
                <a:solidFill>
                  <a:srgbClr val="C2410C"/>
                </a:solidFill>
                <a:latin typeface="Segoe UI Semibold"/>
                <a:ea typeface="Segoe UI Semibold"/>
                <a:cs typeface="Segoe UI Semibold"/>
              </a:rPr>
              <a:t>Authenticity is not trust</a:t>
            </a:r>
          </a:p>
          <a:p>
            <a:pPr algn="l">
              <a:lnSpc>
                <a:spcPct val="108000"/>
              </a:lnSpc>
              <a:spcAft>
                <a:spcPts val="800"/>
              </a:spcAft>
            </a:pPr>
            <a:r>
              <a:rPr sz="1700" b="0" i="0">
                <a:solidFill>
                  <a:srgbClr val="1A1A1A"/>
                </a:solidFill>
                <a:latin typeface="Segoe UI"/>
                <a:ea typeface="Segoe UI"/>
                <a:cs typeface="Segoe UI"/>
              </a:rPr>
              <a:t>A valid signature lets evidence count.</a:t>
            </a:r>
          </a:p>
          <a:p>
            <a:pPr algn="l">
              <a:lnSpc>
                <a:spcPct val="108000"/>
              </a:lnSpc>
              <a:spcAft>
                <a:spcPts val="800"/>
              </a:spcAft>
            </a:pPr>
            <a:r>
              <a:rPr sz="1700" b="0" i="0">
                <a:solidFill>
                  <a:srgbClr val="1A1A1A"/>
                </a:solidFill>
                <a:latin typeface="Segoe UI"/>
                <a:ea typeface="Segoe UI"/>
                <a:cs typeface="Segoe UI"/>
              </a:rPr>
              <a:t>It never adds points: a perfect signer still scores at most 100.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0" i="0">
                <a:solidFill>
                  <a:srgbClr val="1A1A1A"/>
                </a:solidFill>
                <a:latin typeface="Segoe UI"/>
                <a:ea typeface="Segoe UI"/>
                <a:cs typeface="Segoe UI"/>
              </a:rPr>
              <a:t>Unavailable factors are excluded and reported, never assumed healthy.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22960" y="9747504"/>
            <a:ext cx="822960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 i="0">
                <a:solidFill>
                  <a:srgbClr val="000000"/>
                </a:solidFill>
                <a:latin typeface="Segoe UI Semibold"/>
                <a:ea typeface="Segoe UI Semibold"/>
                <a:cs typeface="Segoe UI Semibold"/>
              </a:rPr>
              <a:t>Q-SHIELD</a:t>
            </a:r>
            <a:r>
              <a:rPr sz="1500" b="0" i="0">
                <a:solidFill>
                  <a:srgbClr val="000000"/>
                </a:solidFill>
                <a:latin typeface="Segoe UI"/>
                <a:ea typeface="Segoe UI"/>
                <a:cs typeface="Segoe UI"/>
              </a:rPr>
              <a:t>   continuous device trust with post-quantum-signed evidence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3350240" y="9747504"/>
            <a:ext cx="228600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500" b="0" i="0">
                <a:solidFill>
                  <a:srgbClr val="000000"/>
                </a:solidFill>
                <a:latin typeface="Segoe UI"/>
                <a:ea typeface="Segoe UI"/>
                <a:cs typeface="Segoe UI"/>
              </a:rPr>
              <a:t>7 / 24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name="Freeform 2" id="2"/>
          <p:cNvSpPr/>
          <p:nvPr/>
        </p:nvSpPr>
        <p:spPr>
          <a:xfrm flipH="false" flipV="false" rot="0">
            <a:off x="-350872" y="9407052"/>
            <a:ext cx="14979358" cy="908523"/>
          </a:xfrm>
          <a:custGeom>
            <a:avLst/>
            <a:gdLst/>
            <a:ahLst/>
            <a:cxnLst/>
            <a:rect r="r" b="b" t="t" l="l"/>
            <a:pathLst>
              <a:path h="908523" w="14979358">
                <a:moveTo>
                  <a:pt x="0" y="0"/>
                </a:moveTo>
                <a:lnTo>
                  <a:pt x="14979357" y="0"/>
                </a:lnTo>
                <a:lnTo>
                  <a:pt x="14979357" y="908523"/>
                </a:lnTo>
                <a:lnTo>
                  <a:pt x="0" y="90852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2273265" y="1130884"/>
            <a:ext cx="6870735" cy="543077"/>
            <a:chOff x="0" y="0"/>
            <a:chExt cx="9160980" cy="72410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9161018" cy="724154"/>
            </a:xfrm>
            <a:custGeom>
              <a:avLst/>
              <a:gdLst/>
              <a:ahLst/>
              <a:cxnLst/>
              <a:rect r="r" b="b" t="t" l="l"/>
              <a:pathLst>
                <a:path h="724154" w="9161018">
                  <a:moveTo>
                    <a:pt x="0" y="0"/>
                  </a:moveTo>
                  <a:lnTo>
                    <a:pt x="9161018" y="0"/>
                  </a:lnTo>
                  <a:lnTo>
                    <a:pt x="9161018" y="724154"/>
                  </a:lnTo>
                  <a:lnTo>
                    <a:pt x="0" y="72415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914D"/>
            </a:solidFill>
          </p:spPr>
        </p:sp>
      </p:grpSp>
      <p:grpSp>
        <p:nvGrpSpPr>
          <p:cNvPr name="Group 7" id="7"/>
          <p:cNvGrpSpPr/>
          <p:nvPr/>
        </p:nvGrpSpPr>
        <p:grpSpPr>
          <a:xfrm rot="-10800000">
            <a:off x="9124950" y="1130884"/>
            <a:ext cx="6870735" cy="543077"/>
            <a:chOff x="0" y="0"/>
            <a:chExt cx="9160980" cy="724103"/>
          </a:xfrm>
        </p:grpSpPr>
        <p:sp>
          <p:nvSpPr>
            <p:cNvPr name="Freeform 8" id="8"/>
            <p:cNvSpPr/>
            <p:nvPr/>
          </p:nvSpPr>
          <p:spPr>
            <a:xfrm flipH="false" flipV="true" rot="0">
              <a:off x="0" y="0"/>
              <a:ext cx="9161018" cy="724154"/>
            </a:xfrm>
            <a:custGeom>
              <a:avLst/>
              <a:gdLst/>
              <a:ahLst/>
              <a:cxnLst/>
              <a:rect r="r" b="b" t="t" l="l"/>
              <a:pathLst>
                <a:path h="724154" w="9161018">
                  <a:moveTo>
                    <a:pt x="0" y="724154"/>
                  </a:moveTo>
                  <a:lnTo>
                    <a:pt x="9161018" y="724154"/>
                  </a:lnTo>
                  <a:lnTo>
                    <a:pt x="9161018" y="0"/>
                  </a:lnTo>
                  <a:lnTo>
                    <a:pt x="0" y="0"/>
                  </a:lnTo>
                  <a:lnTo>
                    <a:pt x="0" y="724154"/>
                  </a:lnTo>
                  <a:close/>
                </a:path>
              </a:pathLst>
            </a:custGeom>
            <a:solidFill>
              <a:srgbClr val="FF914D"/>
            </a:solidFill>
          </p:spPr>
        </p:sp>
      </p:grpSp>
      <p:grpSp>
        <p:nvGrpSpPr>
          <p:cNvPr name="Group 9" id="9"/>
          <p:cNvGrpSpPr/>
          <p:nvPr/>
        </p:nvGrpSpPr>
        <p:grpSpPr>
          <a:xfrm rot="-10800000">
            <a:off x="-32871" y="1130884"/>
            <a:ext cx="3068079" cy="503739"/>
            <a:chOff x="0" y="0"/>
            <a:chExt cx="4090772" cy="671652"/>
          </a:xfrm>
        </p:grpSpPr>
        <p:sp>
          <p:nvSpPr>
            <p:cNvPr name="Freeform 10" id="10"/>
            <p:cNvSpPr/>
            <p:nvPr/>
          </p:nvSpPr>
          <p:spPr>
            <a:xfrm flipH="false" flipV="true" rot="0">
              <a:off x="0" y="0"/>
              <a:ext cx="4090797" cy="671703"/>
            </a:xfrm>
            <a:custGeom>
              <a:avLst/>
              <a:gdLst/>
              <a:ahLst/>
              <a:cxnLst/>
              <a:rect r="r" b="b" t="t" l="l"/>
              <a:pathLst>
                <a:path h="671703" w="4090797">
                  <a:moveTo>
                    <a:pt x="0" y="671703"/>
                  </a:moveTo>
                  <a:lnTo>
                    <a:pt x="4090797" y="671703"/>
                  </a:lnTo>
                  <a:lnTo>
                    <a:pt x="4090797" y="0"/>
                  </a:lnTo>
                  <a:lnTo>
                    <a:pt x="0" y="0"/>
                  </a:lnTo>
                  <a:lnTo>
                    <a:pt x="0" y="671703"/>
                  </a:lnTo>
                  <a:close/>
                </a:path>
              </a:pathLst>
            </a:custGeom>
            <a:solidFill>
              <a:srgbClr val="FF914D"/>
            </a:solidFill>
          </p:spPr>
        </p:sp>
      </p:grpSp>
      <p:sp>
        <p:nvSpPr>
          <p:cNvPr name="Freeform 11" id="11"/>
          <p:cNvSpPr/>
          <p:nvPr/>
        </p:nvSpPr>
        <p:spPr>
          <a:xfrm flipH="false" flipV="false" rot="-5400000">
            <a:off x="12120564" y="5052657"/>
            <a:ext cx="10084834" cy="2269088"/>
          </a:xfrm>
          <a:custGeom>
            <a:avLst/>
            <a:gdLst/>
            <a:ahLst/>
            <a:cxnLst/>
            <a:rect r="r" b="b" t="t" l="l"/>
            <a:pathLst>
              <a:path h="2269088" w="10084834">
                <a:moveTo>
                  <a:pt x="0" y="0"/>
                </a:moveTo>
                <a:lnTo>
                  <a:pt x="10084834" y="0"/>
                </a:lnTo>
                <a:lnTo>
                  <a:pt x="10084834" y="2269088"/>
                </a:lnTo>
                <a:lnTo>
                  <a:pt x="0" y="226908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-10800000">
            <a:off x="15248496" y="1130884"/>
            <a:ext cx="3068079" cy="503739"/>
            <a:chOff x="0" y="0"/>
            <a:chExt cx="4090772" cy="671652"/>
          </a:xfrm>
        </p:grpSpPr>
        <p:sp>
          <p:nvSpPr>
            <p:cNvPr name="Freeform 13" id="13"/>
            <p:cNvSpPr/>
            <p:nvPr/>
          </p:nvSpPr>
          <p:spPr>
            <a:xfrm flipH="false" flipV="true" rot="0">
              <a:off x="0" y="0"/>
              <a:ext cx="4090797" cy="671703"/>
            </a:xfrm>
            <a:custGeom>
              <a:avLst/>
              <a:gdLst/>
              <a:ahLst/>
              <a:cxnLst/>
              <a:rect r="r" b="b" t="t" l="l"/>
              <a:pathLst>
                <a:path h="671703" w="4090797">
                  <a:moveTo>
                    <a:pt x="0" y="671703"/>
                  </a:moveTo>
                  <a:lnTo>
                    <a:pt x="4090797" y="671703"/>
                  </a:lnTo>
                  <a:lnTo>
                    <a:pt x="4090797" y="0"/>
                  </a:lnTo>
                  <a:lnTo>
                    <a:pt x="0" y="0"/>
                  </a:lnTo>
                  <a:lnTo>
                    <a:pt x="0" y="671703"/>
                  </a:lnTo>
                  <a:close/>
                </a:path>
              </a:pathLst>
            </a:custGeom>
            <a:solidFill>
              <a:srgbClr val="FF914D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5688825" y="96222"/>
            <a:ext cx="2423739" cy="924096"/>
            <a:chOff x="0" y="0"/>
            <a:chExt cx="2307438" cy="879754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307463" cy="879729"/>
            </a:xfrm>
            <a:custGeom>
              <a:avLst/>
              <a:gdLst/>
              <a:ahLst/>
              <a:cxnLst/>
              <a:rect r="r" b="b" t="t" l="l"/>
              <a:pathLst>
                <a:path h="879729" w="2307463">
                  <a:moveTo>
                    <a:pt x="0" y="0"/>
                  </a:moveTo>
                  <a:lnTo>
                    <a:pt x="2307463" y="0"/>
                  </a:lnTo>
                  <a:lnTo>
                    <a:pt x="2307463" y="879729"/>
                  </a:lnTo>
                  <a:lnTo>
                    <a:pt x="0" y="8797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-76294" r="1" b="-85995"/>
              </a:stretch>
            </a:blipFill>
          </p:spPr>
        </p:sp>
      </p:grpSp>
      <p:sp>
        <p:nvSpPr>
          <p:cNvPr name="Freeform 16" id="16"/>
          <p:cNvSpPr/>
          <p:nvPr/>
        </p:nvSpPr>
        <p:spPr>
          <a:xfrm flipH="false" flipV="false" rot="0">
            <a:off x="9857003" y="9407052"/>
            <a:ext cx="14979358" cy="908523"/>
          </a:xfrm>
          <a:custGeom>
            <a:avLst/>
            <a:gdLst/>
            <a:ahLst/>
            <a:cxnLst/>
            <a:rect r="r" b="b" t="t" l="l"/>
            <a:pathLst>
              <a:path h="908523" w="14979358">
                <a:moveTo>
                  <a:pt x="0" y="0"/>
                </a:moveTo>
                <a:lnTo>
                  <a:pt x="14979358" y="0"/>
                </a:lnTo>
                <a:lnTo>
                  <a:pt x="14979358" y="908523"/>
                </a:lnTo>
                <a:lnTo>
                  <a:pt x="0" y="90852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252268" y="89049"/>
            <a:ext cx="2497801" cy="1034663"/>
          </a:xfrm>
          <a:custGeom>
            <a:avLst/>
            <a:gdLst/>
            <a:ahLst/>
            <a:cxnLst/>
            <a:rect r="r" b="b" t="t" l="l"/>
            <a:pathLst>
              <a:path h="1034663" w="2497801">
                <a:moveTo>
                  <a:pt x="0" y="0"/>
                </a:moveTo>
                <a:lnTo>
                  <a:pt x="2497801" y="0"/>
                </a:lnTo>
                <a:lnTo>
                  <a:pt x="2497801" y="1034663"/>
                </a:lnTo>
                <a:lnTo>
                  <a:pt x="0" y="103466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-5988" t="-27243" r="-4375" b="-52819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6236411" y="74654"/>
            <a:ext cx="5815177" cy="987762"/>
          </a:xfrm>
          <a:custGeom>
            <a:avLst/>
            <a:gdLst/>
            <a:ahLst/>
            <a:cxnLst/>
            <a:rect r="r" b="b" t="t" l="l"/>
            <a:pathLst>
              <a:path h="987762" w="5815177">
                <a:moveTo>
                  <a:pt x="0" y="0"/>
                </a:moveTo>
                <a:lnTo>
                  <a:pt x="5815178" y="0"/>
                </a:lnTo>
                <a:lnTo>
                  <a:pt x="5815178" y="987762"/>
                </a:lnTo>
                <a:lnTo>
                  <a:pt x="0" y="987762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-11062" t="-153011" r="-9149" b="-154810"/>
            </a:stretch>
          </a:blipFill>
        </p:spPr>
      </p:sp>
      <p:sp>
        <p:nvSpPr>
          <p:cNvPr id="19" name="TextBox 18"/>
          <p:cNvSpPr txBox="1"/>
          <p:nvPr/>
        </p:nvSpPr>
        <p:spPr>
          <a:xfrm>
            <a:off x="822960" y="1810512"/>
            <a:ext cx="10972800" cy="3291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 i="0">
                <a:solidFill>
                  <a:srgbClr val="C2410C"/>
                </a:solidFill>
                <a:latin typeface="Segoe UI Semibold"/>
                <a:ea typeface="Segoe UI Semibold"/>
                <a:cs typeface="Segoe UI Semibold"/>
              </a:rPr>
              <a:t>3. Proposed Solution &amp; Execution Plan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2084832"/>
            <a:ext cx="14813280" cy="7315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4000" b="0" i="0">
                <a:solidFill>
                  <a:srgbClr val="000000"/>
                </a:solidFill>
                <a:latin typeface="Bahnschrift SemiBold"/>
                <a:ea typeface="Bahnschrift SemiBold"/>
                <a:cs typeface="Bahnschrift SemiBold"/>
              </a:rPr>
              <a:t>Continuous trust scoring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2761488"/>
            <a:ext cx="1481328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100" b="0" i="0">
                <a:solidFill>
                  <a:srgbClr val="5C5C5C"/>
                </a:solidFill>
                <a:latin typeface="Segoe UI"/>
                <a:ea typeface="Segoe UI"/>
                <a:cs typeface="Segoe UI"/>
              </a:rPr>
              <a:t>From a number to a state, with caps that hold while a condition lasts</a:t>
            </a:r>
          </a:p>
        </p:txBody>
      </p:sp>
      <p:sp>
        <p:nvSpPr>
          <p:cNvPr id="22" name="Oval 21"/>
          <p:cNvSpPr/>
          <p:nvPr/>
        </p:nvSpPr>
        <p:spPr>
          <a:xfrm>
            <a:off x="822960" y="3246120"/>
            <a:ext cx="128016" cy="128016"/>
          </a:xfrm>
          <a:prstGeom prst="ellipse">
            <a:avLst/>
          </a:prstGeom>
          <a:solidFill>
            <a:srgbClr val="FFFFFF"/>
          </a:solidFill>
          <a:ln w="22225">
            <a:solidFill>
              <a:srgbClr val="FF91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3" name="Connector 22"/>
          <p:cNvCxnSpPr/>
          <p:nvPr/>
        </p:nvCxnSpPr>
        <p:spPr>
          <a:xfrm>
            <a:off x="950976" y="3310128"/>
            <a:ext cx="1335024" cy="0"/>
          </a:xfrm>
          <a:prstGeom prst="line">
            <a:avLst/>
          </a:prstGeom>
          <a:ln w="22225">
            <a:solidFill>
              <a:srgbClr val="FF91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822960" y="3520440"/>
            <a:ext cx="7406640" cy="685800"/>
          </a:xfrm>
          <a:prstGeom prst="rect">
            <a:avLst/>
          </a:prstGeom>
          <a:solidFill>
            <a:srgbClr val="1F1F1F"/>
          </a:solidFill>
          <a:ln w="19050">
            <a:solidFill>
              <a:srgbClr val="1F1F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>
            <a:noAutofit/>
          </a:bodyPr>
          <a:lstStyle/>
          <a:p>
            <a:pPr algn="ctr">
              <a:lnSpc>
                <a:spcPct val="100000"/>
              </a:lnSpc>
            </a:pPr>
            <a:r>
              <a:rPr sz="1900" b="0" i="0">
                <a:solidFill>
                  <a:srgbClr val="FFFFFF"/>
                </a:solidFill>
                <a:latin typeface="Segoe UI Semibold"/>
                <a:ea typeface="Segoe UI Semibold"/>
                <a:cs typeface="Segoe UI Semibold"/>
              </a:rPr>
              <a:t>QUARANTINED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229600" y="3520440"/>
            <a:ext cx="4443984" cy="685800"/>
          </a:xfrm>
          <a:prstGeom prst="rect">
            <a:avLst/>
          </a:prstGeom>
          <a:solidFill>
            <a:srgbClr val="FF914D"/>
          </a:solidFill>
          <a:ln w="19050">
            <a:solidFill>
              <a:srgbClr val="FF91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>
            <a:noAutofit/>
          </a:bodyPr>
          <a:lstStyle/>
          <a:p>
            <a:pPr algn="ctr">
              <a:lnSpc>
                <a:spcPct val="100000"/>
              </a:lnSpc>
            </a:pPr>
            <a:r>
              <a:rPr sz="1900" b="0" i="0">
                <a:solidFill>
                  <a:srgbClr val="1A1A1A"/>
                </a:solidFill>
                <a:latin typeface="Segoe UI Semibold"/>
                <a:ea typeface="Segoe UI Semibold"/>
                <a:cs typeface="Segoe UI Semibold"/>
              </a:rPr>
              <a:t>SUSPICIOUS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2673584" y="3520440"/>
            <a:ext cx="2962656" cy="685800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>
            <a:noAutofit/>
          </a:bodyPr>
          <a:lstStyle/>
          <a:p>
            <a:pPr algn="ctr">
              <a:lnSpc>
                <a:spcPct val="100000"/>
              </a:lnSpc>
            </a:pPr>
            <a:r>
              <a:rPr sz="1900" b="0" i="0">
                <a:solidFill>
                  <a:srgbClr val="1A1A1A"/>
                </a:solidFill>
                <a:latin typeface="Segoe UI Semibold"/>
                <a:ea typeface="Segoe UI Semibold"/>
                <a:cs typeface="Segoe UI Semibold"/>
              </a:rPr>
              <a:t>TRUSTED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822960" y="4206240"/>
            <a:ext cx="0" cy="182880"/>
          </a:xfrm>
          <a:prstGeom prst="line">
            <a:avLst/>
          </a:prstGeom>
          <a:ln w="158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457200" y="4389120"/>
            <a:ext cx="73152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600" b="0" i="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0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8229600" y="4206240"/>
            <a:ext cx="0" cy="182880"/>
          </a:xfrm>
          <a:prstGeom prst="line">
            <a:avLst/>
          </a:prstGeom>
          <a:ln w="158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7863840" y="4389120"/>
            <a:ext cx="73152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600" b="0" i="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50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12673584" y="4206240"/>
            <a:ext cx="0" cy="182880"/>
          </a:xfrm>
          <a:prstGeom prst="line">
            <a:avLst/>
          </a:prstGeom>
          <a:ln w="158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12307824" y="4389120"/>
            <a:ext cx="73152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600" b="0" i="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80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13414248" y="4206240"/>
            <a:ext cx="0" cy="182880"/>
          </a:xfrm>
          <a:prstGeom prst="line">
            <a:avLst/>
          </a:prstGeom>
          <a:ln w="158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13048488" y="4389120"/>
            <a:ext cx="73152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600" b="0" i="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85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15636240" y="4206240"/>
            <a:ext cx="0" cy="182880"/>
          </a:xfrm>
          <a:prstGeom prst="line">
            <a:avLst/>
          </a:prstGeom>
          <a:ln w="158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15270480" y="4389120"/>
            <a:ext cx="73152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600" b="0" i="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100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951208" y="4709160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500" b="0" i="0">
                <a:solidFill>
                  <a:srgbClr val="5C5C5C"/>
                </a:solidFill>
                <a:latin typeface="Segoe UI"/>
                <a:ea typeface="Segoe UI"/>
                <a:cs typeface="Segoe UI"/>
              </a:rPr>
              <a:t>back to TRUSTED only at 85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22960" y="5440680"/>
            <a:ext cx="6949440" cy="2331720"/>
          </a:xfrm>
          <a:prstGeom prst="rect">
            <a:avLst/>
          </a:prstGeom>
          <a:solidFill>
            <a:srgbClr val="F6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>
            <a:noAutofit/>
          </a:bodyPr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97280" y="5623560"/>
            <a:ext cx="6583680" cy="21031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2000" b="0" i="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raw      = 100 − Σ wᵢ·pᵢ</a:t>
            </a:r>
          </a:p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2000" b="0" i="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final    = min(raw − pressure, caps)</a:t>
            </a:r>
          </a:p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2000" b="0" i="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pressure ≤ 25  </a:t>
            </a:r>
            <a:r>
              <a:rPr sz="1600" b="0" i="0">
                <a:solidFill>
                  <a:srgbClr val="5C5C5C"/>
                </a:solidFill>
                <a:latin typeface="Segoe UI"/>
                <a:ea typeface="Segoe UI"/>
                <a:cs typeface="Segoe UI"/>
              </a:rPr>
              <a:t>(can never quarantine alone)</a:t>
            </a:r>
          </a:p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2000" b="0" i="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score    = round(final)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321040" y="5349240"/>
            <a:ext cx="7315200" cy="411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900" b="0" i="0">
                <a:solidFill>
                  <a:srgbClr val="1A1A1A"/>
                </a:solidFill>
                <a:latin typeface="Segoe UI Semibold"/>
                <a:ea typeface="Segoe UI Semibold"/>
                <a:cs typeface="Segoe UI Semibold"/>
              </a:rPr>
              <a:t>Caps (ceiling while active)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321040" y="5760720"/>
            <a:ext cx="3017520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0" i="0">
                <a:solidFill>
                  <a:srgbClr val="1A1A1A"/>
                </a:solidFill>
                <a:latin typeface="Segoe UI"/>
                <a:ea typeface="Segoe UI"/>
                <a:cs typeface="Segoe UI"/>
              </a:rPr>
              <a:t>Confirmed incident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1384280" y="5843016"/>
            <a:ext cx="1097280" cy="237744"/>
          </a:xfrm>
          <a:prstGeom prst="rect">
            <a:avLst/>
          </a:prstGeom>
          <a:solidFill>
            <a:srgbClr val="FF91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>
            <a:noAutofit/>
          </a:bodyPr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2554712" y="5760720"/>
            <a:ext cx="640080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0" i="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30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321040" y="6144768"/>
            <a:ext cx="3017520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0" i="0">
                <a:solidFill>
                  <a:srgbClr val="1A1A1A"/>
                </a:solidFill>
                <a:latin typeface="Segoe UI"/>
                <a:ea typeface="Segoe UI"/>
                <a:cs typeface="Segoe UI"/>
              </a:rPr>
              <a:t>Physical tamper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1384280" y="6227064"/>
            <a:ext cx="2011680" cy="237744"/>
          </a:xfrm>
          <a:prstGeom prst="rect">
            <a:avLst/>
          </a:prstGeom>
          <a:solidFill>
            <a:srgbClr val="BDBD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>
            <a:noAutofit/>
          </a:bodyPr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3469112" y="6144768"/>
            <a:ext cx="640080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0" i="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55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321040" y="6528816"/>
            <a:ext cx="3017520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0" i="0">
                <a:solidFill>
                  <a:srgbClr val="1A1A1A"/>
                </a:solidFill>
                <a:latin typeface="Segoe UI"/>
                <a:ea typeface="Segoe UI"/>
                <a:cs typeface="Segoe UI"/>
              </a:rPr>
              <a:t>Correlated incident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1384280" y="6611112"/>
            <a:ext cx="2011680" cy="237744"/>
          </a:xfrm>
          <a:prstGeom prst="rect">
            <a:avLst/>
          </a:prstGeom>
          <a:solidFill>
            <a:srgbClr val="BDBD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>
            <a:noAutofit/>
          </a:bodyPr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3469112" y="6528816"/>
            <a:ext cx="640080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0" i="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55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321040" y="6912864"/>
            <a:ext cx="3017520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0" i="0">
                <a:solidFill>
                  <a:srgbClr val="1A1A1A"/>
                </a:solidFill>
                <a:latin typeface="Segoe UI"/>
                <a:ea typeface="Segoe UI"/>
                <a:cs typeface="Segoe UI"/>
              </a:rPr>
              <a:t>Repeated replay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1384280" y="6995160"/>
            <a:ext cx="2377440" cy="237744"/>
          </a:xfrm>
          <a:prstGeom prst="rect">
            <a:avLst/>
          </a:prstGeom>
          <a:solidFill>
            <a:srgbClr val="BDBD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>
            <a:noAutofit/>
          </a:bodyPr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3834872" y="6912864"/>
            <a:ext cx="640080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0" i="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65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321040" y="7296912"/>
            <a:ext cx="3017520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0" i="0">
                <a:solidFill>
                  <a:srgbClr val="1A1A1A"/>
                </a:solidFill>
                <a:latin typeface="Segoe UI"/>
                <a:ea typeface="Segoe UI"/>
                <a:cs typeface="Segoe UI"/>
              </a:rPr>
              <a:t>Integrity mismatch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1384280" y="7379208"/>
            <a:ext cx="2377440" cy="237744"/>
          </a:xfrm>
          <a:prstGeom prst="rect">
            <a:avLst/>
          </a:prstGeom>
          <a:solidFill>
            <a:srgbClr val="BDBD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>
            <a:noAutofit/>
          </a:bodyPr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3834872" y="7296912"/>
            <a:ext cx="640080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0" i="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65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321040" y="7680960"/>
            <a:ext cx="3017520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0" i="0">
                <a:solidFill>
                  <a:srgbClr val="1A1A1A"/>
                </a:solidFill>
                <a:latin typeface="Segoe UI"/>
                <a:ea typeface="Segoe UI"/>
                <a:cs typeface="Segoe UI"/>
              </a:rPr>
              <a:t>Stale device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1384280" y="7763256"/>
            <a:ext cx="2889504" cy="237744"/>
          </a:xfrm>
          <a:prstGeom prst="rect">
            <a:avLst/>
          </a:prstGeom>
          <a:solidFill>
            <a:srgbClr val="BDBD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>
            <a:noAutofit/>
          </a:bodyPr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4346936" y="7680960"/>
            <a:ext cx="640080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0" i="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79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22960" y="8275320"/>
            <a:ext cx="14813280" cy="8686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800" b="0" i="0">
                <a:solidFill>
                  <a:srgbClr val="1A1A1A"/>
                </a:solidFill>
                <a:latin typeface="Segoe UI Semibold"/>
                <a:ea typeface="Segoe UI Semibold"/>
                <a:cs typeface="Segoe UI Semibold"/>
              </a:rPr>
              <a:t>Recovery credit:  </a:t>
            </a:r>
            <a:r>
              <a:rPr sz="1800" b="0" i="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Δc = clamp(t − max(t_prev, t_violation), 0, 45 s)</a:t>
            </a:r>
          </a:p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700" b="0" i="0">
                <a:solidFill>
                  <a:srgbClr val="5C5C5C"/>
                </a:solidFill>
                <a:latin typeface="Segoe UI"/>
                <a:ea typeface="Segoe UI"/>
                <a:cs typeface="Segoe UI"/>
              </a:rPr>
              <a:t>Only clean, authenticated device evidence earns time. An interval containing a violation earns nothing; silence never heals a device.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22960" y="9747504"/>
            <a:ext cx="822960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 i="0">
                <a:solidFill>
                  <a:srgbClr val="000000"/>
                </a:solidFill>
                <a:latin typeface="Segoe UI Semibold"/>
                <a:ea typeface="Segoe UI Semibold"/>
                <a:cs typeface="Segoe UI Semibold"/>
              </a:rPr>
              <a:t>Q-SHIELD</a:t>
            </a:r>
            <a:r>
              <a:rPr sz="1500" b="0" i="0">
                <a:solidFill>
                  <a:srgbClr val="000000"/>
                </a:solidFill>
                <a:latin typeface="Segoe UI"/>
                <a:ea typeface="Segoe UI"/>
                <a:cs typeface="Segoe UI"/>
              </a:rPr>
              <a:t>   continuous device trust with post-quantum-signed evidence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3350240" y="9747504"/>
            <a:ext cx="228600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500" b="0" i="0">
                <a:solidFill>
                  <a:srgbClr val="000000"/>
                </a:solidFill>
                <a:latin typeface="Segoe UI"/>
                <a:ea typeface="Segoe UI"/>
                <a:cs typeface="Segoe UI"/>
              </a:rPr>
              <a:t>8 / 24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name="Freeform 2" id="2"/>
          <p:cNvSpPr/>
          <p:nvPr/>
        </p:nvSpPr>
        <p:spPr>
          <a:xfrm flipH="false" flipV="false" rot="0">
            <a:off x="-350872" y="9407052"/>
            <a:ext cx="14979358" cy="908523"/>
          </a:xfrm>
          <a:custGeom>
            <a:avLst/>
            <a:gdLst/>
            <a:ahLst/>
            <a:cxnLst/>
            <a:rect r="r" b="b" t="t" l="l"/>
            <a:pathLst>
              <a:path h="908523" w="14979358">
                <a:moveTo>
                  <a:pt x="0" y="0"/>
                </a:moveTo>
                <a:lnTo>
                  <a:pt x="14979357" y="0"/>
                </a:lnTo>
                <a:lnTo>
                  <a:pt x="14979357" y="908523"/>
                </a:lnTo>
                <a:lnTo>
                  <a:pt x="0" y="90852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2273265" y="1130884"/>
            <a:ext cx="6870735" cy="543077"/>
            <a:chOff x="0" y="0"/>
            <a:chExt cx="9160980" cy="72410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9161018" cy="724154"/>
            </a:xfrm>
            <a:custGeom>
              <a:avLst/>
              <a:gdLst/>
              <a:ahLst/>
              <a:cxnLst/>
              <a:rect r="r" b="b" t="t" l="l"/>
              <a:pathLst>
                <a:path h="724154" w="9161018">
                  <a:moveTo>
                    <a:pt x="0" y="0"/>
                  </a:moveTo>
                  <a:lnTo>
                    <a:pt x="9161018" y="0"/>
                  </a:lnTo>
                  <a:lnTo>
                    <a:pt x="9161018" y="724154"/>
                  </a:lnTo>
                  <a:lnTo>
                    <a:pt x="0" y="72415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914D"/>
            </a:solidFill>
          </p:spPr>
        </p:sp>
      </p:grpSp>
      <p:grpSp>
        <p:nvGrpSpPr>
          <p:cNvPr name="Group 5" id="5"/>
          <p:cNvGrpSpPr/>
          <p:nvPr/>
        </p:nvGrpSpPr>
        <p:grpSpPr>
          <a:xfrm rot="-10800000">
            <a:off x="9124950" y="1130884"/>
            <a:ext cx="6870735" cy="543077"/>
            <a:chOff x="0" y="0"/>
            <a:chExt cx="9160980" cy="724103"/>
          </a:xfrm>
        </p:grpSpPr>
        <p:sp>
          <p:nvSpPr>
            <p:cNvPr name="Freeform 6" id="6"/>
            <p:cNvSpPr/>
            <p:nvPr/>
          </p:nvSpPr>
          <p:spPr>
            <a:xfrm flipH="false" flipV="true" rot="0">
              <a:off x="0" y="0"/>
              <a:ext cx="9161018" cy="724154"/>
            </a:xfrm>
            <a:custGeom>
              <a:avLst/>
              <a:gdLst/>
              <a:ahLst/>
              <a:cxnLst/>
              <a:rect r="r" b="b" t="t" l="l"/>
              <a:pathLst>
                <a:path h="724154" w="9161018">
                  <a:moveTo>
                    <a:pt x="0" y="724154"/>
                  </a:moveTo>
                  <a:lnTo>
                    <a:pt x="9161018" y="724154"/>
                  </a:lnTo>
                  <a:lnTo>
                    <a:pt x="9161018" y="0"/>
                  </a:lnTo>
                  <a:lnTo>
                    <a:pt x="0" y="0"/>
                  </a:lnTo>
                  <a:lnTo>
                    <a:pt x="0" y="724154"/>
                  </a:lnTo>
                  <a:close/>
                </a:path>
              </a:pathLst>
            </a:custGeom>
            <a:solidFill>
              <a:srgbClr val="FF914D"/>
            </a:solidFill>
          </p:spPr>
        </p:sp>
      </p:grpSp>
      <p:grpSp>
        <p:nvGrpSpPr>
          <p:cNvPr name="Group 7" id="7"/>
          <p:cNvGrpSpPr/>
          <p:nvPr/>
        </p:nvGrpSpPr>
        <p:grpSpPr>
          <a:xfrm rot="-10800000">
            <a:off x="-32871" y="1130884"/>
            <a:ext cx="3068079" cy="503739"/>
            <a:chOff x="0" y="0"/>
            <a:chExt cx="4090772" cy="671652"/>
          </a:xfrm>
        </p:grpSpPr>
        <p:sp>
          <p:nvSpPr>
            <p:cNvPr name="Freeform 8" id="8"/>
            <p:cNvSpPr/>
            <p:nvPr/>
          </p:nvSpPr>
          <p:spPr>
            <a:xfrm flipH="false" flipV="true" rot="0">
              <a:off x="0" y="0"/>
              <a:ext cx="4090797" cy="671703"/>
            </a:xfrm>
            <a:custGeom>
              <a:avLst/>
              <a:gdLst/>
              <a:ahLst/>
              <a:cxnLst/>
              <a:rect r="r" b="b" t="t" l="l"/>
              <a:pathLst>
                <a:path h="671703" w="4090797">
                  <a:moveTo>
                    <a:pt x="0" y="671703"/>
                  </a:moveTo>
                  <a:lnTo>
                    <a:pt x="4090797" y="671703"/>
                  </a:lnTo>
                  <a:lnTo>
                    <a:pt x="4090797" y="0"/>
                  </a:lnTo>
                  <a:lnTo>
                    <a:pt x="0" y="0"/>
                  </a:lnTo>
                  <a:lnTo>
                    <a:pt x="0" y="671703"/>
                  </a:lnTo>
                  <a:close/>
                </a:path>
              </a:pathLst>
            </a:custGeom>
            <a:solidFill>
              <a:srgbClr val="FF914D"/>
            </a:solidFill>
          </p:spPr>
        </p:sp>
      </p:grpSp>
      <p:sp>
        <p:nvSpPr>
          <p:cNvPr name="Freeform 9" id="9"/>
          <p:cNvSpPr/>
          <p:nvPr/>
        </p:nvSpPr>
        <p:spPr>
          <a:xfrm flipH="false" flipV="false" rot="-5400000">
            <a:off x="12120564" y="5052657"/>
            <a:ext cx="10084834" cy="2269088"/>
          </a:xfrm>
          <a:custGeom>
            <a:avLst/>
            <a:gdLst/>
            <a:ahLst/>
            <a:cxnLst/>
            <a:rect r="r" b="b" t="t" l="l"/>
            <a:pathLst>
              <a:path h="2269088" w="10084834">
                <a:moveTo>
                  <a:pt x="0" y="0"/>
                </a:moveTo>
                <a:lnTo>
                  <a:pt x="10084834" y="0"/>
                </a:lnTo>
                <a:lnTo>
                  <a:pt x="10084834" y="2269088"/>
                </a:lnTo>
                <a:lnTo>
                  <a:pt x="0" y="226908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-10800000">
            <a:off x="15248496" y="1130884"/>
            <a:ext cx="3068079" cy="503739"/>
            <a:chOff x="0" y="0"/>
            <a:chExt cx="4090772" cy="671652"/>
          </a:xfrm>
        </p:grpSpPr>
        <p:sp>
          <p:nvSpPr>
            <p:cNvPr name="Freeform 11" id="11"/>
            <p:cNvSpPr/>
            <p:nvPr/>
          </p:nvSpPr>
          <p:spPr>
            <a:xfrm flipH="false" flipV="true" rot="0">
              <a:off x="0" y="0"/>
              <a:ext cx="4090797" cy="671703"/>
            </a:xfrm>
            <a:custGeom>
              <a:avLst/>
              <a:gdLst/>
              <a:ahLst/>
              <a:cxnLst/>
              <a:rect r="r" b="b" t="t" l="l"/>
              <a:pathLst>
                <a:path h="671703" w="4090797">
                  <a:moveTo>
                    <a:pt x="0" y="671703"/>
                  </a:moveTo>
                  <a:lnTo>
                    <a:pt x="4090797" y="671703"/>
                  </a:lnTo>
                  <a:lnTo>
                    <a:pt x="4090797" y="0"/>
                  </a:lnTo>
                  <a:lnTo>
                    <a:pt x="0" y="0"/>
                  </a:lnTo>
                  <a:lnTo>
                    <a:pt x="0" y="671703"/>
                  </a:lnTo>
                  <a:close/>
                </a:path>
              </a:pathLst>
            </a:custGeom>
            <a:solidFill>
              <a:srgbClr val="FF914D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5688825" y="96222"/>
            <a:ext cx="2423739" cy="924096"/>
            <a:chOff x="0" y="0"/>
            <a:chExt cx="2307438" cy="879754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307463" cy="879729"/>
            </a:xfrm>
            <a:custGeom>
              <a:avLst/>
              <a:gdLst/>
              <a:ahLst/>
              <a:cxnLst/>
              <a:rect r="r" b="b" t="t" l="l"/>
              <a:pathLst>
                <a:path h="879729" w="2307463">
                  <a:moveTo>
                    <a:pt x="0" y="0"/>
                  </a:moveTo>
                  <a:lnTo>
                    <a:pt x="2307463" y="0"/>
                  </a:lnTo>
                  <a:lnTo>
                    <a:pt x="2307463" y="879729"/>
                  </a:lnTo>
                  <a:lnTo>
                    <a:pt x="0" y="8797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-76294" r="1" b="-85995"/>
              </a:stretch>
            </a:blipFill>
          </p:spPr>
        </p:sp>
      </p:grpSp>
      <p:sp>
        <p:nvSpPr>
          <p:cNvPr name="Freeform 14" id="14"/>
          <p:cNvSpPr/>
          <p:nvPr/>
        </p:nvSpPr>
        <p:spPr>
          <a:xfrm flipH="false" flipV="false" rot="0">
            <a:off x="9857003" y="9407052"/>
            <a:ext cx="14979358" cy="908523"/>
          </a:xfrm>
          <a:custGeom>
            <a:avLst/>
            <a:gdLst/>
            <a:ahLst/>
            <a:cxnLst/>
            <a:rect r="r" b="b" t="t" l="l"/>
            <a:pathLst>
              <a:path h="908523" w="14979358">
                <a:moveTo>
                  <a:pt x="0" y="0"/>
                </a:moveTo>
                <a:lnTo>
                  <a:pt x="14979358" y="0"/>
                </a:lnTo>
                <a:lnTo>
                  <a:pt x="14979358" y="908523"/>
                </a:lnTo>
                <a:lnTo>
                  <a:pt x="0" y="90852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252268" y="89049"/>
            <a:ext cx="2497801" cy="1034663"/>
          </a:xfrm>
          <a:custGeom>
            <a:avLst/>
            <a:gdLst/>
            <a:ahLst/>
            <a:cxnLst/>
            <a:rect r="r" b="b" t="t" l="l"/>
            <a:pathLst>
              <a:path h="1034663" w="2497801">
                <a:moveTo>
                  <a:pt x="0" y="0"/>
                </a:moveTo>
                <a:lnTo>
                  <a:pt x="2497801" y="0"/>
                </a:lnTo>
                <a:lnTo>
                  <a:pt x="2497801" y="1034663"/>
                </a:lnTo>
                <a:lnTo>
                  <a:pt x="0" y="103466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5988" t="-27243" r="-4375" b="-52819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6236411" y="74654"/>
            <a:ext cx="5815177" cy="987762"/>
          </a:xfrm>
          <a:custGeom>
            <a:avLst/>
            <a:gdLst/>
            <a:ahLst/>
            <a:cxnLst/>
            <a:rect r="r" b="b" t="t" l="l"/>
            <a:pathLst>
              <a:path h="987762" w="5815177">
                <a:moveTo>
                  <a:pt x="0" y="0"/>
                </a:moveTo>
                <a:lnTo>
                  <a:pt x="5815178" y="0"/>
                </a:lnTo>
                <a:lnTo>
                  <a:pt x="5815178" y="987762"/>
                </a:lnTo>
                <a:lnTo>
                  <a:pt x="0" y="987762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-11062" t="-153011" r="-9149" b="-154810"/>
            </a:stretch>
          </a:blipFill>
        </p:spPr>
      </p:sp>
      <p:sp>
        <p:nvSpPr>
          <p:cNvPr id="20" name="TextBox 19"/>
          <p:cNvSpPr txBox="1"/>
          <p:nvPr/>
        </p:nvSpPr>
        <p:spPr>
          <a:xfrm>
            <a:off x="822960" y="1874520"/>
            <a:ext cx="14813280" cy="7315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4000" b="0" i="0">
                <a:solidFill>
                  <a:srgbClr val="000000"/>
                </a:solidFill>
                <a:latin typeface="Bahnschrift SemiBold"/>
                <a:ea typeface="Bahnschrift SemiBold"/>
                <a:cs typeface="Bahnschrift SemiBold"/>
              </a:rPr>
              <a:t>4. Technical Design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2578608"/>
            <a:ext cx="1481328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100" b="0" i="0">
                <a:solidFill>
                  <a:srgbClr val="5C5C5C"/>
                </a:solidFill>
                <a:latin typeface="Segoe UI"/>
                <a:ea typeface="Segoe UI"/>
                <a:cs typeface="Segoe UI"/>
              </a:rPr>
              <a:t>Technologies and algorithms: why post-quantum, and where each primitive works</a:t>
            </a:r>
          </a:p>
        </p:txBody>
      </p:sp>
      <p:sp>
        <p:nvSpPr>
          <p:cNvPr id="22" name="Oval 21"/>
          <p:cNvSpPr/>
          <p:nvPr/>
        </p:nvSpPr>
        <p:spPr>
          <a:xfrm>
            <a:off x="822960" y="3063240"/>
            <a:ext cx="128016" cy="128016"/>
          </a:xfrm>
          <a:prstGeom prst="ellipse">
            <a:avLst/>
          </a:prstGeom>
          <a:solidFill>
            <a:srgbClr val="FFFFFF"/>
          </a:solidFill>
          <a:ln w="22225">
            <a:solidFill>
              <a:srgbClr val="FF91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3" name="Connector 22"/>
          <p:cNvCxnSpPr/>
          <p:nvPr/>
        </p:nvCxnSpPr>
        <p:spPr>
          <a:xfrm>
            <a:off x="950976" y="3127248"/>
            <a:ext cx="1335024" cy="0"/>
          </a:xfrm>
          <a:prstGeom prst="line">
            <a:avLst/>
          </a:prstGeom>
          <a:ln w="22225">
            <a:solidFill>
              <a:srgbClr val="FF91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822960" y="3429000"/>
            <a:ext cx="1508760" cy="6400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>
            <a:noAutofit/>
          </a:bodyPr>
          <a:lstStyle/>
          <a:p>
            <a:pPr algn="ctr">
              <a:lnSpc>
                <a:spcPct val="100000"/>
              </a:lnSpc>
            </a:pPr>
            <a:r>
              <a:rPr sz="1800" b="0" i="0">
                <a:solidFill>
                  <a:srgbClr val="1A1A1A"/>
                </a:solidFill>
                <a:latin typeface="Segoe UI Semibold"/>
                <a:ea typeface="Segoe UI Semibold"/>
                <a:cs typeface="Segoe UI Semibold"/>
              </a:rPr>
              <a:t>Why PQC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2359152" y="3749040"/>
            <a:ext cx="219456" cy="0"/>
          </a:xfrm>
          <a:prstGeom prst="line">
            <a:avLst/>
          </a:prstGeom>
          <a:ln w="1905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2606040" y="3429000"/>
            <a:ext cx="1508760" cy="640080"/>
          </a:xfrm>
          <a:prstGeom prst="roundRect">
            <a:avLst>
              <a:gd name="adj" fmla="val 12000"/>
            </a:avLst>
          </a:prstGeom>
          <a:solidFill>
            <a:srgbClr val="FF914D"/>
          </a:solidFill>
          <a:ln w="19050">
            <a:solidFill>
              <a:srgbClr val="FF91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>
            <a:noAutofit/>
          </a:bodyPr>
          <a:lstStyle/>
          <a:p>
            <a:pPr algn="ctr">
              <a:lnSpc>
                <a:spcPct val="100000"/>
              </a:lnSpc>
            </a:pPr>
            <a:r>
              <a:rPr sz="1800" b="0" i="0">
                <a:solidFill>
                  <a:srgbClr val="1A1A1A"/>
                </a:solidFill>
                <a:latin typeface="Segoe UI Semibold"/>
                <a:ea typeface="Segoe UI Semibold"/>
                <a:cs typeface="Segoe UI Semibold"/>
              </a:rPr>
              <a:t>ML-KEM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4142232" y="3749040"/>
            <a:ext cx="219456" cy="0"/>
          </a:xfrm>
          <a:prstGeom prst="line">
            <a:avLst/>
          </a:prstGeom>
          <a:ln w="1905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4389120" y="3429000"/>
            <a:ext cx="1508760" cy="6400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>
            <a:noAutofit/>
          </a:bodyPr>
          <a:lstStyle/>
          <a:p>
            <a:pPr algn="ctr">
              <a:lnSpc>
                <a:spcPct val="100000"/>
              </a:lnSpc>
            </a:pPr>
            <a:r>
              <a:rPr sz="1800" b="0" i="0">
                <a:solidFill>
                  <a:srgbClr val="1A1A1A"/>
                </a:solidFill>
                <a:latin typeface="Segoe UI Semibold"/>
                <a:ea typeface="Segoe UI Semibold"/>
                <a:cs typeface="Segoe UI Semibold"/>
              </a:rPr>
              <a:t>Session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5925312" y="3749040"/>
            <a:ext cx="219456" cy="0"/>
          </a:xfrm>
          <a:prstGeom prst="line">
            <a:avLst/>
          </a:prstGeom>
          <a:ln w="1905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6172200" y="3429000"/>
            <a:ext cx="1508760" cy="640080"/>
          </a:xfrm>
          <a:prstGeom prst="roundRect">
            <a:avLst>
              <a:gd name="adj" fmla="val 12000"/>
            </a:avLst>
          </a:prstGeom>
          <a:solidFill>
            <a:srgbClr val="FF914D"/>
          </a:solidFill>
          <a:ln w="19050">
            <a:solidFill>
              <a:srgbClr val="FF91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>
            <a:noAutofit/>
          </a:bodyPr>
          <a:lstStyle/>
          <a:p>
            <a:pPr algn="ctr">
              <a:lnSpc>
                <a:spcPct val="100000"/>
              </a:lnSpc>
            </a:pPr>
            <a:r>
              <a:rPr sz="1800" b="0" i="0">
                <a:solidFill>
                  <a:srgbClr val="1A1A1A"/>
                </a:solidFill>
                <a:latin typeface="Segoe UI Semibold"/>
                <a:ea typeface="Segoe UI Semibold"/>
                <a:cs typeface="Segoe UI Semibold"/>
              </a:rPr>
              <a:t>ML-DSA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7708392" y="3749040"/>
            <a:ext cx="219456" cy="0"/>
          </a:xfrm>
          <a:prstGeom prst="line">
            <a:avLst/>
          </a:prstGeom>
          <a:ln w="1905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7955280" y="3429000"/>
            <a:ext cx="2331720" cy="6400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>
            <a:noAutofit/>
          </a:bodyPr>
          <a:lstStyle/>
          <a:p>
            <a:pPr algn="ctr">
              <a:lnSpc>
                <a:spcPct val="100000"/>
              </a:lnSpc>
            </a:pPr>
            <a:r>
              <a:rPr sz="1800" b="0" i="0">
                <a:solidFill>
                  <a:srgbClr val="1A1A1A"/>
                </a:solidFill>
                <a:latin typeface="Segoe UI Semibold"/>
                <a:ea typeface="Segoe UI Semibold"/>
                <a:cs typeface="Segoe UI Semibold"/>
              </a:rPr>
              <a:t>Signed evidence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10314432" y="3749040"/>
            <a:ext cx="219456" cy="0"/>
          </a:xfrm>
          <a:prstGeom prst="line">
            <a:avLst/>
          </a:prstGeom>
          <a:ln w="1905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10561320" y="3429000"/>
            <a:ext cx="1600200" cy="6400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>
            <a:noAutofit/>
          </a:bodyPr>
          <a:lstStyle/>
          <a:p>
            <a:pPr algn="ctr">
              <a:lnSpc>
                <a:spcPct val="100000"/>
              </a:lnSpc>
            </a:pPr>
            <a:r>
              <a:rPr sz="1800" b="0" i="0">
                <a:solidFill>
                  <a:srgbClr val="1A1A1A"/>
                </a:solidFill>
                <a:latin typeface="Segoe UI Semibold"/>
                <a:ea typeface="Segoe UI Semibold"/>
                <a:cs typeface="Segoe UI Semibold"/>
              </a:rPr>
              <a:t>AES-GCM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12188952" y="3749040"/>
            <a:ext cx="219456" cy="0"/>
          </a:xfrm>
          <a:prstGeom prst="line">
            <a:avLst/>
          </a:prstGeom>
          <a:ln w="1905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/>
          <p:cNvSpPr/>
          <p:nvPr/>
        </p:nvSpPr>
        <p:spPr>
          <a:xfrm>
            <a:off x="12435840" y="3429000"/>
            <a:ext cx="2514600" cy="6400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>
            <a:noAutofit/>
          </a:bodyPr>
          <a:lstStyle/>
          <a:p>
            <a:pPr algn="ctr">
              <a:lnSpc>
                <a:spcPct val="100000"/>
              </a:lnSpc>
            </a:pPr>
            <a:r>
              <a:rPr sz="1800" b="0" i="0">
                <a:solidFill>
                  <a:srgbClr val="1A1A1A"/>
                </a:solidFill>
                <a:latin typeface="Segoe UI Semibold"/>
                <a:ea typeface="Segoe UI Semibold"/>
                <a:cs typeface="Segoe UI Semibold"/>
              </a:rPr>
              <a:t>Continuous trust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05840" y="4434840"/>
            <a:ext cx="324612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 i="0">
                <a:solidFill>
                  <a:srgbClr val="5C5C5C"/>
                </a:solidFill>
                <a:latin typeface="Segoe UI Semibold"/>
                <a:ea typeface="Segoe UI Semibold"/>
                <a:cs typeface="Segoe UI Semibold"/>
              </a:rPr>
              <a:t>Use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389120" y="4434840"/>
            <a:ext cx="251460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 i="0">
                <a:solidFill>
                  <a:srgbClr val="5C5C5C"/>
                </a:solidFill>
                <a:latin typeface="Segoe UI Semibold"/>
                <a:ea typeface="Segoe UI Semibold"/>
                <a:cs typeface="Segoe UI Semibold"/>
              </a:rPr>
              <a:t>Algorithm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040880" y="4434840"/>
            <a:ext cx="187452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 i="0">
                <a:solidFill>
                  <a:srgbClr val="5C5C5C"/>
                </a:solidFill>
                <a:latin typeface="Segoe UI Semibold"/>
                <a:ea typeface="Segoe UI Semibold"/>
                <a:cs typeface="Segoe UI Semibold"/>
              </a:rPr>
              <a:t>Standard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052560" y="4434840"/>
            <a:ext cx="315468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 i="0">
                <a:solidFill>
                  <a:srgbClr val="5C5C5C"/>
                </a:solidFill>
                <a:latin typeface="Segoe UI Semibold"/>
                <a:ea typeface="Segoe UI Semibold"/>
                <a:cs typeface="Segoe UI Semibold"/>
              </a:rPr>
              <a:t>Where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1005840" y="4846320"/>
            <a:ext cx="11338560" cy="0"/>
          </a:xfrm>
          <a:prstGeom prst="line">
            <a:avLst/>
          </a:prstGeom>
          <a:ln w="158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1005840" y="4937760"/>
            <a:ext cx="3200400" cy="60350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1A1A1A"/>
                </a:solidFill>
                <a:latin typeface="Segoe UI Semibold"/>
                <a:ea typeface="Segoe UI Semibold"/>
                <a:cs typeface="Segoe UI Semibold"/>
              </a:rPr>
              <a:t>Session key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389120" y="4937760"/>
            <a:ext cx="2468880" cy="60350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ML-KEM-768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040880" y="4937760"/>
            <a:ext cx="1828800" cy="60350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1A1A1A"/>
                </a:solidFill>
                <a:latin typeface="Segoe UI"/>
                <a:ea typeface="Segoe UI"/>
                <a:cs typeface="Segoe UI"/>
              </a:rPr>
              <a:t>FIPS 203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052560" y="4937760"/>
            <a:ext cx="3108960" cy="60350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1A1A1A"/>
                </a:solidFill>
                <a:latin typeface="Segoe UI"/>
                <a:ea typeface="Segoe UI"/>
                <a:cs typeface="Segoe UI"/>
              </a:rPr>
              <a:t>vision service ↔ gateway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1005840" y="5541264"/>
            <a:ext cx="11338560" cy="0"/>
          </a:xfrm>
          <a:prstGeom prst="line">
            <a:avLst/>
          </a:prstGeom>
          <a:ln w="9525">
            <a:solidFill>
              <a:srgbClr val="BDBD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1005840" y="5541264"/>
            <a:ext cx="3200400" cy="60350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1A1A1A"/>
                </a:solidFill>
                <a:latin typeface="Segoe UI Semibold"/>
                <a:ea typeface="Segoe UI Semibold"/>
                <a:cs typeface="Segoe UI Semibold"/>
              </a:rPr>
              <a:t>Observation signatures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389120" y="5541264"/>
            <a:ext cx="2468880" cy="60350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ML-DSA-65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040880" y="5541264"/>
            <a:ext cx="1828800" cy="60350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1A1A1A"/>
                </a:solidFill>
                <a:latin typeface="Segoe UI"/>
                <a:ea typeface="Segoe UI"/>
                <a:cs typeface="Segoe UI"/>
              </a:rPr>
              <a:t>FIPS 204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052560" y="5541264"/>
            <a:ext cx="3108960" cy="60350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1A1A1A"/>
                </a:solidFill>
                <a:latin typeface="Segoe UI"/>
                <a:ea typeface="Segoe UI"/>
                <a:cs typeface="Segoe UI"/>
              </a:rPr>
              <a:t>vision service identity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1005840" y="6144768"/>
            <a:ext cx="11338560" cy="0"/>
          </a:xfrm>
          <a:prstGeom prst="line">
            <a:avLst/>
          </a:prstGeom>
          <a:ln w="9525">
            <a:solidFill>
              <a:srgbClr val="BDBD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xtBox 51"/>
          <p:cNvSpPr txBox="1"/>
          <p:nvPr/>
        </p:nvSpPr>
        <p:spPr>
          <a:xfrm>
            <a:off x="1005840" y="6144768"/>
            <a:ext cx="3200400" cy="60350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1A1A1A"/>
                </a:solidFill>
                <a:latin typeface="Segoe UI Semibold"/>
                <a:ea typeface="Segoe UI Semibold"/>
                <a:cs typeface="Segoe UI Semibold"/>
              </a:rPr>
              <a:t>Evidence signatures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389120" y="6144768"/>
            <a:ext cx="2468880" cy="60350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ML-DSA-65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040880" y="6144768"/>
            <a:ext cx="1828800" cy="60350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1A1A1A"/>
                </a:solidFill>
                <a:latin typeface="Segoe UI"/>
                <a:ea typeface="Segoe UI"/>
                <a:cs typeface="Segoe UI"/>
              </a:rPr>
              <a:t>FIPS 204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052560" y="6144768"/>
            <a:ext cx="3108960" cy="60350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1A1A1A"/>
                </a:solidFill>
                <a:latin typeface="Segoe UI"/>
                <a:ea typeface="Segoe UI"/>
                <a:cs typeface="Segoe UI"/>
              </a:rPr>
              <a:t>gateway evidence key</a:t>
            </a:r>
          </a:p>
        </p:txBody>
      </p:sp>
      <p:cxnSp>
        <p:nvCxnSpPr>
          <p:cNvPr id="56" name="Connector 55"/>
          <p:cNvCxnSpPr/>
          <p:nvPr/>
        </p:nvCxnSpPr>
        <p:spPr>
          <a:xfrm>
            <a:off x="1005840" y="6748272"/>
            <a:ext cx="11338560" cy="0"/>
          </a:xfrm>
          <a:prstGeom prst="line">
            <a:avLst/>
          </a:prstGeom>
          <a:ln w="9525">
            <a:solidFill>
              <a:srgbClr val="BDBD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TextBox 56"/>
          <p:cNvSpPr txBox="1"/>
          <p:nvPr/>
        </p:nvSpPr>
        <p:spPr>
          <a:xfrm>
            <a:off x="1005840" y="6748272"/>
            <a:ext cx="3200400" cy="60350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1A1A1A"/>
                </a:solidFill>
                <a:latin typeface="Segoe UI Semibold"/>
                <a:ea typeface="Segoe UI Semibold"/>
                <a:cs typeface="Segoe UI Semibold"/>
              </a:rPr>
              <a:t>Key schedule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389120" y="6748272"/>
            <a:ext cx="2468880" cy="60350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HKDF-SHA256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040880" y="6748272"/>
            <a:ext cx="1828800" cy="60350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1A1A1A"/>
                </a:solidFill>
                <a:latin typeface="Segoe UI"/>
                <a:ea typeface="Segoe UI"/>
                <a:cs typeface="Segoe UI"/>
              </a:rPr>
              <a:t>RFC 5869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052560" y="6748272"/>
            <a:ext cx="3108960" cy="60350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1A1A1A"/>
                </a:solidFill>
                <a:latin typeface="Segoe UI"/>
                <a:ea typeface="Segoe UI"/>
                <a:cs typeface="Segoe UI"/>
              </a:rPr>
              <a:t>session keys, per direction</a:t>
            </a:r>
          </a:p>
        </p:txBody>
      </p:sp>
      <p:cxnSp>
        <p:nvCxnSpPr>
          <p:cNvPr id="61" name="Connector 60"/>
          <p:cNvCxnSpPr/>
          <p:nvPr/>
        </p:nvCxnSpPr>
        <p:spPr>
          <a:xfrm>
            <a:off x="1005840" y="7351776"/>
            <a:ext cx="11338560" cy="0"/>
          </a:xfrm>
          <a:prstGeom prst="line">
            <a:avLst/>
          </a:prstGeom>
          <a:ln w="9525">
            <a:solidFill>
              <a:srgbClr val="BDBD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TextBox 61"/>
          <p:cNvSpPr txBox="1"/>
          <p:nvPr/>
        </p:nvSpPr>
        <p:spPr>
          <a:xfrm>
            <a:off x="1005840" y="7351776"/>
            <a:ext cx="3200400" cy="60350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1A1A1A"/>
                </a:solidFill>
                <a:latin typeface="Segoe UI Semibold"/>
                <a:ea typeface="Segoe UI Semibold"/>
                <a:cs typeface="Segoe UI Semibold"/>
              </a:rPr>
              <a:t>Session data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389120" y="7351776"/>
            <a:ext cx="2468880" cy="60350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AES-256-GCM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040880" y="7351776"/>
            <a:ext cx="1828800" cy="60350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1A1A1A"/>
                </a:solidFill>
                <a:latin typeface="Segoe UI"/>
                <a:ea typeface="Segoe UI"/>
                <a:cs typeface="Segoe UI"/>
              </a:rPr>
              <a:t>SP 800-38D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052560" y="7351776"/>
            <a:ext cx="3108960" cy="60350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1A1A1A"/>
                </a:solidFill>
                <a:latin typeface="Segoe UI"/>
                <a:ea typeface="Segoe UI"/>
                <a:cs typeface="Segoe UI"/>
              </a:rPr>
              <a:t>observations in transit</a:t>
            </a:r>
          </a:p>
        </p:txBody>
      </p:sp>
      <p:cxnSp>
        <p:nvCxnSpPr>
          <p:cNvPr id="66" name="Connector 65"/>
          <p:cNvCxnSpPr/>
          <p:nvPr/>
        </p:nvCxnSpPr>
        <p:spPr>
          <a:xfrm>
            <a:off x="1005840" y="7955280"/>
            <a:ext cx="11338560" cy="0"/>
          </a:xfrm>
          <a:prstGeom prst="line">
            <a:avLst/>
          </a:prstGeom>
          <a:ln w="9525">
            <a:solidFill>
              <a:srgbClr val="BDBD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TextBox 66"/>
          <p:cNvSpPr txBox="1"/>
          <p:nvPr/>
        </p:nvSpPr>
        <p:spPr>
          <a:xfrm>
            <a:off x="1005840" y="7955280"/>
            <a:ext cx="3200400" cy="60350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1A1A1A"/>
                </a:solidFill>
                <a:latin typeface="Segoe UI Semibold"/>
                <a:ea typeface="Segoe UI Semibold"/>
                <a:cs typeface="Segoe UI Semibold"/>
              </a:rPr>
              <a:t>Chain links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389120" y="7955280"/>
            <a:ext cx="2468880" cy="60350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SHA-256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040880" y="7955280"/>
            <a:ext cx="1828800" cy="60350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1A1A1A"/>
                </a:solidFill>
                <a:latin typeface="Segoe UI"/>
                <a:ea typeface="Segoe UI"/>
                <a:cs typeface="Segoe UI"/>
              </a:rPr>
              <a:t>FIPS 180-4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9052560" y="7955280"/>
            <a:ext cx="3108960" cy="60350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1A1A1A"/>
                </a:solidFill>
                <a:latin typeface="Segoe UI"/>
                <a:ea typeface="Segoe UI"/>
                <a:cs typeface="Segoe UI"/>
              </a:rPr>
              <a:t>evidence chain</a:t>
            </a:r>
          </a:p>
        </p:txBody>
      </p:sp>
      <p:cxnSp>
        <p:nvCxnSpPr>
          <p:cNvPr id="71" name="Connector 70"/>
          <p:cNvCxnSpPr/>
          <p:nvPr/>
        </p:nvCxnSpPr>
        <p:spPr>
          <a:xfrm>
            <a:off x="1005840" y="8558784"/>
            <a:ext cx="11338560" cy="0"/>
          </a:xfrm>
          <a:prstGeom prst="line">
            <a:avLst/>
          </a:prstGeom>
          <a:ln w="9525">
            <a:solidFill>
              <a:srgbClr val="BDBD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TextBox 71"/>
          <p:cNvSpPr txBox="1"/>
          <p:nvPr/>
        </p:nvSpPr>
        <p:spPr>
          <a:xfrm>
            <a:off x="1005840" y="8558784"/>
            <a:ext cx="3200400" cy="60350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1A1A1A"/>
                </a:solidFill>
                <a:latin typeface="Segoe UI Semibold"/>
                <a:ea typeface="Segoe UI Semibold"/>
                <a:cs typeface="Segoe UI Semibold"/>
              </a:rPr>
              <a:t>Device messages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4389120" y="8558784"/>
            <a:ext cx="2468880" cy="60350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HMAC-SHA256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7040880" y="8558784"/>
            <a:ext cx="1828800" cy="60350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1A1A1A"/>
                </a:solidFill>
                <a:latin typeface="Segoe UI"/>
                <a:ea typeface="Segoe UI"/>
                <a:cs typeface="Segoe UI"/>
              </a:rPr>
              <a:t>RFC 2104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9052560" y="8558784"/>
            <a:ext cx="3108960" cy="60350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1A1A1A"/>
                </a:solidFill>
                <a:latin typeface="Segoe UI"/>
                <a:ea typeface="Segoe UI"/>
                <a:cs typeface="Segoe UI"/>
              </a:rPr>
              <a:t>ESP32 path, </a:t>
            </a:r>
            <a:r>
              <a:rPr sz="1800" b="0" i="0">
                <a:solidFill>
                  <a:srgbClr val="C2410C"/>
                </a:solidFill>
                <a:latin typeface="Segoe UI Semibold"/>
                <a:ea typeface="Segoe UI Semibold"/>
                <a:cs typeface="Segoe UI Semibold"/>
              </a:rPr>
              <a:t>not PQC</a:t>
            </a:r>
          </a:p>
        </p:txBody>
      </p:sp>
      <p:cxnSp>
        <p:nvCxnSpPr>
          <p:cNvPr id="76" name="Connector 75"/>
          <p:cNvCxnSpPr/>
          <p:nvPr/>
        </p:nvCxnSpPr>
        <p:spPr>
          <a:xfrm>
            <a:off x="1005840" y="9162288"/>
            <a:ext cx="11338560" cy="0"/>
          </a:xfrm>
          <a:prstGeom prst="line">
            <a:avLst/>
          </a:prstGeom>
          <a:ln w="9525">
            <a:solidFill>
              <a:srgbClr val="BDBD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Rectangle 76"/>
          <p:cNvSpPr/>
          <p:nvPr/>
        </p:nvSpPr>
        <p:spPr>
          <a:xfrm>
            <a:off x="12755880" y="4434840"/>
            <a:ext cx="2880360" cy="4343400"/>
          </a:xfrm>
          <a:prstGeom prst="rect">
            <a:avLst/>
          </a:prstGeom>
          <a:solidFill>
            <a:srgbClr val="F6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>
            <a:noAutofit/>
          </a:bodyPr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12938760" y="4572000"/>
            <a:ext cx="2560320" cy="4114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5400" b="0" i="0">
                <a:solidFill>
                  <a:srgbClr val="000000"/>
                </a:solidFill>
                <a:latin typeface="Bahnschrift SemiBold"/>
                <a:ea typeface="Bahnschrift SemiBold"/>
                <a:cs typeface="Bahnschrift SemiBold"/>
              </a:rPr>
              <a:t>70</a:t>
            </a:r>
          </a:p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1800" b="0" i="0">
                <a:solidFill>
                  <a:srgbClr val="1A1A1A"/>
                </a:solidFill>
                <a:latin typeface="Segoe UI Semibold"/>
                <a:ea typeface="Segoe UI Semibold"/>
                <a:cs typeface="Segoe UI Semibold"/>
              </a:rPr>
              <a:t>NIST ACVP vectors agree</a:t>
            </a:r>
          </a:p>
          <a:p>
            <a:pPr algn="l" marL="292608" indent="-292608">
              <a:lnSpc>
                <a:spcPct val="108000"/>
              </a:lnSpc>
              <a:spcAft>
                <a:spcPts val="400"/>
              </a:spcAft>
              <a:buClr>
                <a:srgbClr val="FF914D"/>
              </a:buClr>
              <a:buSzPct val="70000"/>
              <a:buFont typeface="Arial"/>
              <a:buChar char="■"/>
            </a:pPr>
            <a:r>
              <a:rPr sz="1600" b="0" i="0">
                <a:solidFill>
                  <a:srgbClr val="1A1A1A"/>
                </a:solidFill>
                <a:latin typeface="Segoe UI"/>
                <a:ea typeface="Segoe UI"/>
                <a:cs typeface="Segoe UI"/>
              </a:rPr>
              <a:t>35 ML-KEM-768 decapsulation</a:t>
            </a:r>
          </a:p>
          <a:p>
            <a:pPr algn="l" marL="292608" indent="-292608">
              <a:lnSpc>
                <a:spcPct val="108000"/>
              </a:lnSpc>
              <a:spcAft>
                <a:spcPts val="400"/>
              </a:spcAft>
              <a:buClr>
                <a:srgbClr val="FF914D"/>
              </a:buClr>
              <a:buSzPct val="70000"/>
              <a:buFont typeface="Arial"/>
              <a:buChar char="■"/>
            </a:pPr>
            <a:r>
              <a:rPr sz="1600" b="0" i="0">
                <a:solidFill>
                  <a:srgbClr val="1A1A1A"/>
                </a:solidFill>
                <a:latin typeface="Segoe UI"/>
                <a:ea typeface="Segoe UI"/>
                <a:cs typeface="Segoe UI"/>
              </a:rPr>
              <a:t>20 ML-KEM-768 key checks</a:t>
            </a:r>
          </a:p>
          <a:p>
            <a:pPr algn="l" marL="292608" indent="-292608">
              <a:lnSpc>
                <a:spcPct val="108000"/>
              </a:lnSpc>
              <a:spcAft>
                <a:spcPts val="1000"/>
              </a:spcAft>
              <a:buClr>
                <a:srgbClr val="FF914D"/>
              </a:buClr>
              <a:buSzPct val="70000"/>
              <a:buFont typeface="Arial"/>
              <a:buChar char="■"/>
            </a:pPr>
            <a:r>
              <a:rPr sz="1600" b="0" i="0">
                <a:solidFill>
                  <a:srgbClr val="1A1A1A"/>
                </a:solidFill>
                <a:latin typeface="Segoe UI"/>
                <a:ea typeface="Segoe UI"/>
                <a:cs typeface="Segoe UI"/>
              </a:rPr>
              <a:t>15 ML-DSA-65 verifications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 i="0">
                <a:solidFill>
                  <a:srgbClr val="5C5C5C"/>
                </a:solidFill>
                <a:latin typeface="Segoe UI"/>
                <a:ea typeface="Segoe UI"/>
                <a:cs typeface="Segoe UI"/>
              </a:rPr>
              <a:t>Algorithm-level evidence, not a certification.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22960" y="9747504"/>
            <a:ext cx="822960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 i="0">
                <a:solidFill>
                  <a:srgbClr val="000000"/>
                </a:solidFill>
                <a:latin typeface="Segoe UI Semibold"/>
                <a:ea typeface="Segoe UI Semibold"/>
                <a:cs typeface="Segoe UI Semibold"/>
              </a:rPr>
              <a:t>Q-SHIELD</a:t>
            </a:r>
            <a:r>
              <a:rPr sz="1500" b="0" i="0">
                <a:solidFill>
                  <a:srgbClr val="000000"/>
                </a:solidFill>
                <a:latin typeface="Segoe UI"/>
                <a:ea typeface="Segoe UI"/>
                <a:cs typeface="Segoe UI"/>
              </a:rPr>
              <a:t>   continuous device trust with post-quantum-signed evidence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13350240" y="9747504"/>
            <a:ext cx="228600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500" b="0" i="0">
                <a:solidFill>
                  <a:srgbClr val="000000"/>
                </a:solidFill>
                <a:latin typeface="Segoe UI"/>
                <a:ea typeface="Segoe UI"/>
                <a:cs typeface="Segoe UI"/>
              </a:rPr>
              <a:t>9 / 24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name="Freeform 2" id="2"/>
          <p:cNvSpPr/>
          <p:nvPr/>
        </p:nvSpPr>
        <p:spPr>
          <a:xfrm flipH="false" flipV="false" rot="0">
            <a:off x="-350872" y="9407052"/>
            <a:ext cx="14979358" cy="908523"/>
          </a:xfrm>
          <a:custGeom>
            <a:avLst/>
            <a:gdLst/>
            <a:ahLst/>
            <a:cxnLst/>
            <a:rect r="r" b="b" t="t" l="l"/>
            <a:pathLst>
              <a:path h="908523" w="14979358">
                <a:moveTo>
                  <a:pt x="0" y="0"/>
                </a:moveTo>
                <a:lnTo>
                  <a:pt x="14979357" y="0"/>
                </a:lnTo>
                <a:lnTo>
                  <a:pt x="14979357" y="908523"/>
                </a:lnTo>
                <a:lnTo>
                  <a:pt x="0" y="90852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2273265" y="1130884"/>
            <a:ext cx="6870735" cy="543077"/>
            <a:chOff x="0" y="0"/>
            <a:chExt cx="9160980" cy="72410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9161018" cy="724154"/>
            </a:xfrm>
            <a:custGeom>
              <a:avLst/>
              <a:gdLst/>
              <a:ahLst/>
              <a:cxnLst/>
              <a:rect r="r" b="b" t="t" l="l"/>
              <a:pathLst>
                <a:path h="724154" w="9161018">
                  <a:moveTo>
                    <a:pt x="0" y="0"/>
                  </a:moveTo>
                  <a:lnTo>
                    <a:pt x="9161018" y="0"/>
                  </a:lnTo>
                  <a:lnTo>
                    <a:pt x="9161018" y="724154"/>
                  </a:lnTo>
                  <a:lnTo>
                    <a:pt x="0" y="72415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914D"/>
            </a:solidFill>
          </p:spPr>
        </p:sp>
      </p:grpSp>
      <p:grpSp>
        <p:nvGrpSpPr>
          <p:cNvPr name="Group 5" id="5"/>
          <p:cNvGrpSpPr/>
          <p:nvPr/>
        </p:nvGrpSpPr>
        <p:grpSpPr>
          <a:xfrm rot="-10800000">
            <a:off x="9124950" y="1130884"/>
            <a:ext cx="6870735" cy="543077"/>
            <a:chOff x="0" y="0"/>
            <a:chExt cx="9160980" cy="724103"/>
          </a:xfrm>
        </p:grpSpPr>
        <p:sp>
          <p:nvSpPr>
            <p:cNvPr name="Freeform 6" id="6"/>
            <p:cNvSpPr/>
            <p:nvPr/>
          </p:nvSpPr>
          <p:spPr>
            <a:xfrm flipH="false" flipV="true" rot="0">
              <a:off x="0" y="0"/>
              <a:ext cx="9161018" cy="724154"/>
            </a:xfrm>
            <a:custGeom>
              <a:avLst/>
              <a:gdLst/>
              <a:ahLst/>
              <a:cxnLst/>
              <a:rect r="r" b="b" t="t" l="l"/>
              <a:pathLst>
                <a:path h="724154" w="9161018">
                  <a:moveTo>
                    <a:pt x="0" y="724154"/>
                  </a:moveTo>
                  <a:lnTo>
                    <a:pt x="9161018" y="724154"/>
                  </a:lnTo>
                  <a:lnTo>
                    <a:pt x="9161018" y="0"/>
                  </a:lnTo>
                  <a:lnTo>
                    <a:pt x="0" y="0"/>
                  </a:lnTo>
                  <a:lnTo>
                    <a:pt x="0" y="724154"/>
                  </a:lnTo>
                  <a:close/>
                </a:path>
              </a:pathLst>
            </a:custGeom>
            <a:solidFill>
              <a:srgbClr val="FF914D"/>
            </a:solidFill>
          </p:spPr>
        </p:sp>
      </p:grpSp>
      <p:grpSp>
        <p:nvGrpSpPr>
          <p:cNvPr name="Group 7" id="7"/>
          <p:cNvGrpSpPr/>
          <p:nvPr/>
        </p:nvGrpSpPr>
        <p:grpSpPr>
          <a:xfrm rot="-10800000">
            <a:off x="-32871" y="1130884"/>
            <a:ext cx="3068079" cy="503739"/>
            <a:chOff x="0" y="0"/>
            <a:chExt cx="4090772" cy="671652"/>
          </a:xfrm>
        </p:grpSpPr>
        <p:sp>
          <p:nvSpPr>
            <p:cNvPr name="Freeform 8" id="8"/>
            <p:cNvSpPr/>
            <p:nvPr/>
          </p:nvSpPr>
          <p:spPr>
            <a:xfrm flipH="false" flipV="true" rot="0">
              <a:off x="0" y="0"/>
              <a:ext cx="4090797" cy="671703"/>
            </a:xfrm>
            <a:custGeom>
              <a:avLst/>
              <a:gdLst/>
              <a:ahLst/>
              <a:cxnLst/>
              <a:rect r="r" b="b" t="t" l="l"/>
              <a:pathLst>
                <a:path h="671703" w="4090797">
                  <a:moveTo>
                    <a:pt x="0" y="671703"/>
                  </a:moveTo>
                  <a:lnTo>
                    <a:pt x="4090797" y="671703"/>
                  </a:lnTo>
                  <a:lnTo>
                    <a:pt x="4090797" y="0"/>
                  </a:lnTo>
                  <a:lnTo>
                    <a:pt x="0" y="0"/>
                  </a:lnTo>
                  <a:lnTo>
                    <a:pt x="0" y="671703"/>
                  </a:lnTo>
                  <a:close/>
                </a:path>
              </a:pathLst>
            </a:custGeom>
            <a:solidFill>
              <a:srgbClr val="FF914D"/>
            </a:solidFill>
          </p:spPr>
        </p:sp>
      </p:grpSp>
      <p:sp>
        <p:nvSpPr>
          <p:cNvPr name="Freeform 9" id="9"/>
          <p:cNvSpPr/>
          <p:nvPr/>
        </p:nvSpPr>
        <p:spPr>
          <a:xfrm flipH="false" flipV="false" rot="-5400000">
            <a:off x="12120564" y="5052657"/>
            <a:ext cx="10084834" cy="2269088"/>
          </a:xfrm>
          <a:custGeom>
            <a:avLst/>
            <a:gdLst/>
            <a:ahLst/>
            <a:cxnLst/>
            <a:rect r="r" b="b" t="t" l="l"/>
            <a:pathLst>
              <a:path h="2269088" w="10084834">
                <a:moveTo>
                  <a:pt x="0" y="0"/>
                </a:moveTo>
                <a:lnTo>
                  <a:pt x="10084834" y="0"/>
                </a:lnTo>
                <a:lnTo>
                  <a:pt x="10084834" y="2269088"/>
                </a:lnTo>
                <a:lnTo>
                  <a:pt x="0" y="226908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-10800000">
            <a:off x="15248496" y="1130884"/>
            <a:ext cx="3068079" cy="503739"/>
            <a:chOff x="0" y="0"/>
            <a:chExt cx="4090772" cy="671652"/>
          </a:xfrm>
        </p:grpSpPr>
        <p:sp>
          <p:nvSpPr>
            <p:cNvPr name="Freeform 11" id="11"/>
            <p:cNvSpPr/>
            <p:nvPr/>
          </p:nvSpPr>
          <p:spPr>
            <a:xfrm flipH="false" flipV="true" rot="0">
              <a:off x="0" y="0"/>
              <a:ext cx="4090797" cy="671703"/>
            </a:xfrm>
            <a:custGeom>
              <a:avLst/>
              <a:gdLst/>
              <a:ahLst/>
              <a:cxnLst/>
              <a:rect r="r" b="b" t="t" l="l"/>
              <a:pathLst>
                <a:path h="671703" w="4090797">
                  <a:moveTo>
                    <a:pt x="0" y="671703"/>
                  </a:moveTo>
                  <a:lnTo>
                    <a:pt x="4090797" y="671703"/>
                  </a:lnTo>
                  <a:lnTo>
                    <a:pt x="4090797" y="0"/>
                  </a:lnTo>
                  <a:lnTo>
                    <a:pt x="0" y="0"/>
                  </a:lnTo>
                  <a:lnTo>
                    <a:pt x="0" y="671703"/>
                  </a:lnTo>
                  <a:close/>
                </a:path>
              </a:pathLst>
            </a:custGeom>
            <a:solidFill>
              <a:srgbClr val="FF914D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5688825" y="96222"/>
            <a:ext cx="2423739" cy="924096"/>
            <a:chOff x="0" y="0"/>
            <a:chExt cx="2307438" cy="879754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307463" cy="879729"/>
            </a:xfrm>
            <a:custGeom>
              <a:avLst/>
              <a:gdLst/>
              <a:ahLst/>
              <a:cxnLst/>
              <a:rect r="r" b="b" t="t" l="l"/>
              <a:pathLst>
                <a:path h="879729" w="2307463">
                  <a:moveTo>
                    <a:pt x="0" y="0"/>
                  </a:moveTo>
                  <a:lnTo>
                    <a:pt x="2307463" y="0"/>
                  </a:lnTo>
                  <a:lnTo>
                    <a:pt x="2307463" y="879729"/>
                  </a:lnTo>
                  <a:lnTo>
                    <a:pt x="0" y="8797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-76294" r="1" b="-85995"/>
              </a:stretch>
            </a:blipFill>
          </p:spPr>
        </p:sp>
      </p:grpSp>
      <p:sp>
        <p:nvSpPr>
          <p:cNvPr name="Freeform 14" id="14"/>
          <p:cNvSpPr/>
          <p:nvPr/>
        </p:nvSpPr>
        <p:spPr>
          <a:xfrm flipH="false" flipV="false" rot="0">
            <a:off x="9857003" y="9407052"/>
            <a:ext cx="14979358" cy="908523"/>
          </a:xfrm>
          <a:custGeom>
            <a:avLst/>
            <a:gdLst/>
            <a:ahLst/>
            <a:cxnLst/>
            <a:rect r="r" b="b" t="t" l="l"/>
            <a:pathLst>
              <a:path h="908523" w="14979358">
                <a:moveTo>
                  <a:pt x="0" y="0"/>
                </a:moveTo>
                <a:lnTo>
                  <a:pt x="14979358" y="0"/>
                </a:lnTo>
                <a:lnTo>
                  <a:pt x="14979358" y="908523"/>
                </a:lnTo>
                <a:lnTo>
                  <a:pt x="0" y="90852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252268" y="89049"/>
            <a:ext cx="2497801" cy="1034663"/>
          </a:xfrm>
          <a:custGeom>
            <a:avLst/>
            <a:gdLst/>
            <a:ahLst/>
            <a:cxnLst/>
            <a:rect r="r" b="b" t="t" l="l"/>
            <a:pathLst>
              <a:path h="1034663" w="2497801">
                <a:moveTo>
                  <a:pt x="0" y="0"/>
                </a:moveTo>
                <a:lnTo>
                  <a:pt x="2497801" y="0"/>
                </a:lnTo>
                <a:lnTo>
                  <a:pt x="2497801" y="1034663"/>
                </a:lnTo>
                <a:lnTo>
                  <a:pt x="0" y="103466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5988" t="-27243" r="-4375" b="-52819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6236411" y="74654"/>
            <a:ext cx="5815177" cy="987762"/>
          </a:xfrm>
          <a:custGeom>
            <a:avLst/>
            <a:gdLst/>
            <a:ahLst/>
            <a:cxnLst/>
            <a:rect r="r" b="b" t="t" l="l"/>
            <a:pathLst>
              <a:path h="987762" w="5815177">
                <a:moveTo>
                  <a:pt x="0" y="0"/>
                </a:moveTo>
                <a:lnTo>
                  <a:pt x="5815178" y="0"/>
                </a:lnTo>
                <a:lnTo>
                  <a:pt x="5815178" y="987762"/>
                </a:lnTo>
                <a:lnTo>
                  <a:pt x="0" y="987762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-11062" t="-153011" r="-9149" b="-154810"/>
            </a:stretch>
          </a:blipFill>
        </p:spPr>
      </p:sp>
      <p:sp>
        <p:nvSpPr>
          <p:cNvPr id="20" name="TextBox 19"/>
          <p:cNvSpPr txBox="1"/>
          <p:nvPr/>
        </p:nvSpPr>
        <p:spPr>
          <a:xfrm>
            <a:off x="822960" y="1810512"/>
            <a:ext cx="10972800" cy="3291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 i="0">
                <a:solidFill>
                  <a:srgbClr val="C2410C"/>
                </a:solidFill>
                <a:latin typeface="Segoe UI Semibold"/>
                <a:ea typeface="Segoe UI Semibold"/>
                <a:cs typeface="Segoe UI Semibold"/>
              </a:rPr>
              <a:t>4. Technical Design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2084832"/>
            <a:ext cx="14813280" cy="7315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4000" b="0" i="0">
                <a:solidFill>
                  <a:srgbClr val="000000"/>
                </a:solidFill>
                <a:latin typeface="Bahnschrift SemiBold"/>
                <a:ea typeface="Bahnschrift SemiBold"/>
                <a:cs typeface="Bahnschrift SemiBold"/>
              </a:rPr>
              <a:t>ML-KEM-768 handshake flow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2761488"/>
            <a:ext cx="1481328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100" b="0" i="0">
                <a:solidFill>
                  <a:srgbClr val="5C5C5C"/>
                </a:solidFill>
                <a:latin typeface="Segoe UI"/>
                <a:ea typeface="Segoe UI"/>
                <a:cs typeface="Segoe UI"/>
              </a:rPr>
              <a:t>Vision service and gateway agree on session keys; the init is ML-DSA-65 signed</a:t>
            </a:r>
          </a:p>
        </p:txBody>
      </p:sp>
      <p:sp>
        <p:nvSpPr>
          <p:cNvPr id="23" name="Oval 22"/>
          <p:cNvSpPr/>
          <p:nvPr/>
        </p:nvSpPr>
        <p:spPr>
          <a:xfrm>
            <a:off x="822960" y="3246120"/>
            <a:ext cx="128016" cy="128016"/>
          </a:xfrm>
          <a:prstGeom prst="ellipse">
            <a:avLst/>
          </a:prstGeom>
          <a:solidFill>
            <a:srgbClr val="FFFFFF"/>
          </a:solidFill>
          <a:ln w="22225">
            <a:solidFill>
              <a:srgbClr val="FF91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4" name="Connector 23"/>
          <p:cNvCxnSpPr/>
          <p:nvPr/>
        </p:nvCxnSpPr>
        <p:spPr>
          <a:xfrm>
            <a:off x="950976" y="3310128"/>
            <a:ext cx="1335024" cy="0"/>
          </a:xfrm>
          <a:prstGeom prst="line">
            <a:avLst/>
          </a:prstGeom>
          <a:ln w="22225">
            <a:solidFill>
              <a:srgbClr val="FF91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822960" y="3383280"/>
            <a:ext cx="4800600" cy="411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900" b="0" i="0">
                <a:solidFill>
                  <a:srgbClr val="1A1A1A"/>
                </a:solidFill>
                <a:latin typeface="Segoe UI Semibold"/>
                <a:ea typeface="Segoe UI Semibold"/>
                <a:cs typeface="Segoe UI Semibold"/>
              </a:rPr>
              <a:t>Vision service (client)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835640" y="3383280"/>
            <a:ext cx="4800600" cy="411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900" b="0" i="0">
                <a:solidFill>
                  <a:srgbClr val="1A1A1A"/>
                </a:solidFill>
                <a:latin typeface="Segoe UI Semibold"/>
                <a:ea typeface="Segoe UI Semibold"/>
                <a:cs typeface="Segoe UI Semibold"/>
              </a:rPr>
              <a:t>Gateway (server)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3223260" y="3794760"/>
            <a:ext cx="0" cy="3931920"/>
          </a:xfrm>
          <a:prstGeom prst="line">
            <a:avLst/>
          </a:prstGeom>
          <a:ln w="12700">
            <a:solidFill>
              <a:srgbClr val="BDBDBD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13235940" y="3794760"/>
            <a:ext cx="0" cy="3794760"/>
          </a:xfrm>
          <a:prstGeom prst="line">
            <a:avLst/>
          </a:prstGeom>
          <a:ln w="12700">
            <a:solidFill>
              <a:srgbClr val="BDBDBD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10835640" y="3840480"/>
            <a:ext cx="4800600" cy="71323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>
            <a:noAutofit/>
          </a:bodyPr>
          <a:lstStyle/>
          <a:p>
            <a:pPr algn="ctr">
              <a:lnSpc>
                <a:spcPct val="100000"/>
              </a:lnSpc>
            </a:pPr>
            <a:r>
              <a:rPr sz="1800" b="0" i="0">
                <a:solidFill>
                  <a:srgbClr val="1A1A1A"/>
                </a:solidFill>
                <a:latin typeface="Segoe UI Semibold"/>
                <a:ea typeface="Segoe UI Semibold"/>
                <a:cs typeface="Segoe UI Semibold"/>
              </a:rPr>
              <a:t>1  Key generation</a:t>
            </a:r>
          </a:p>
          <a:p>
            <a:pPr algn="ctr">
              <a:lnSpc>
                <a:spcPct val="100000"/>
              </a:lnSpc>
            </a:pPr>
            <a:r>
              <a:rPr sz="1500" b="0" i="0">
                <a:solidFill>
                  <a:srgbClr val="5C5C5C"/>
                </a:solidFill>
                <a:latin typeface="Consolas"/>
                <a:ea typeface="Consolas"/>
                <a:cs typeface="Consolas"/>
              </a:rPr>
              <a:t>ML-KEM-768, provisioned once</a:t>
            </a:r>
          </a:p>
        </p:txBody>
      </p:sp>
      <p:cxnSp>
        <p:nvCxnSpPr>
          <p:cNvPr id="30" name="Connector 29"/>
          <p:cNvCxnSpPr/>
          <p:nvPr/>
        </p:nvCxnSpPr>
        <p:spPr>
          <a:xfrm flipH="1">
            <a:off x="5669280" y="4206240"/>
            <a:ext cx="5120640" cy="0"/>
          </a:xfrm>
          <a:prstGeom prst="line">
            <a:avLst/>
          </a:prstGeom>
          <a:ln w="15875">
            <a:solidFill>
              <a:srgbClr val="5C5C5C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5852160" y="384048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500" b="0" i="0">
                <a:solidFill>
                  <a:srgbClr val="5C5C5C"/>
                </a:solidFill>
                <a:latin typeface="Consolas"/>
                <a:ea typeface="Consolas"/>
                <a:cs typeface="Consolas"/>
              </a:rPr>
              <a:t>pinned public key, 1184 B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22960" y="4663440"/>
            <a:ext cx="4800600" cy="71323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>
            <a:noAutofit/>
          </a:bodyPr>
          <a:lstStyle/>
          <a:p>
            <a:pPr algn="ctr">
              <a:lnSpc>
                <a:spcPct val="100000"/>
              </a:lnSpc>
            </a:pPr>
            <a:r>
              <a:rPr sz="1800" b="0" i="0">
                <a:solidFill>
                  <a:srgbClr val="1A1A1A"/>
                </a:solidFill>
                <a:latin typeface="Segoe UI Semibold"/>
                <a:ea typeface="Segoe UI Semibold"/>
                <a:cs typeface="Segoe UI Semibold"/>
              </a:rPr>
              <a:t>2  Encapsulation</a:t>
            </a:r>
          </a:p>
          <a:p>
            <a:pPr algn="ctr">
              <a:lnSpc>
                <a:spcPct val="100000"/>
              </a:lnSpc>
            </a:pPr>
            <a:r>
              <a:rPr sz="1500" b="0" i="0">
                <a:solidFill>
                  <a:srgbClr val="5C5C5C"/>
                </a:solidFill>
                <a:latin typeface="Consolas"/>
                <a:ea typeface="Consolas"/>
                <a:cs typeface="Consolas"/>
              </a:rPr>
              <a:t>→ shared secret + ciphertext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5669280" y="5440680"/>
            <a:ext cx="5120640" cy="0"/>
          </a:xfrm>
          <a:prstGeom prst="line">
            <a:avLst/>
          </a:prstGeom>
          <a:ln w="22225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5852160" y="4983480"/>
            <a:ext cx="4754880" cy="411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500" b="0" i="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ciphertext 1088 B + nonce + time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852160" y="548640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500" b="0" i="0">
                <a:solidFill>
                  <a:srgbClr val="C2410C"/>
                </a:solidFill>
                <a:latin typeface="Segoe UI Semibold"/>
                <a:ea typeface="Segoe UI Semibold"/>
                <a:cs typeface="Segoe UI Semibold"/>
              </a:rPr>
              <a:t>signed with ML-DSA-65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0835640" y="5532120"/>
            <a:ext cx="4800600" cy="71323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>
            <a:noAutofit/>
          </a:bodyPr>
          <a:lstStyle/>
          <a:p>
            <a:pPr algn="ctr">
              <a:lnSpc>
                <a:spcPct val="100000"/>
              </a:lnSpc>
            </a:pPr>
            <a:r>
              <a:rPr sz="1800" b="0" i="0">
                <a:solidFill>
                  <a:srgbClr val="1A1A1A"/>
                </a:solidFill>
                <a:latin typeface="Segoe UI Semibold"/>
                <a:ea typeface="Segoe UI Semibold"/>
                <a:cs typeface="Segoe UI Semibold"/>
              </a:rPr>
              <a:t>3  Verify + decapsulation</a:t>
            </a:r>
          </a:p>
          <a:p>
            <a:pPr algn="ctr">
              <a:lnSpc>
                <a:spcPct val="100000"/>
              </a:lnSpc>
            </a:pPr>
            <a:r>
              <a:rPr sz="1500" b="0" i="0">
                <a:solidFill>
                  <a:srgbClr val="5C5C5C"/>
                </a:solidFill>
                <a:latin typeface="Consolas"/>
                <a:ea typeface="Consolas"/>
                <a:cs typeface="Consolas"/>
              </a:rPr>
              <a:t>→ shared secret, 32 B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22960" y="6446520"/>
            <a:ext cx="14813280" cy="713232"/>
          </a:xfrm>
          <a:prstGeom prst="roundRect">
            <a:avLst>
              <a:gd name="adj" fmla="val 12000"/>
            </a:avLst>
          </a:prstGeom>
          <a:solidFill>
            <a:srgbClr val="FFE9DB"/>
          </a:solidFill>
          <a:ln w="19050">
            <a:solidFill>
              <a:srgbClr val="FF91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>
            <a:noAutofit/>
          </a:bodyPr>
          <a:lstStyle/>
          <a:p>
            <a:pPr algn="ctr">
              <a:lnSpc>
                <a:spcPct val="100000"/>
              </a:lnSpc>
            </a:pPr>
            <a:r>
              <a:rPr sz="1800" b="0" i="0">
                <a:solidFill>
                  <a:srgbClr val="1A1A1A"/>
                </a:solidFill>
                <a:latin typeface="Segoe UI Semibold"/>
                <a:ea typeface="Segoe UI Semibold"/>
                <a:cs typeface="Segoe UI Semibold"/>
              </a:rPr>
              <a:t>4  HKDF-SHA256, on both sides</a:t>
            </a:r>
          </a:p>
          <a:p>
            <a:pPr algn="ctr">
              <a:lnSpc>
                <a:spcPct val="100000"/>
              </a:lnSpc>
            </a:pPr>
            <a:r>
              <a:rPr sz="1500" b="0" i="0">
                <a:solidFill>
                  <a:srgbClr val="5C5C5C"/>
                </a:solidFill>
                <a:latin typeface="Consolas"/>
                <a:ea typeface="Consolas"/>
                <a:cs typeface="Consolas"/>
              </a:rPr>
              <a:t>salt = both nonces, info = transcript  →  client→server, server→client, confirmation keys</a:t>
            </a:r>
          </a:p>
        </p:txBody>
      </p:sp>
      <p:cxnSp>
        <p:nvCxnSpPr>
          <p:cNvPr id="38" name="Connector 37"/>
          <p:cNvCxnSpPr/>
          <p:nvPr/>
        </p:nvCxnSpPr>
        <p:spPr>
          <a:xfrm flipH="1">
            <a:off x="5669280" y="7543800"/>
            <a:ext cx="5120640" cy="0"/>
          </a:xfrm>
          <a:prstGeom prst="line">
            <a:avLst/>
          </a:prstGeom>
          <a:ln w="22225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5669280" y="717804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500" b="0" i="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session id + server nonce + confirmation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22960" y="7772400"/>
            <a:ext cx="4800600" cy="685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>
            <a:noAutofit/>
          </a:bodyPr>
          <a:lstStyle/>
          <a:p>
            <a:pPr algn="ctr">
              <a:lnSpc>
                <a:spcPct val="100000"/>
              </a:lnSpc>
            </a:pPr>
            <a:r>
              <a:rPr sz="1800" b="0" i="0">
                <a:solidFill>
                  <a:srgbClr val="1A1A1A"/>
                </a:solidFill>
                <a:latin typeface="Segoe UI Semibold"/>
                <a:ea typeface="Segoe UI Semibold"/>
                <a:cs typeface="Segoe UI Semibold"/>
              </a:rPr>
              <a:t>5  Confirm</a:t>
            </a:r>
          </a:p>
          <a:p>
            <a:pPr algn="ctr">
              <a:lnSpc>
                <a:spcPct val="100000"/>
              </a:lnSpc>
            </a:pPr>
            <a:r>
              <a:rPr sz="1500" b="0" i="0">
                <a:solidFill>
                  <a:srgbClr val="5C5C5C"/>
                </a:solidFill>
                <a:latin typeface="Segoe UI"/>
                <a:ea typeface="Segoe UI"/>
                <a:cs typeface="Segoe UI"/>
              </a:rPr>
              <a:t>wrong key → nothing sent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760720" y="7863840"/>
            <a:ext cx="4937760" cy="548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0" i="0">
                <a:solidFill>
                  <a:srgbClr val="5C5C5C"/>
                </a:solidFill>
                <a:latin typeface="Segoe UI"/>
                <a:ea typeface="Segoe UI"/>
                <a:cs typeface="Segoe UI"/>
              </a:rPr>
              <a:t>standard primitives composed by us: not TLS, not externally reviewed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22960" y="8549640"/>
            <a:ext cx="14813280" cy="566928"/>
          </a:xfrm>
          <a:prstGeom prst="roundRect">
            <a:avLst>
              <a:gd name="adj" fmla="val 12000"/>
            </a:avLst>
          </a:prstGeom>
          <a:solidFill>
            <a:srgbClr val="FF914D"/>
          </a:solidFill>
          <a:ln w="19050">
            <a:solidFill>
              <a:srgbClr val="FF91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>
            <a:noAutofit/>
          </a:bodyPr>
          <a:lstStyle/>
          <a:p>
            <a:pPr algn="ctr">
              <a:lnSpc>
                <a:spcPct val="100000"/>
              </a:lnSpc>
            </a:pPr>
            <a:r>
              <a:rPr sz="1700" b="0" i="0">
                <a:solidFill>
                  <a:srgbClr val="000000"/>
                </a:solidFill>
                <a:latin typeface="Segoe UI Semibold"/>
                <a:ea typeface="Segoe UI Semibold"/>
                <a:cs typeface="Segoe UI Semibold"/>
              </a:rPr>
              <a:t>6  AES-256-GCM session   per-direction keys, 64-bit counters, AAD = session ‖ direction ‖ counter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835640" y="7699248"/>
            <a:ext cx="4800600" cy="7772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500" b="0" i="0">
                <a:solidFill>
                  <a:srgbClr val="5C5C5C"/>
                </a:solidFill>
                <a:latin typeface="Segoe UI"/>
                <a:ea typeface="Segoe UI"/>
                <a:cs typeface="Segoe UI"/>
              </a:rPr>
              <a:t>median, laptop: </a:t>
            </a:r>
            <a:r>
              <a:rPr sz="1500" b="0" i="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encaps 0.069 ms, decaps 0.091 ms</a:t>
            </a:r>
          </a:p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500" b="0" i="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full handshake 10.0 ms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22960" y="9747504"/>
            <a:ext cx="822960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 i="0">
                <a:solidFill>
                  <a:srgbClr val="000000"/>
                </a:solidFill>
                <a:latin typeface="Segoe UI Semibold"/>
                <a:ea typeface="Segoe UI Semibold"/>
                <a:cs typeface="Segoe UI Semibold"/>
              </a:rPr>
              <a:t>Q-SHIELD</a:t>
            </a:r>
            <a:r>
              <a:rPr sz="1500" b="0" i="0">
                <a:solidFill>
                  <a:srgbClr val="000000"/>
                </a:solidFill>
                <a:latin typeface="Segoe UI"/>
                <a:ea typeface="Segoe UI"/>
                <a:cs typeface="Segoe UI"/>
              </a:rPr>
              <a:t>   continuous device trust with post-quantum-signed evidence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3350240" y="9747504"/>
            <a:ext cx="228600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500" b="0" i="0">
                <a:solidFill>
                  <a:srgbClr val="000000"/>
                </a:solidFill>
                <a:latin typeface="Segoe UI"/>
                <a:ea typeface="Segoe UI"/>
                <a:cs typeface="Segoe UI"/>
              </a:rPr>
              <a:t>10 / 24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name="Freeform 2" id="2"/>
          <p:cNvSpPr/>
          <p:nvPr/>
        </p:nvSpPr>
        <p:spPr>
          <a:xfrm flipH="false" flipV="false" rot="0">
            <a:off x="-350872" y="9407052"/>
            <a:ext cx="14979358" cy="908523"/>
          </a:xfrm>
          <a:custGeom>
            <a:avLst/>
            <a:gdLst/>
            <a:ahLst/>
            <a:cxnLst/>
            <a:rect r="r" b="b" t="t" l="l"/>
            <a:pathLst>
              <a:path h="908523" w="14979358">
                <a:moveTo>
                  <a:pt x="0" y="0"/>
                </a:moveTo>
                <a:lnTo>
                  <a:pt x="14979357" y="0"/>
                </a:lnTo>
                <a:lnTo>
                  <a:pt x="14979357" y="908523"/>
                </a:lnTo>
                <a:lnTo>
                  <a:pt x="0" y="90852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2273265" y="1130884"/>
            <a:ext cx="6870735" cy="543077"/>
            <a:chOff x="0" y="0"/>
            <a:chExt cx="9160980" cy="72410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9161018" cy="724154"/>
            </a:xfrm>
            <a:custGeom>
              <a:avLst/>
              <a:gdLst/>
              <a:ahLst/>
              <a:cxnLst/>
              <a:rect r="r" b="b" t="t" l="l"/>
              <a:pathLst>
                <a:path h="724154" w="9161018">
                  <a:moveTo>
                    <a:pt x="0" y="0"/>
                  </a:moveTo>
                  <a:lnTo>
                    <a:pt x="9161018" y="0"/>
                  </a:lnTo>
                  <a:lnTo>
                    <a:pt x="9161018" y="724154"/>
                  </a:lnTo>
                  <a:lnTo>
                    <a:pt x="0" y="72415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914D"/>
            </a:solidFill>
          </p:spPr>
        </p:sp>
      </p:grpSp>
      <p:grpSp>
        <p:nvGrpSpPr>
          <p:cNvPr name="Group 5" id="5"/>
          <p:cNvGrpSpPr/>
          <p:nvPr/>
        </p:nvGrpSpPr>
        <p:grpSpPr>
          <a:xfrm rot="-10800000">
            <a:off x="9124950" y="1130884"/>
            <a:ext cx="6870735" cy="543077"/>
            <a:chOff x="0" y="0"/>
            <a:chExt cx="9160980" cy="724103"/>
          </a:xfrm>
        </p:grpSpPr>
        <p:sp>
          <p:nvSpPr>
            <p:cNvPr name="Freeform 6" id="6"/>
            <p:cNvSpPr/>
            <p:nvPr/>
          </p:nvSpPr>
          <p:spPr>
            <a:xfrm flipH="false" flipV="true" rot="0">
              <a:off x="0" y="0"/>
              <a:ext cx="9161018" cy="724154"/>
            </a:xfrm>
            <a:custGeom>
              <a:avLst/>
              <a:gdLst/>
              <a:ahLst/>
              <a:cxnLst/>
              <a:rect r="r" b="b" t="t" l="l"/>
              <a:pathLst>
                <a:path h="724154" w="9161018">
                  <a:moveTo>
                    <a:pt x="0" y="724154"/>
                  </a:moveTo>
                  <a:lnTo>
                    <a:pt x="9161018" y="724154"/>
                  </a:lnTo>
                  <a:lnTo>
                    <a:pt x="9161018" y="0"/>
                  </a:lnTo>
                  <a:lnTo>
                    <a:pt x="0" y="0"/>
                  </a:lnTo>
                  <a:lnTo>
                    <a:pt x="0" y="724154"/>
                  </a:lnTo>
                  <a:close/>
                </a:path>
              </a:pathLst>
            </a:custGeom>
            <a:solidFill>
              <a:srgbClr val="FF914D"/>
            </a:solidFill>
          </p:spPr>
        </p:sp>
      </p:grpSp>
      <p:grpSp>
        <p:nvGrpSpPr>
          <p:cNvPr name="Group 7" id="7"/>
          <p:cNvGrpSpPr/>
          <p:nvPr/>
        </p:nvGrpSpPr>
        <p:grpSpPr>
          <a:xfrm rot="-10800000">
            <a:off x="-32871" y="1130884"/>
            <a:ext cx="3068079" cy="503739"/>
            <a:chOff x="0" y="0"/>
            <a:chExt cx="4090772" cy="671652"/>
          </a:xfrm>
        </p:grpSpPr>
        <p:sp>
          <p:nvSpPr>
            <p:cNvPr name="Freeform 8" id="8"/>
            <p:cNvSpPr/>
            <p:nvPr/>
          </p:nvSpPr>
          <p:spPr>
            <a:xfrm flipH="false" flipV="true" rot="0">
              <a:off x="0" y="0"/>
              <a:ext cx="4090797" cy="671703"/>
            </a:xfrm>
            <a:custGeom>
              <a:avLst/>
              <a:gdLst/>
              <a:ahLst/>
              <a:cxnLst/>
              <a:rect r="r" b="b" t="t" l="l"/>
              <a:pathLst>
                <a:path h="671703" w="4090797">
                  <a:moveTo>
                    <a:pt x="0" y="671703"/>
                  </a:moveTo>
                  <a:lnTo>
                    <a:pt x="4090797" y="671703"/>
                  </a:lnTo>
                  <a:lnTo>
                    <a:pt x="4090797" y="0"/>
                  </a:lnTo>
                  <a:lnTo>
                    <a:pt x="0" y="0"/>
                  </a:lnTo>
                  <a:lnTo>
                    <a:pt x="0" y="671703"/>
                  </a:lnTo>
                  <a:close/>
                </a:path>
              </a:pathLst>
            </a:custGeom>
            <a:solidFill>
              <a:srgbClr val="FF914D"/>
            </a:solidFill>
          </p:spPr>
        </p:sp>
      </p:grpSp>
      <p:sp>
        <p:nvSpPr>
          <p:cNvPr name="Freeform 9" id="9"/>
          <p:cNvSpPr/>
          <p:nvPr/>
        </p:nvSpPr>
        <p:spPr>
          <a:xfrm flipH="false" flipV="false" rot="-5400000">
            <a:off x="12120564" y="5052657"/>
            <a:ext cx="10084834" cy="2269088"/>
          </a:xfrm>
          <a:custGeom>
            <a:avLst/>
            <a:gdLst/>
            <a:ahLst/>
            <a:cxnLst/>
            <a:rect r="r" b="b" t="t" l="l"/>
            <a:pathLst>
              <a:path h="2269088" w="10084834">
                <a:moveTo>
                  <a:pt x="0" y="0"/>
                </a:moveTo>
                <a:lnTo>
                  <a:pt x="10084834" y="0"/>
                </a:lnTo>
                <a:lnTo>
                  <a:pt x="10084834" y="2269088"/>
                </a:lnTo>
                <a:lnTo>
                  <a:pt x="0" y="226908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-10800000">
            <a:off x="15248496" y="1130884"/>
            <a:ext cx="3068079" cy="503739"/>
            <a:chOff x="0" y="0"/>
            <a:chExt cx="4090772" cy="671652"/>
          </a:xfrm>
        </p:grpSpPr>
        <p:sp>
          <p:nvSpPr>
            <p:cNvPr name="Freeform 11" id="11"/>
            <p:cNvSpPr/>
            <p:nvPr/>
          </p:nvSpPr>
          <p:spPr>
            <a:xfrm flipH="false" flipV="true" rot="0">
              <a:off x="0" y="0"/>
              <a:ext cx="4090797" cy="671703"/>
            </a:xfrm>
            <a:custGeom>
              <a:avLst/>
              <a:gdLst/>
              <a:ahLst/>
              <a:cxnLst/>
              <a:rect r="r" b="b" t="t" l="l"/>
              <a:pathLst>
                <a:path h="671703" w="4090797">
                  <a:moveTo>
                    <a:pt x="0" y="671703"/>
                  </a:moveTo>
                  <a:lnTo>
                    <a:pt x="4090797" y="671703"/>
                  </a:lnTo>
                  <a:lnTo>
                    <a:pt x="4090797" y="0"/>
                  </a:lnTo>
                  <a:lnTo>
                    <a:pt x="0" y="0"/>
                  </a:lnTo>
                  <a:lnTo>
                    <a:pt x="0" y="671703"/>
                  </a:lnTo>
                  <a:close/>
                </a:path>
              </a:pathLst>
            </a:custGeom>
            <a:solidFill>
              <a:srgbClr val="FF914D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5688825" y="96222"/>
            <a:ext cx="2423739" cy="924096"/>
            <a:chOff x="0" y="0"/>
            <a:chExt cx="2307438" cy="879754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307463" cy="879729"/>
            </a:xfrm>
            <a:custGeom>
              <a:avLst/>
              <a:gdLst/>
              <a:ahLst/>
              <a:cxnLst/>
              <a:rect r="r" b="b" t="t" l="l"/>
              <a:pathLst>
                <a:path h="879729" w="2307463">
                  <a:moveTo>
                    <a:pt x="0" y="0"/>
                  </a:moveTo>
                  <a:lnTo>
                    <a:pt x="2307463" y="0"/>
                  </a:lnTo>
                  <a:lnTo>
                    <a:pt x="2307463" y="879729"/>
                  </a:lnTo>
                  <a:lnTo>
                    <a:pt x="0" y="8797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-76294" r="1" b="-85995"/>
              </a:stretch>
            </a:blipFill>
          </p:spPr>
        </p:sp>
      </p:grpSp>
      <p:sp>
        <p:nvSpPr>
          <p:cNvPr name="Freeform 14" id="14"/>
          <p:cNvSpPr/>
          <p:nvPr/>
        </p:nvSpPr>
        <p:spPr>
          <a:xfrm flipH="false" flipV="false" rot="0">
            <a:off x="9857003" y="9407052"/>
            <a:ext cx="14979358" cy="908523"/>
          </a:xfrm>
          <a:custGeom>
            <a:avLst/>
            <a:gdLst/>
            <a:ahLst/>
            <a:cxnLst/>
            <a:rect r="r" b="b" t="t" l="l"/>
            <a:pathLst>
              <a:path h="908523" w="14979358">
                <a:moveTo>
                  <a:pt x="0" y="0"/>
                </a:moveTo>
                <a:lnTo>
                  <a:pt x="14979358" y="0"/>
                </a:lnTo>
                <a:lnTo>
                  <a:pt x="14979358" y="908523"/>
                </a:lnTo>
                <a:lnTo>
                  <a:pt x="0" y="90852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252268" y="89049"/>
            <a:ext cx="2497801" cy="1034663"/>
          </a:xfrm>
          <a:custGeom>
            <a:avLst/>
            <a:gdLst/>
            <a:ahLst/>
            <a:cxnLst/>
            <a:rect r="r" b="b" t="t" l="l"/>
            <a:pathLst>
              <a:path h="1034663" w="2497801">
                <a:moveTo>
                  <a:pt x="0" y="0"/>
                </a:moveTo>
                <a:lnTo>
                  <a:pt x="2497801" y="0"/>
                </a:lnTo>
                <a:lnTo>
                  <a:pt x="2497801" y="1034663"/>
                </a:lnTo>
                <a:lnTo>
                  <a:pt x="0" y="103466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5988" t="-27243" r="-4375" b="-52819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6236411" y="74654"/>
            <a:ext cx="5815177" cy="987762"/>
          </a:xfrm>
          <a:custGeom>
            <a:avLst/>
            <a:gdLst/>
            <a:ahLst/>
            <a:cxnLst/>
            <a:rect r="r" b="b" t="t" l="l"/>
            <a:pathLst>
              <a:path h="987762" w="5815177">
                <a:moveTo>
                  <a:pt x="0" y="0"/>
                </a:moveTo>
                <a:lnTo>
                  <a:pt x="5815178" y="0"/>
                </a:lnTo>
                <a:lnTo>
                  <a:pt x="5815178" y="987762"/>
                </a:lnTo>
                <a:lnTo>
                  <a:pt x="0" y="987762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-11062" t="-153011" r="-9149" b="-154810"/>
            </a:stretch>
          </a:blipFill>
        </p:spPr>
      </p:sp>
      <p:sp>
        <p:nvSpPr>
          <p:cNvPr id="20" name="TextBox 19"/>
          <p:cNvSpPr txBox="1"/>
          <p:nvPr/>
        </p:nvSpPr>
        <p:spPr>
          <a:xfrm>
            <a:off x="822960" y="1810512"/>
            <a:ext cx="10972800" cy="3291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 i="0">
                <a:solidFill>
                  <a:srgbClr val="C2410C"/>
                </a:solidFill>
                <a:latin typeface="Segoe UI Semibold"/>
                <a:ea typeface="Segoe UI Semibold"/>
                <a:cs typeface="Segoe UI Semibold"/>
              </a:rPr>
              <a:t>4. Technical Design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2084832"/>
            <a:ext cx="14813280" cy="7315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4000" b="0" i="0">
                <a:solidFill>
                  <a:srgbClr val="000000"/>
                </a:solidFill>
                <a:latin typeface="Bahnschrift SemiBold"/>
                <a:ea typeface="Bahnschrift SemiBold"/>
                <a:cs typeface="Bahnschrift SemiBold"/>
              </a:rPr>
              <a:t>ML-DSA-65 signed observation flow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2761488"/>
            <a:ext cx="1481328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100" b="0" i="0">
                <a:solidFill>
                  <a:srgbClr val="5C5C5C"/>
                </a:solidFill>
                <a:latin typeface="Segoe UI"/>
                <a:ea typeface="Segoe UI"/>
                <a:cs typeface="Segoe UI"/>
              </a:rPr>
              <a:t>From a camera observation to an accepted or rejected record</a:t>
            </a:r>
          </a:p>
        </p:txBody>
      </p:sp>
      <p:sp>
        <p:nvSpPr>
          <p:cNvPr id="23" name="Oval 22"/>
          <p:cNvSpPr/>
          <p:nvPr/>
        </p:nvSpPr>
        <p:spPr>
          <a:xfrm>
            <a:off x="822960" y="3246120"/>
            <a:ext cx="128016" cy="128016"/>
          </a:xfrm>
          <a:prstGeom prst="ellipse">
            <a:avLst/>
          </a:prstGeom>
          <a:solidFill>
            <a:srgbClr val="FFFFFF"/>
          </a:solidFill>
          <a:ln w="22225">
            <a:solidFill>
              <a:srgbClr val="FF91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4" name="Connector 23"/>
          <p:cNvCxnSpPr/>
          <p:nvPr/>
        </p:nvCxnSpPr>
        <p:spPr>
          <a:xfrm>
            <a:off x="950976" y="3310128"/>
            <a:ext cx="1335024" cy="0"/>
          </a:xfrm>
          <a:prstGeom prst="line">
            <a:avLst/>
          </a:prstGeom>
          <a:ln w="22225">
            <a:solidFill>
              <a:srgbClr val="FF91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822960" y="3520440"/>
            <a:ext cx="2514600" cy="868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>
            <a:noAutofit/>
          </a:bodyPr>
          <a:lstStyle/>
          <a:p>
            <a:pPr algn="ctr">
              <a:lnSpc>
                <a:spcPct val="100000"/>
              </a:lnSpc>
            </a:pPr>
            <a:r>
              <a:rPr sz="1900" b="0" i="0">
                <a:solidFill>
                  <a:srgbClr val="1A1A1A"/>
                </a:solidFill>
                <a:latin typeface="Segoe UI Semibold"/>
                <a:ea typeface="Segoe UI Semibold"/>
                <a:cs typeface="Segoe UI Semibold"/>
              </a:rPr>
              <a:t>Observation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3374136" y="3954780"/>
            <a:ext cx="429768" cy="0"/>
          </a:xfrm>
          <a:prstGeom prst="line">
            <a:avLst/>
          </a:prstGeom>
          <a:ln w="22225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3840480" y="3520440"/>
            <a:ext cx="2788920" cy="868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>
            <a:noAutofit/>
          </a:bodyPr>
          <a:lstStyle/>
          <a:p>
            <a:pPr algn="ctr">
              <a:lnSpc>
                <a:spcPct val="100000"/>
              </a:lnSpc>
            </a:pPr>
            <a:r>
              <a:rPr sz="1900" b="0" i="0">
                <a:solidFill>
                  <a:srgbClr val="1A1A1A"/>
                </a:solidFill>
                <a:latin typeface="Segoe UI Semibold"/>
                <a:ea typeface="Segoe UI Semibold"/>
                <a:cs typeface="Segoe UI Semibold"/>
              </a:rPr>
              <a:t>Canonical encoding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6665976" y="3954780"/>
            <a:ext cx="429768" cy="0"/>
          </a:xfrm>
          <a:prstGeom prst="line">
            <a:avLst/>
          </a:prstGeom>
          <a:ln w="22225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7132320" y="3520440"/>
            <a:ext cx="2514600" cy="868680"/>
          </a:xfrm>
          <a:prstGeom prst="roundRect">
            <a:avLst>
              <a:gd name="adj" fmla="val 12000"/>
            </a:avLst>
          </a:prstGeom>
          <a:solidFill>
            <a:srgbClr val="FF914D"/>
          </a:solidFill>
          <a:ln w="19050">
            <a:solidFill>
              <a:srgbClr val="FF91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>
            <a:noAutofit/>
          </a:bodyPr>
          <a:lstStyle/>
          <a:p>
            <a:pPr algn="ctr">
              <a:lnSpc>
                <a:spcPct val="100000"/>
              </a:lnSpc>
            </a:pPr>
            <a:r>
              <a:rPr sz="1900" b="0" i="0">
                <a:solidFill>
                  <a:srgbClr val="1A1A1A"/>
                </a:solidFill>
                <a:latin typeface="Segoe UI Semibold"/>
                <a:ea typeface="Segoe UI Semibold"/>
                <a:cs typeface="Segoe UI Semibold"/>
              </a:rPr>
              <a:t>ML-DSA-65 sign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9683496" y="3954780"/>
            <a:ext cx="429768" cy="0"/>
          </a:xfrm>
          <a:prstGeom prst="line">
            <a:avLst/>
          </a:prstGeom>
          <a:ln w="22225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10149840" y="3520440"/>
            <a:ext cx="2240280" cy="868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>
            <a:noAutofit/>
          </a:bodyPr>
          <a:lstStyle/>
          <a:p>
            <a:pPr algn="ctr">
              <a:lnSpc>
                <a:spcPct val="100000"/>
              </a:lnSpc>
            </a:pPr>
            <a:r>
              <a:rPr sz="1900" b="0" i="0">
                <a:solidFill>
                  <a:srgbClr val="1A1A1A"/>
                </a:solidFill>
                <a:latin typeface="Segoe UI Semibold"/>
                <a:ea typeface="Segoe UI Semibold"/>
                <a:cs typeface="Segoe UI Semibold"/>
              </a:rPr>
              <a:t>Signature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12426696" y="3954780"/>
            <a:ext cx="429768" cy="0"/>
          </a:xfrm>
          <a:prstGeom prst="line">
            <a:avLst/>
          </a:prstGeom>
          <a:ln w="22225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12893040" y="3520440"/>
            <a:ext cx="2743200" cy="868680"/>
          </a:xfrm>
          <a:prstGeom prst="roundRect">
            <a:avLst>
              <a:gd name="adj" fmla="val 12000"/>
            </a:avLst>
          </a:prstGeom>
          <a:solidFill>
            <a:srgbClr val="000000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>
            <a:noAutofit/>
          </a:bodyPr>
          <a:lstStyle/>
          <a:p>
            <a:pPr algn="ctr">
              <a:lnSpc>
                <a:spcPct val="100000"/>
              </a:lnSpc>
            </a:pPr>
            <a:r>
              <a:rPr sz="1900" b="0" i="0">
                <a:solidFill>
                  <a:srgbClr val="FFFFFF"/>
                </a:solidFill>
                <a:latin typeface="Segoe UI Semibold"/>
                <a:ea typeface="Segoe UI Semibold"/>
                <a:cs typeface="Segoe UI Semibold"/>
              </a:rPr>
              <a:t>Gateway verify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4480560"/>
            <a:ext cx="2697480" cy="914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5C5C5C"/>
                </a:solidFill>
                <a:latin typeface="Consolas"/>
                <a:ea typeface="Consolas"/>
                <a:cs typeface="Consolas"/>
              </a:rPr>
              <a:t>device, object, zone,
confidence, time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749040" y="4480560"/>
            <a:ext cx="2971800" cy="914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5C5C5C"/>
                </a:solidFill>
                <a:latin typeface="Consolas"/>
                <a:ea typeface="Consolas"/>
                <a:cs typeface="Consolas"/>
              </a:rPr>
              <a:t>length-prefixed fields,
never JSON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040880" y="4480560"/>
            <a:ext cx="2697480" cy="914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5C5C5C"/>
                </a:solidFill>
                <a:latin typeface="Consolas"/>
                <a:ea typeface="Consolas"/>
                <a:cs typeface="Consolas"/>
              </a:rPr>
              <a:t>context
qshield/signed-observation/v1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058400" y="4480560"/>
            <a:ext cx="2423160" cy="914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5C5C5C"/>
                </a:solidFill>
                <a:latin typeface="Consolas"/>
                <a:ea typeface="Consolas"/>
                <a:cs typeface="Consolas"/>
              </a:rPr>
              <a:t>3309 B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2801600" y="4480560"/>
            <a:ext cx="2926080" cy="914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5C5C5C"/>
                </a:solidFill>
                <a:latin typeface="Consolas"/>
                <a:ea typeface="Consolas"/>
                <a:cs typeface="Consolas"/>
              </a:rPr>
              <a:t/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14264640" y="4425696"/>
            <a:ext cx="0" cy="557784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H="1">
            <a:off x="10698480" y="4983480"/>
            <a:ext cx="3566160" cy="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10698480" y="4983480"/>
            <a:ext cx="0" cy="283464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10698480" y="5989320"/>
            <a:ext cx="274320" cy="0"/>
          </a:xfrm>
          <a:prstGeom prst="line">
            <a:avLst/>
          </a:prstGeom>
          <a:ln w="1905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10698480" y="7818120"/>
            <a:ext cx="274320" cy="0"/>
          </a:xfrm>
          <a:prstGeom prst="line">
            <a:avLst/>
          </a:prstGeom>
          <a:ln w="1905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Rounded Rectangle 43"/>
          <p:cNvSpPr/>
          <p:nvPr/>
        </p:nvSpPr>
        <p:spPr>
          <a:xfrm>
            <a:off x="11018520" y="5440680"/>
            <a:ext cx="4617720" cy="10972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54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36576" bIns="36576">
            <a:noAutofit/>
          </a:bodyPr>
          <a:lstStyle/>
          <a:p>
            <a:pPr algn="l">
              <a:lnSpc>
                <a:spcPct val="100000"/>
              </a:lnSpc>
            </a:pPr>
            <a:r>
              <a:rPr sz="2000" b="0" i="0">
                <a:solidFill>
                  <a:srgbClr val="1A1A1A"/>
                </a:solidFill>
                <a:latin typeface="Segoe UI Semibold"/>
                <a:ea typeface="Segoe UI Semibold"/>
                <a:cs typeface="Segoe UI Semibold"/>
              </a:rPr>
              <a:t>ACCEPT  200</a:t>
            </a:r>
          </a:p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5C5C5C"/>
                </a:solidFill>
                <a:latin typeface="Segoe UI"/>
                <a:ea typeface="Segoe UI"/>
                <a:cs typeface="Segoe UI"/>
              </a:rPr>
              <a:t>signer active and in scope, fresh, new</a:t>
            </a:r>
          </a:p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5C5C5C"/>
                </a:solidFill>
                <a:latin typeface="Segoe UI"/>
                <a:ea typeface="Segoe UI"/>
                <a:cs typeface="Segoe UI"/>
              </a:rPr>
              <a:t>→ stored → trust engine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11018520" y="6812280"/>
            <a:ext cx="4617720" cy="1691640"/>
          </a:xfrm>
          <a:prstGeom prst="roundRect">
            <a:avLst>
              <a:gd name="adj" fmla="val 12000"/>
            </a:avLst>
          </a:prstGeom>
          <a:solidFill>
            <a:srgbClr val="FFE9DB"/>
          </a:solidFill>
          <a:ln w="19050">
            <a:solidFill>
              <a:srgbClr val="FF91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36576" bIns="36576">
            <a:noAutofit/>
          </a:bodyPr>
          <a:lstStyle/>
          <a:p>
            <a:pPr algn="l">
              <a:lnSpc>
                <a:spcPct val="100000"/>
              </a:lnSpc>
            </a:pPr>
            <a:r>
              <a:rPr sz="2000" b="0" i="0">
                <a:solidFill>
                  <a:srgbClr val="1A1A1A"/>
                </a:solidFill>
                <a:latin typeface="Segoe UI Semibold"/>
                <a:ea typeface="Segoe UI Semibold"/>
                <a:cs typeface="Segoe UI Semibold"/>
              </a:rPr>
              <a:t>REJECT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1247120" y="7269480"/>
            <a:ext cx="4297680" cy="1645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 i="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401  </a:t>
            </a:r>
            <a:r>
              <a:rPr sz="1600" b="0" i="0">
                <a:solidFill>
                  <a:srgbClr val="1A1A1A"/>
                </a:solidFill>
                <a:latin typeface="Segoe UI"/>
                <a:ea typeface="Segoe UI"/>
                <a:cs typeface="Segoe UI"/>
              </a:rPr>
              <a:t>forged, unknown, retired, out of scope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 i="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409  </a:t>
            </a:r>
            <a:r>
              <a:rPr sz="1600" b="0" i="0">
                <a:solidFill>
                  <a:srgbClr val="1A1A1A"/>
                </a:solidFill>
                <a:latin typeface="Segoe UI"/>
                <a:ea typeface="Segoe UI"/>
                <a:cs typeface="Segoe UI"/>
              </a:rPr>
              <a:t>replayed observation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 i="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401  </a:t>
            </a:r>
            <a:r>
              <a:rPr sz="1600" b="0" i="0">
                <a:solidFill>
                  <a:srgbClr val="1A1A1A"/>
                </a:solidFill>
                <a:latin typeface="Segoe UI"/>
                <a:ea typeface="Segoe UI"/>
                <a:cs typeface="Segoe UI"/>
              </a:rPr>
              <a:t>stale or future (±300 s)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22960" y="5577840"/>
            <a:ext cx="9509760" cy="32918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  <a:spcAft>
                <a:spcPts val="800"/>
              </a:spcAft>
            </a:pPr>
            <a:r>
              <a:rPr sz="1900" b="0" i="0">
                <a:solidFill>
                  <a:srgbClr val="1A1A1A"/>
                </a:solidFill>
                <a:latin typeface="Segoe UI Semibold"/>
                <a:ea typeface="Segoe UI Semibold"/>
                <a:cs typeface="Segoe UI Semibold"/>
              </a:rPr>
              <a:t>What the signature binds</a:t>
            </a:r>
          </a:p>
          <a:p>
            <a:pPr algn="l" marL="292608" indent="-292608">
              <a:lnSpc>
                <a:spcPct val="108000"/>
              </a:lnSpc>
              <a:spcAft>
                <a:spcPts val="400"/>
              </a:spcAft>
              <a:buClr>
                <a:srgbClr val="FF914D"/>
              </a:buClr>
              <a:buSzPct val="70000"/>
              <a:buFont typeface="Arial"/>
              <a:buChar char="■"/>
            </a:pPr>
            <a:r>
              <a:rPr sz="1900" b="0" i="0">
                <a:solidFill>
                  <a:srgbClr val="1A1A1A"/>
                </a:solidFill>
                <a:latin typeface="Segoe UI"/>
                <a:ea typeface="Segoe UI"/>
                <a:cs typeface="Segoe UI"/>
              </a:rPr>
              <a:t>who: the enrolled signer, its source and its allowed devices</a:t>
            </a:r>
          </a:p>
          <a:p>
            <a:pPr algn="l" marL="292608" indent="-292608">
              <a:lnSpc>
                <a:spcPct val="108000"/>
              </a:lnSpc>
              <a:spcAft>
                <a:spcPts val="400"/>
              </a:spcAft>
              <a:buClr>
                <a:srgbClr val="FF914D"/>
              </a:buClr>
              <a:buSzPct val="70000"/>
              <a:buFont typeface="Arial"/>
              <a:buChar char="■"/>
            </a:pPr>
            <a:r>
              <a:rPr sz="1900" b="0" i="0">
                <a:solidFill>
                  <a:srgbClr val="1A1A1A"/>
                </a:solidFill>
                <a:latin typeface="Segoe UI"/>
                <a:ea typeface="Segoe UI"/>
                <a:cs typeface="Segoe UI"/>
              </a:rPr>
              <a:t>what: every field, in a fixed byte order</a:t>
            </a:r>
          </a:p>
          <a:p>
            <a:pPr algn="l" marL="292608" indent="-292608">
              <a:lnSpc>
                <a:spcPct val="108000"/>
              </a:lnSpc>
              <a:spcAft>
                <a:spcPts val="1200"/>
              </a:spcAft>
              <a:buClr>
                <a:srgbClr val="FF914D"/>
              </a:buClr>
              <a:buSzPct val="70000"/>
              <a:buFont typeface="Arial"/>
              <a:buChar char="■"/>
            </a:pPr>
            <a:r>
              <a:rPr sz="1900" b="0" i="0">
                <a:solidFill>
                  <a:srgbClr val="1A1A1A"/>
                </a:solidFill>
                <a:latin typeface="Segoe UI"/>
                <a:ea typeface="Segoe UI"/>
                <a:cs typeface="Segoe UI"/>
              </a:rPr>
              <a:t>when: the signed timestamp, checked against the gateway clock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900" b="0" i="0">
                <a:solidFill>
                  <a:srgbClr val="5C5C5C"/>
                </a:solidFill>
                <a:latin typeface="Segoe UI"/>
                <a:ea typeface="Segoe UI"/>
                <a:cs typeface="Segoe UI"/>
              </a:rPr>
              <a:t>median, laptop: </a:t>
            </a:r>
            <a:r>
              <a:rPr sz="1900" b="0" i="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sign 9.42 ms, verify 0.188 ms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22960" y="9747504"/>
            <a:ext cx="822960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 i="0">
                <a:solidFill>
                  <a:srgbClr val="000000"/>
                </a:solidFill>
                <a:latin typeface="Segoe UI Semibold"/>
                <a:ea typeface="Segoe UI Semibold"/>
                <a:cs typeface="Segoe UI Semibold"/>
              </a:rPr>
              <a:t>Q-SHIELD</a:t>
            </a:r>
            <a:r>
              <a:rPr sz="1500" b="0" i="0">
                <a:solidFill>
                  <a:srgbClr val="000000"/>
                </a:solidFill>
                <a:latin typeface="Segoe UI"/>
                <a:ea typeface="Segoe UI"/>
                <a:cs typeface="Segoe UI"/>
              </a:rPr>
              <a:t>   continuous device trust with post-quantum-signed evidence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3350240" y="9747504"/>
            <a:ext cx="228600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500" b="0" i="0">
                <a:solidFill>
                  <a:srgbClr val="000000"/>
                </a:solidFill>
                <a:latin typeface="Segoe UI"/>
                <a:ea typeface="Segoe UI"/>
                <a:cs typeface="Segoe UI"/>
              </a:rPr>
              <a:t>11 / 24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name="Freeform 2" id="2"/>
          <p:cNvSpPr/>
          <p:nvPr/>
        </p:nvSpPr>
        <p:spPr>
          <a:xfrm flipH="false" flipV="false" rot="0">
            <a:off x="-350872" y="9407052"/>
            <a:ext cx="14979358" cy="908523"/>
          </a:xfrm>
          <a:custGeom>
            <a:avLst/>
            <a:gdLst/>
            <a:ahLst/>
            <a:cxnLst/>
            <a:rect r="r" b="b" t="t" l="l"/>
            <a:pathLst>
              <a:path h="908523" w="14979358">
                <a:moveTo>
                  <a:pt x="0" y="0"/>
                </a:moveTo>
                <a:lnTo>
                  <a:pt x="14979357" y="0"/>
                </a:lnTo>
                <a:lnTo>
                  <a:pt x="14979357" y="908523"/>
                </a:lnTo>
                <a:lnTo>
                  <a:pt x="0" y="90852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2273265" y="1130884"/>
            <a:ext cx="6870735" cy="543077"/>
            <a:chOff x="0" y="0"/>
            <a:chExt cx="9160980" cy="72410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9161018" cy="724154"/>
            </a:xfrm>
            <a:custGeom>
              <a:avLst/>
              <a:gdLst/>
              <a:ahLst/>
              <a:cxnLst/>
              <a:rect r="r" b="b" t="t" l="l"/>
              <a:pathLst>
                <a:path h="724154" w="9161018">
                  <a:moveTo>
                    <a:pt x="0" y="0"/>
                  </a:moveTo>
                  <a:lnTo>
                    <a:pt x="9161018" y="0"/>
                  </a:lnTo>
                  <a:lnTo>
                    <a:pt x="9161018" y="724154"/>
                  </a:lnTo>
                  <a:lnTo>
                    <a:pt x="0" y="72415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914D"/>
            </a:solidFill>
          </p:spPr>
        </p:sp>
      </p:grpSp>
      <p:grpSp>
        <p:nvGrpSpPr>
          <p:cNvPr name="Group 5" id="5"/>
          <p:cNvGrpSpPr/>
          <p:nvPr/>
        </p:nvGrpSpPr>
        <p:grpSpPr>
          <a:xfrm rot="-10800000">
            <a:off x="9124950" y="1130884"/>
            <a:ext cx="6870735" cy="543077"/>
            <a:chOff x="0" y="0"/>
            <a:chExt cx="9160980" cy="724103"/>
          </a:xfrm>
        </p:grpSpPr>
        <p:sp>
          <p:nvSpPr>
            <p:cNvPr name="Freeform 6" id="6"/>
            <p:cNvSpPr/>
            <p:nvPr/>
          </p:nvSpPr>
          <p:spPr>
            <a:xfrm flipH="false" flipV="true" rot="0">
              <a:off x="0" y="0"/>
              <a:ext cx="9161018" cy="724154"/>
            </a:xfrm>
            <a:custGeom>
              <a:avLst/>
              <a:gdLst/>
              <a:ahLst/>
              <a:cxnLst/>
              <a:rect r="r" b="b" t="t" l="l"/>
              <a:pathLst>
                <a:path h="724154" w="9161018">
                  <a:moveTo>
                    <a:pt x="0" y="724154"/>
                  </a:moveTo>
                  <a:lnTo>
                    <a:pt x="9161018" y="724154"/>
                  </a:lnTo>
                  <a:lnTo>
                    <a:pt x="9161018" y="0"/>
                  </a:lnTo>
                  <a:lnTo>
                    <a:pt x="0" y="0"/>
                  </a:lnTo>
                  <a:lnTo>
                    <a:pt x="0" y="724154"/>
                  </a:lnTo>
                  <a:close/>
                </a:path>
              </a:pathLst>
            </a:custGeom>
            <a:solidFill>
              <a:srgbClr val="FF914D"/>
            </a:solidFill>
          </p:spPr>
        </p:sp>
      </p:grpSp>
      <p:grpSp>
        <p:nvGrpSpPr>
          <p:cNvPr name="Group 7" id="7"/>
          <p:cNvGrpSpPr/>
          <p:nvPr/>
        </p:nvGrpSpPr>
        <p:grpSpPr>
          <a:xfrm rot="-10800000">
            <a:off x="-32871" y="1130884"/>
            <a:ext cx="3068079" cy="503739"/>
            <a:chOff x="0" y="0"/>
            <a:chExt cx="4090772" cy="671652"/>
          </a:xfrm>
        </p:grpSpPr>
        <p:sp>
          <p:nvSpPr>
            <p:cNvPr name="Freeform 8" id="8"/>
            <p:cNvSpPr/>
            <p:nvPr/>
          </p:nvSpPr>
          <p:spPr>
            <a:xfrm flipH="false" flipV="true" rot="0">
              <a:off x="0" y="0"/>
              <a:ext cx="4090797" cy="671703"/>
            </a:xfrm>
            <a:custGeom>
              <a:avLst/>
              <a:gdLst/>
              <a:ahLst/>
              <a:cxnLst/>
              <a:rect r="r" b="b" t="t" l="l"/>
              <a:pathLst>
                <a:path h="671703" w="4090797">
                  <a:moveTo>
                    <a:pt x="0" y="671703"/>
                  </a:moveTo>
                  <a:lnTo>
                    <a:pt x="4090797" y="671703"/>
                  </a:lnTo>
                  <a:lnTo>
                    <a:pt x="4090797" y="0"/>
                  </a:lnTo>
                  <a:lnTo>
                    <a:pt x="0" y="0"/>
                  </a:lnTo>
                  <a:lnTo>
                    <a:pt x="0" y="671703"/>
                  </a:lnTo>
                  <a:close/>
                </a:path>
              </a:pathLst>
            </a:custGeom>
            <a:solidFill>
              <a:srgbClr val="FF914D"/>
            </a:solidFill>
          </p:spPr>
        </p:sp>
      </p:grpSp>
      <p:sp>
        <p:nvSpPr>
          <p:cNvPr name="Freeform 9" id="9"/>
          <p:cNvSpPr/>
          <p:nvPr/>
        </p:nvSpPr>
        <p:spPr>
          <a:xfrm flipH="false" flipV="false" rot="-5400000">
            <a:off x="12120564" y="5052657"/>
            <a:ext cx="10084834" cy="2269088"/>
          </a:xfrm>
          <a:custGeom>
            <a:avLst/>
            <a:gdLst/>
            <a:ahLst/>
            <a:cxnLst/>
            <a:rect r="r" b="b" t="t" l="l"/>
            <a:pathLst>
              <a:path h="2269088" w="10084834">
                <a:moveTo>
                  <a:pt x="0" y="0"/>
                </a:moveTo>
                <a:lnTo>
                  <a:pt x="10084834" y="0"/>
                </a:lnTo>
                <a:lnTo>
                  <a:pt x="10084834" y="2269088"/>
                </a:lnTo>
                <a:lnTo>
                  <a:pt x="0" y="226908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-10800000">
            <a:off x="15248496" y="1130884"/>
            <a:ext cx="3068079" cy="503739"/>
            <a:chOff x="0" y="0"/>
            <a:chExt cx="4090772" cy="671652"/>
          </a:xfrm>
        </p:grpSpPr>
        <p:sp>
          <p:nvSpPr>
            <p:cNvPr name="Freeform 11" id="11"/>
            <p:cNvSpPr/>
            <p:nvPr/>
          </p:nvSpPr>
          <p:spPr>
            <a:xfrm flipH="false" flipV="true" rot="0">
              <a:off x="0" y="0"/>
              <a:ext cx="4090797" cy="671703"/>
            </a:xfrm>
            <a:custGeom>
              <a:avLst/>
              <a:gdLst/>
              <a:ahLst/>
              <a:cxnLst/>
              <a:rect r="r" b="b" t="t" l="l"/>
              <a:pathLst>
                <a:path h="671703" w="4090797">
                  <a:moveTo>
                    <a:pt x="0" y="671703"/>
                  </a:moveTo>
                  <a:lnTo>
                    <a:pt x="4090797" y="671703"/>
                  </a:lnTo>
                  <a:lnTo>
                    <a:pt x="4090797" y="0"/>
                  </a:lnTo>
                  <a:lnTo>
                    <a:pt x="0" y="0"/>
                  </a:lnTo>
                  <a:lnTo>
                    <a:pt x="0" y="671703"/>
                  </a:lnTo>
                  <a:close/>
                </a:path>
              </a:pathLst>
            </a:custGeom>
            <a:solidFill>
              <a:srgbClr val="FF914D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5688825" y="96222"/>
            <a:ext cx="2423739" cy="924096"/>
            <a:chOff x="0" y="0"/>
            <a:chExt cx="2307438" cy="879754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307463" cy="879729"/>
            </a:xfrm>
            <a:custGeom>
              <a:avLst/>
              <a:gdLst/>
              <a:ahLst/>
              <a:cxnLst/>
              <a:rect r="r" b="b" t="t" l="l"/>
              <a:pathLst>
                <a:path h="879729" w="2307463">
                  <a:moveTo>
                    <a:pt x="0" y="0"/>
                  </a:moveTo>
                  <a:lnTo>
                    <a:pt x="2307463" y="0"/>
                  </a:lnTo>
                  <a:lnTo>
                    <a:pt x="2307463" y="879729"/>
                  </a:lnTo>
                  <a:lnTo>
                    <a:pt x="0" y="8797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-76294" r="1" b="-85995"/>
              </a:stretch>
            </a:blipFill>
          </p:spPr>
        </p:sp>
      </p:grpSp>
      <p:sp>
        <p:nvSpPr>
          <p:cNvPr name="Freeform 14" id="14"/>
          <p:cNvSpPr/>
          <p:nvPr/>
        </p:nvSpPr>
        <p:spPr>
          <a:xfrm flipH="false" flipV="false" rot="0">
            <a:off x="9857003" y="9407052"/>
            <a:ext cx="14979358" cy="908523"/>
          </a:xfrm>
          <a:custGeom>
            <a:avLst/>
            <a:gdLst/>
            <a:ahLst/>
            <a:cxnLst/>
            <a:rect r="r" b="b" t="t" l="l"/>
            <a:pathLst>
              <a:path h="908523" w="14979358">
                <a:moveTo>
                  <a:pt x="0" y="0"/>
                </a:moveTo>
                <a:lnTo>
                  <a:pt x="14979358" y="0"/>
                </a:lnTo>
                <a:lnTo>
                  <a:pt x="14979358" y="908523"/>
                </a:lnTo>
                <a:lnTo>
                  <a:pt x="0" y="90852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252268" y="89049"/>
            <a:ext cx="2497801" cy="1034663"/>
          </a:xfrm>
          <a:custGeom>
            <a:avLst/>
            <a:gdLst/>
            <a:ahLst/>
            <a:cxnLst/>
            <a:rect r="r" b="b" t="t" l="l"/>
            <a:pathLst>
              <a:path h="1034663" w="2497801">
                <a:moveTo>
                  <a:pt x="0" y="0"/>
                </a:moveTo>
                <a:lnTo>
                  <a:pt x="2497801" y="0"/>
                </a:lnTo>
                <a:lnTo>
                  <a:pt x="2497801" y="1034663"/>
                </a:lnTo>
                <a:lnTo>
                  <a:pt x="0" y="103466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5988" t="-27243" r="-4375" b="-52819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6236411" y="74654"/>
            <a:ext cx="5815177" cy="987762"/>
          </a:xfrm>
          <a:custGeom>
            <a:avLst/>
            <a:gdLst/>
            <a:ahLst/>
            <a:cxnLst/>
            <a:rect r="r" b="b" t="t" l="l"/>
            <a:pathLst>
              <a:path h="987762" w="5815177">
                <a:moveTo>
                  <a:pt x="0" y="0"/>
                </a:moveTo>
                <a:lnTo>
                  <a:pt x="5815178" y="0"/>
                </a:lnTo>
                <a:lnTo>
                  <a:pt x="5815178" y="987762"/>
                </a:lnTo>
                <a:lnTo>
                  <a:pt x="0" y="987762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-11062" t="-153011" r="-9149" b="-154810"/>
            </a:stretch>
          </a:blipFill>
        </p:spPr>
      </p:sp>
      <p:sp>
        <p:nvSpPr>
          <p:cNvPr id="20" name="TextBox 19"/>
          <p:cNvSpPr txBox="1"/>
          <p:nvPr/>
        </p:nvSpPr>
        <p:spPr>
          <a:xfrm>
            <a:off x="822960" y="1810512"/>
            <a:ext cx="10972800" cy="3291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 i="0">
                <a:solidFill>
                  <a:srgbClr val="C2410C"/>
                </a:solidFill>
                <a:latin typeface="Segoe UI Semibold"/>
                <a:ea typeface="Segoe UI Semibold"/>
                <a:cs typeface="Segoe UI Semibold"/>
              </a:rPr>
              <a:t>4. Technical Design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2084832"/>
            <a:ext cx="14813280" cy="7315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4000" b="0" i="0">
                <a:solidFill>
                  <a:srgbClr val="000000"/>
                </a:solidFill>
                <a:latin typeface="Bahnschrift SemiBold"/>
                <a:ea typeface="Bahnschrift SemiBold"/>
                <a:cs typeface="Bahnschrift SemiBold"/>
              </a:rPr>
              <a:t>Session security and abuse resistance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2761488"/>
            <a:ext cx="1481328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100" b="0" i="0">
                <a:solidFill>
                  <a:srgbClr val="5C5C5C"/>
                </a:solidFill>
                <a:latin typeface="Segoe UI"/>
                <a:ea typeface="Segoe UI"/>
                <a:cs typeface="Segoe UI"/>
              </a:rPr>
              <a:t>What an attacker can do to the transport, and what stops it</a:t>
            </a:r>
          </a:p>
        </p:txBody>
      </p:sp>
      <p:sp>
        <p:nvSpPr>
          <p:cNvPr id="23" name="Oval 22"/>
          <p:cNvSpPr/>
          <p:nvPr/>
        </p:nvSpPr>
        <p:spPr>
          <a:xfrm>
            <a:off x="822960" y="3246120"/>
            <a:ext cx="128016" cy="128016"/>
          </a:xfrm>
          <a:prstGeom prst="ellipse">
            <a:avLst/>
          </a:prstGeom>
          <a:solidFill>
            <a:srgbClr val="FFFFFF"/>
          </a:solidFill>
          <a:ln w="22225">
            <a:solidFill>
              <a:srgbClr val="FF91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4" name="Connector 23"/>
          <p:cNvCxnSpPr/>
          <p:nvPr/>
        </p:nvCxnSpPr>
        <p:spPr>
          <a:xfrm>
            <a:off x="950976" y="3310128"/>
            <a:ext cx="1335024" cy="0"/>
          </a:xfrm>
          <a:prstGeom prst="line">
            <a:avLst/>
          </a:prstGeom>
          <a:ln w="22225">
            <a:solidFill>
              <a:srgbClr val="FF91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1005840" y="3474720"/>
            <a:ext cx="388620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 i="0">
                <a:solidFill>
                  <a:srgbClr val="5C5C5C"/>
                </a:solidFill>
                <a:latin typeface="Segoe UI Semibold"/>
                <a:ea typeface="Segoe UI Semibold"/>
                <a:cs typeface="Segoe UI Semibold"/>
              </a:rPr>
              <a:t>Attack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0" y="3474720"/>
            <a:ext cx="562356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 i="0">
                <a:solidFill>
                  <a:srgbClr val="5C5C5C"/>
                </a:solidFill>
                <a:latin typeface="Segoe UI Semibold"/>
                <a:ea typeface="Segoe UI Semibold"/>
                <a:cs typeface="Segoe UI Semibold"/>
              </a:rPr>
              <a:t>Control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789920" y="3474720"/>
            <a:ext cx="470916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 i="0">
                <a:solidFill>
                  <a:srgbClr val="5C5C5C"/>
                </a:solidFill>
                <a:latin typeface="Segoe UI Semibold"/>
                <a:ea typeface="Segoe UI Semibold"/>
                <a:cs typeface="Segoe UI Semibold"/>
              </a:rPr>
              <a:t>Tested result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1005840" y="3886200"/>
            <a:ext cx="14630400" cy="0"/>
          </a:xfrm>
          <a:prstGeom prst="line">
            <a:avLst/>
          </a:prstGeom>
          <a:ln w="158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1005840" y="3977640"/>
            <a:ext cx="3840480" cy="85039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1A1A1A"/>
                </a:solidFill>
                <a:latin typeface="Segoe UI Semibold"/>
                <a:ea typeface="Segoe UI Semibold"/>
                <a:cs typeface="Segoe UI Semibold"/>
              </a:rPr>
              <a:t>Replayed handshake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0" y="3977640"/>
            <a:ext cx="5577840" cy="85039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1A1A1A"/>
                </a:solidFill>
                <a:latin typeface="Segoe UI"/>
                <a:ea typeface="Segoe UI"/>
                <a:cs typeface="Segoe UI"/>
              </a:rPr>
              <a:t>one-use nonce, reserved atomically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789920" y="3977640"/>
            <a:ext cx="4663440" cy="85039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1A1A1A"/>
                </a:solidFill>
                <a:latin typeface="Segoe UI"/>
                <a:ea typeface="Segoe UI"/>
                <a:cs typeface="Segoe UI"/>
              </a:rPr>
              <a:t>concurrent replay gets one session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1005840" y="4828032"/>
            <a:ext cx="14630400" cy="0"/>
          </a:xfrm>
          <a:prstGeom prst="line">
            <a:avLst/>
          </a:prstGeom>
          <a:ln w="9525">
            <a:solidFill>
              <a:srgbClr val="BDBD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1005840" y="4828032"/>
            <a:ext cx="3840480" cy="85039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1A1A1A"/>
                </a:solidFill>
                <a:latin typeface="Segoe UI Semibold"/>
                <a:ea typeface="Segoe UI Semibold"/>
                <a:cs typeface="Segoe UI Semibold"/>
              </a:rPr>
              <a:t>Replayed or reordered message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29200" y="4828032"/>
            <a:ext cx="5577840" cy="85039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1A1A1A"/>
                </a:solidFill>
                <a:latin typeface="Segoe UI"/>
                <a:ea typeface="Segoe UI"/>
                <a:cs typeface="Segoe UI"/>
              </a:rPr>
              <a:t>strict 64-bit counters, AES-GCM tag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789920" y="4828032"/>
            <a:ext cx="4663440" cy="85039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1A1A1A"/>
                </a:solidFill>
                <a:latin typeface="Segoe UI"/>
                <a:ea typeface="Segoe UI"/>
                <a:cs typeface="Segoe UI"/>
              </a:rPr>
              <a:t>replay and reorder rejected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1005840" y="5678424"/>
            <a:ext cx="14630400" cy="0"/>
          </a:xfrm>
          <a:prstGeom prst="line">
            <a:avLst/>
          </a:prstGeom>
          <a:ln w="9525">
            <a:solidFill>
              <a:srgbClr val="BDBD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1005840" y="5678424"/>
            <a:ext cx="3840480" cy="85039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1A1A1A"/>
                </a:solidFill>
                <a:latin typeface="Segoe UI Semibold"/>
                <a:ea typeface="Segoe UI Semibold"/>
                <a:cs typeface="Segoe UI Semibold"/>
              </a:rPr>
              <a:t>Gateway lost the session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29200" y="5678424"/>
            <a:ext cx="5577840" cy="85039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401 </a:t>
            </a:r>
            <a:r>
              <a:rPr sz="1800" b="0" i="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session_expired</a:t>
            </a:r>
            <a:r>
              <a:rPr sz="1800" b="0" i="0">
                <a:solidFill>
                  <a:srgbClr val="1A1A1A"/>
                </a:solidFill>
                <a:latin typeface="Segoe UI"/>
                <a:ea typeface="Segoe UI"/>
                <a:cs typeface="Segoe UI"/>
              </a:rPr>
              <a:t> → one re-handshake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789920" y="5678424"/>
            <a:ext cx="4663440" cy="85039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1A1A1A"/>
                </a:solidFill>
                <a:latin typeface="Segoe UI"/>
                <a:ea typeface="Segoe UI"/>
                <a:cs typeface="Segoe UI"/>
              </a:rPr>
              <a:t>observation still delivered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1005840" y="6528816"/>
            <a:ext cx="14630400" cy="0"/>
          </a:xfrm>
          <a:prstGeom prst="line">
            <a:avLst/>
          </a:prstGeom>
          <a:ln w="9525">
            <a:solidFill>
              <a:srgbClr val="BDBD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1005840" y="6528816"/>
            <a:ext cx="3840480" cy="85039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1A1A1A"/>
                </a:solidFill>
                <a:latin typeface="Segoe UI Semibold"/>
                <a:ea typeface="Segoe UI Semibold"/>
                <a:cs typeface="Segoe UI Semibold"/>
              </a:rPr>
              <a:t>Persistent refusals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029200" y="6528816"/>
            <a:ext cx="5577840" cy="85039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1A1A1A"/>
                </a:solidFill>
                <a:latin typeface="Segoe UI"/>
                <a:ea typeface="Segoe UI"/>
                <a:cs typeface="Segoe UI"/>
              </a:rPr>
              <a:t>drop that observation, keep the session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789920" y="6528816"/>
            <a:ext cx="4663440" cy="85039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1A1A1A"/>
                </a:solidFill>
                <a:latin typeface="Segoe UI"/>
                <a:ea typeface="Segoe UI"/>
                <a:cs typeface="Segoe UI"/>
              </a:rPr>
              <a:t>30 refusals: 1 session (was 30)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1005840" y="7379208"/>
            <a:ext cx="14630400" cy="0"/>
          </a:xfrm>
          <a:prstGeom prst="line">
            <a:avLst/>
          </a:prstGeom>
          <a:ln w="9525">
            <a:solidFill>
              <a:srgbClr val="BDBD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1005840" y="7379208"/>
            <a:ext cx="3840480" cy="85039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1A1A1A"/>
                </a:solidFill>
                <a:latin typeface="Segoe UI Semibold"/>
                <a:ea typeface="Segoe UI Semibold"/>
                <a:cs typeface="Segoe UI Semibold"/>
              </a:rPr>
              <a:t>Session-table exhaustion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029200" y="7379208"/>
            <a:ext cx="5577840" cy="85039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1A1A1A"/>
                </a:solidFill>
                <a:latin typeface="Segoe UI"/>
                <a:ea typeface="Segoe UI"/>
                <a:cs typeface="Segoe UI"/>
              </a:rPr>
              <a:t>gateway cap 64; client 20 handshakes/h, backoff 1-60 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789920" y="7379208"/>
            <a:ext cx="4663440" cy="85039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1A1A1A"/>
                </a:solidFill>
                <a:latin typeface="Segoe UI"/>
                <a:ea typeface="Segoe UI"/>
                <a:cs typeface="Segoe UI"/>
              </a:rPr>
              <a:t>budget holds under a loop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1005840" y="8229600"/>
            <a:ext cx="14630400" cy="0"/>
          </a:xfrm>
          <a:prstGeom prst="line">
            <a:avLst/>
          </a:prstGeom>
          <a:ln w="9525">
            <a:solidFill>
              <a:srgbClr val="BDBD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Rectangle 48"/>
          <p:cNvSpPr/>
          <p:nvPr/>
        </p:nvSpPr>
        <p:spPr>
          <a:xfrm>
            <a:off x="841248" y="8284464"/>
            <a:ext cx="73152" cy="704088"/>
          </a:xfrm>
          <a:prstGeom prst="rect">
            <a:avLst/>
          </a:prstGeom>
          <a:solidFill>
            <a:srgbClr val="FF91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>
            <a:noAutofit/>
          </a:bodyPr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005840" y="8229600"/>
            <a:ext cx="3840480" cy="85039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1A1A1A"/>
                </a:solidFill>
                <a:latin typeface="Segoe UI Semibold"/>
                <a:ea typeface="Segoe UI Semibold"/>
                <a:cs typeface="Segoe UI Semibold"/>
              </a:rPr>
              <a:t>Rejection flood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029200" y="8229600"/>
            <a:ext cx="5577840" cy="85039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1A1A1A"/>
                </a:solidFill>
                <a:latin typeface="Segoe UI"/>
                <a:ea typeface="Segoe UI"/>
                <a:cs typeface="Segoe UI"/>
              </a:rPr>
              <a:t>3 samples per sender per 10 s, rest coalesced with counts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789920" y="8229600"/>
            <a:ext cx="4663440" cy="85039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1A1A1A"/>
                </a:solidFill>
                <a:latin typeface="Segoe UI"/>
                <a:ea typeface="Segoe UI"/>
                <a:cs typeface="Segoe UI"/>
              </a:rPr>
              <a:t>300 forged messages: 8 rows</a:t>
            </a:r>
          </a:p>
        </p:txBody>
      </p:sp>
      <p:cxnSp>
        <p:nvCxnSpPr>
          <p:cNvPr id="53" name="Connector 52"/>
          <p:cNvCxnSpPr/>
          <p:nvPr/>
        </p:nvCxnSpPr>
        <p:spPr>
          <a:xfrm>
            <a:off x="1005840" y="9079992"/>
            <a:ext cx="14630400" cy="0"/>
          </a:xfrm>
          <a:prstGeom prst="line">
            <a:avLst/>
          </a:prstGeom>
          <a:ln w="9525">
            <a:solidFill>
              <a:srgbClr val="BDBD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TextBox 53"/>
          <p:cNvSpPr txBox="1"/>
          <p:nvPr/>
        </p:nvSpPr>
        <p:spPr>
          <a:xfrm>
            <a:off x="822960" y="9747504"/>
            <a:ext cx="822960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 i="0">
                <a:solidFill>
                  <a:srgbClr val="000000"/>
                </a:solidFill>
                <a:latin typeface="Segoe UI Semibold"/>
                <a:ea typeface="Segoe UI Semibold"/>
                <a:cs typeface="Segoe UI Semibold"/>
              </a:rPr>
              <a:t>Q-SHIELD</a:t>
            </a:r>
            <a:r>
              <a:rPr sz="1500" b="0" i="0">
                <a:solidFill>
                  <a:srgbClr val="000000"/>
                </a:solidFill>
                <a:latin typeface="Segoe UI"/>
                <a:ea typeface="Segoe UI"/>
                <a:cs typeface="Segoe UI"/>
              </a:rPr>
              <a:t>   continuous device trust with post-quantum-signed evidence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3350240" y="9747504"/>
            <a:ext cx="228600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500" b="0" i="0">
                <a:solidFill>
                  <a:srgbClr val="000000"/>
                </a:solidFill>
                <a:latin typeface="Segoe UI"/>
                <a:ea typeface="Segoe UI"/>
                <a:cs typeface="Segoe UI"/>
              </a:rPr>
              <a:t>12 / 24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name="Freeform 2" id="2"/>
          <p:cNvSpPr/>
          <p:nvPr/>
        </p:nvSpPr>
        <p:spPr>
          <a:xfrm flipH="false" flipV="false" rot="0">
            <a:off x="-350872" y="9407052"/>
            <a:ext cx="14979358" cy="908523"/>
          </a:xfrm>
          <a:custGeom>
            <a:avLst/>
            <a:gdLst/>
            <a:ahLst/>
            <a:cxnLst/>
            <a:rect r="r" b="b" t="t" l="l"/>
            <a:pathLst>
              <a:path h="908523" w="14979358">
                <a:moveTo>
                  <a:pt x="0" y="0"/>
                </a:moveTo>
                <a:lnTo>
                  <a:pt x="14979357" y="0"/>
                </a:lnTo>
                <a:lnTo>
                  <a:pt x="14979357" y="908523"/>
                </a:lnTo>
                <a:lnTo>
                  <a:pt x="0" y="90852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2273265" y="1130884"/>
            <a:ext cx="6870735" cy="543077"/>
            <a:chOff x="0" y="0"/>
            <a:chExt cx="9160980" cy="72410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9161018" cy="724154"/>
            </a:xfrm>
            <a:custGeom>
              <a:avLst/>
              <a:gdLst/>
              <a:ahLst/>
              <a:cxnLst/>
              <a:rect r="r" b="b" t="t" l="l"/>
              <a:pathLst>
                <a:path h="724154" w="9161018">
                  <a:moveTo>
                    <a:pt x="0" y="0"/>
                  </a:moveTo>
                  <a:lnTo>
                    <a:pt x="9161018" y="0"/>
                  </a:lnTo>
                  <a:lnTo>
                    <a:pt x="9161018" y="724154"/>
                  </a:lnTo>
                  <a:lnTo>
                    <a:pt x="0" y="72415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914D"/>
            </a:solidFill>
          </p:spPr>
        </p:sp>
      </p:grpSp>
      <p:grpSp>
        <p:nvGrpSpPr>
          <p:cNvPr name="Group 5" id="5"/>
          <p:cNvGrpSpPr/>
          <p:nvPr/>
        </p:nvGrpSpPr>
        <p:grpSpPr>
          <a:xfrm rot="-10800000">
            <a:off x="9124950" y="1130884"/>
            <a:ext cx="6870735" cy="543077"/>
            <a:chOff x="0" y="0"/>
            <a:chExt cx="9160980" cy="724103"/>
          </a:xfrm>
        </p:grpSpPr>
        <p:sp>
          <p:nvSpPr>
            <p:cNvPr name="Freeform 6" id="6"/>
            <p:cNvSpPr/>
            <p:nvPr/>
          </p:nvSpPr>
          <p:spPr>
            <a:xfrm flipH="false" flipV="true" rot="0">
              <a:off x="0" y="0"/>
              <a:ext cx="9161018" cy="724154"/>
            </a:xfrm>
            <a:custGeom>
              <a:avLst/>
              <a:gdLst/>
              <a:ahLst/>
              <a:cxnLst/>
              <a:rect r="r" b="b" t="t" l="l"/>
              <a:pathLst>
                <a:path h="724154" w="9161018">
                  <a:moveTo>
                    <a:pt x="0" y="724154"/>
                  </a:moveTo>
                  <a:lnTo>
                    <a:pt x="9161018" y="724154"/>
                  </a:lnTo>
                  <a:lnTo>
                    <a:pt x="9161018" y="0"/>
                  </a:lnTo>
                  <a:lnTo>
                    <a:pt x="0" y="0"/>
                  </a:lnTo>
                  <a:lnTo>
                    <a:pt x="0" y="724154"/>
                  </a:lnTo>
                  <a:close/>
                </a:path>
              </a:pathLst>
            </a:custGeom>
            <a:solidFill>
              <a:srgbClr val="FF914D"/>
            </a:solidFill>
          </p:spPr>
        </p:sp>
      </p:grpSp>
      <p:grpSp>
        <p:nvGrpSpPr>
          <p:cNvPr name="Group 7" id="7"/>
          <p:cNvGrpSpPr/>
          <p:nvPr/>
        </p:nvGrpSpPr>
        <p:grpSpPr>
          <a:xfrm rot="-10800000">
            <a:off x="-32871" y="1130884"/>
            <a:ext cx="3068079" cy="503739"/>
            <a:chOff x="0" y="0"/>
            <a:chExt cx="4090772" cy="671652"/>
          </a:xfrm>
        </p:grpSpPr>
        <p:sp>
          <p:nvSpPr>
            <p:cNvPr name="Freeform 8" id="8"/>
            <p:cNvSpPr/>
            <p:nvPr/>
          </p:nvSpPr>
          <p:spPr>
            <a:xfrm flipH="false" flipV="true" rot="0">
              <a:off x="0" y="0"/>
              <a:ext cx="4090797" cy="671703"/>
            </a:xfrm>
            <a:custGeom>
              <a:avLst/>
              <a:gdLst/>
              <a:ahLst/>
              <a:cxnLst/>
              <a:rect r="r" b="b" t="t" l="l"/>
              <a:pathLst>
                <a:path h="671703" w="4090797">
                  <a:moveTo>
                    <a:pt x="0" y="671703"/>
                  </a:moveTo>
                  <a:lnTo>
                    <a:pt x="4090797" y="671703"/>
                  </a:lnTo>
                  <a:lnTo>
                    <a:pt x="4090797" y="0"/>
                  </a:lnTo>
                  <a:lnTo>
                    <a:pt x="0" y="0"/>
                  </a:lnTo>
                  <a:lnTo>
                    <a:pt x="0" y="671703"/>
                  </a:lnTo>
                  <a:close/>
                </a:path>
              </a:pathLst>
            </a:custGeom>
            <a:solidFill>
              <a:srgbClr val="FF914D"/>
            </a:solidFill>
          </p:spPr>
        </p:sp>
      </p:grpSp>
      <p:sp>
        <p:nvSpPr>
          <p:cNvPr name="Freeform 9" id="9"/>
          <p:cNvSpPr/>
          <p:nvPr/>
        </p:nvSpPr>
        <p:spPr>
          <a:xfrm flipH="false" flipV="false" rot="-5400000">
            <a:off x="12120564" y="5052657"/>
            <a:ext cx="10084834" cy="2269088"/>
          </a:xfrm>
          <a:custGeom>
            <a:avLst/>
            <a:gdLst/>
            <a:ahLst/>
            <a:cxnLst/>
            <a:rect r="r" b="b" t="t" l="l"/>
            <a:pathLst>
              <a:path h="2269088" w="10084834">
                <a:moveTo>
                  <a:pt x="0" y="0"/>
                </a:moveTo>
                <a:lnTo>
                  <a:pt x="10084834" y="0"/>
                </a:lnTo>
                <a:lnTo>
                  <a:pt x="10084834" y="2269088"/>
                </a:lnTo>
                <a:lnTo>
                  <a:pt x="0" y="226908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-10800000">
            <a:off x="15248496" y="1130884"/>
            <a:ext cx="3068079" cy="503739"/>
            <a:chOff x="0" y="0"/>
            <a:chExt cx="4090772" cy="671652"/>
          </a:xfrm>
        </p:grpSpPr>
        <p:sp>
          <p:nvSpPr>
            <p:cNvPr name="Freeform 11" id="11"/>
            <p:cNvSpPr/>
            <p:nvPr/>
          </p:nvSpPr>
          <p:spPr>
            <a:xfrm flipH="false" flipV="true" rot="0">
              <a:off x="0" y="0"/>
              <a:ext cx="4090797" cy="671703"/>
            </a:xfrm>
            <a:custGeom>
              <a:avLst/>
              <a:gdLst/>
              <a:ahLst/>
              <a:cxnLst/>
              <a:rect r="r" b="b" t="t" l="l"/>
              <a:pathLst>
                <a:path h="671703" w="4090797">
                  <a:moveTo>
                    <a:pt x="0" y="671703"/>
                  </a:moveTo>
                  <a:lnTo>
                    <a:pt x="4090797" y="671703"/>
                  </a:lnTo>
                  <a:lnTo>
                    <a:pt x="4090797" y="0"/>
                  </a:lnTo>
                  <a:lnTo>
                    <a:pt x="0" y="0"/>
                  </a:lnTo>
                  <a:lnTo>
                    <a:pt x="0" y="671703"/>
                  </a:lnTo>
                  <a:close/>
                </a:path>
              </a:pathLst>
            </a:custGeom>
            <a:solidFill>
              <a:srgbClr val="FF914D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5688825" y="96222"/>
            <a:ext cx="2423739" cy="924096"/>
            <a:chOff x="0" y="0"/>
            <a:chExt cx="2307438" cy="879754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307463" cy="879729"/>
            </a:xfrm>
            <a:custGeom>
              <a:avLst/>
              <a:gdLst/>
              <a:ahLst/>
              <a:cxnLst/>
              <a:rect r="r" b="b" t="t" l="l"/>
              <a:pathLst>
                <a:path h="879729" w="2307463">
                  <a:moveTo>
                    <a:pt x="0" y="0"/>
                  </a:moveTo>
                  <a:lnTo>
                    <a:pt x="2307463" y="0"/>
                  </a:lnTo>
                  <a:lnTo>
                    <a:pt x="2307463" y="879729"/>
                  </a:lnTo>
                  <a:lnTo>
                    <a:pt x="0" y="8797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-76294" r="1" b="-85995"/>
              </a:stretch>
            </a:blipFill>
          </p:spPr>
        </p:sp>
      </p:grpSp>
      <p:sp>
        <p:nvSpPr>
          <p:cNvPr name="Freeform 14" id="14"/>
          <p:cNvSpPr/>
          <p:nvPr/>
        </p:nvSpPr>
        <p:spPr>
          <a:xfrm flipH="false" flipV="false" rot="0">
            <a:off x="9857003" y="9407052"/>
            <a:ext cx="14979358" cy="908523"/>
          </a:xfrm>
          <a:custGeom>
            <a:avLst/>
            <a:gdLst/>
            <a:ahLst/>
            <a:cxnLst/>
            <a:rect r="r" b="b" t="t" l="l"/>
            <a:pathLst>
              <a:path h="908523" w="14979358">
                <a:moveTo>
                  <a:pt x="0" y="0"/>
                </a:moveTo>
                <a:lnTo>
                  <a:pt x="14979358" y="0"/>
                </a:lnTo>
                <a:lnTo>
                  <a:pt x="14979358" y="908523"/>
                </a:lnTo>
                <a:lnTo>
                  <a:pt x="0" y="90852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252268" y="89049"/>
            <a:ext cx="2497801" cy="1034663"/>
          </a:xfrm>
          <a:custGeom>
            <a:avLst/>
            <a:gdLst/>
            <a:ahLst/>
            <a:cxnLst/>
            <a:rect r="r" b="b" t="t" l="l"/>
            <a:pathLst>
              <a:path h="1034663" w="2497801">
                <a:moveTo>
                  <a:pt x="0" y="0"/>
                </a:moveTo>
                <a:lnTo>
                  <a:pt x="2497801" y="0"/>
                </a:lnTo>
                <a:lnTo>
                  <a:pt x="2497801" y="1034663"/>
                </a:lnTo>
                <a:lnTo>
                  <a:pt x="0" y="103466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5988" t="-27243" r="-4375" b="-52819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6236411" y="74654"/>
            <a:ext cx="5815177" cy="987762"/>
          </a:xfrm>
          <a:custGeom>
            <a:avLst/>
            <a:gdLst/>
            <a:ahLst/>
            <a:cxnLst/>
            <a:rect r="r" b="b" t="t" l="l"/>
            <a:pathLst>
              <a:path h="987762" w="5815177">
                <a:moveTo>
                  <a:pt x="0" y="0"/>
                </a:moveTo>
                <a:lnTo>
                  <a:pt x="5815178" y="0"/>
                </a:lnTo>
                <a:lnTo>
                  <a:pt x="5815178" y="987762"/>
                </a:lnTo>
                <a:lnTo>
                  <a:pt x="0" y="987762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-11062" t="-153011" r="-9149" b="-154810"/>
            </a:stretch>
          </a:blipFill>
        </p:spPr>
      </p:sp>
      <p:sp>
        <p:nvSpPr>
          <p:cNvPr id="20" name="TextBox 19"/>
          <p:cNvSpPr txBox="1"/>
          <p:nvPr/>
        </p:nvSpPr>
        <p:spPr>
          <a:xfrm>
            <a:off x="822960" y="1810512"/>
            <a:ext cx="10972800" cy="3291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 i="0">
                <a:solidFill>
                  <a:srgbClr val="C2410C"/>
                </a:solidFill>
                <a:latin typeface="Segoe UI Semibold"/>
                <a:ea typeface="Segoe UI Semibold"/>
                <a:cs typeface="Segoe UI Semibold"/>
              </a:rPr>
              <a:t>4. Technical Design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2084832"/>
            <a:ext cx="14813280" cy="7315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4000" b="0" i="0">
                <a:solidFill>
                  <a:srgbClr val="000000"/>
                </a:solidFill>
                <a:latin typeface="Bahnschrift SemiBold"/>
                <a:ea typeface="Bahnschrift SemiBold"/>
                <a:cs typeface="Bahnschrift SemiBold"/>
              </a:rPr>
              <a:t>AI vision security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2761488"/>
            <a:ext cx="1481328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100" b="0" i="0">
                <a:solidFill>
                  <a:srgbClr val="5C5C5C"/>
                </a:solidFill>
                <a:latin typeface="Segoe UI"/>
                <a:ea typeface="Segoe UI"/>
                <a:cs typeface="Segoe UI"/>
              </a:rPr>
              <a:t>The detector reports what it sees; only the trust engine decides what it means</a:t>
            </a:r>
          </a:p>
        </p:txBody>
      </p:sp>
      <p:sp>
        <p:nvSpPr>
          <p:cNvPr id="23" name="Oval 22"/>
          <p:cNvSpPr/>
          <p:nvPr/>
        </p:nvSpPr>
        <p:spPr>
          <a:xfrm>
            <a:off x="822960" y="3246120"/>
            <a:ext cx="128016" cy="128016"/>
          </a:xfrm>
          <a:prstGeom prst="ellipse">
            <a:avLst/>
          </a:prstGeom>
          <a:solidFill>
            <a:srgbClr val="FFFFFF"/>
          </a:solidFill>
          <a:ln w="22225">
            <a:solidFill>
              <a:srgbClr val="FF91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4" name="Connector 23"/>
          <p:cNvCxnSpPr/>
          <p:nvPr/>
        </p:nvCxnSpPr>
        <p:spPr>
          <a:xfrm>
            <a:off x="950976" y="3310128"/>
            <a:ext cx="1335024" cy="0"/>
          </a:xfrm>
          <a:prstGeom prst="line">
            <a:avLst/>
          </a:prstGeom>
          <a:ln w="22225">
            <a:solidFill>
              <a:srgbClr val="FF91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822960" y="3520440"/>
            <a:ext cx="1920240" cy="10515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>
            <a:noAutofit/>
          </a:bodyPr>
          <a:lstStyle/>
          <a:p>
            <a:pPr algn="ctr">
              <a:lnSpc>
                <a:spcPct val="100000"/>
              </a:lnSpc>
            </a:pPr>
            <a:r>
              <a:rPr sz="1700" b="0" i="0">
                <a:solidFill>
                  <a:srgbClr val="1A1A1A"/>
                </a:solidFill>
                <a:latin typeface="Segoe UI Semibold"/>
                <a:ea typeface="Segoe UI Semibold"/>
                <a:cs typeface="Segoe UI Semibold"/>
              </a:rPr>
              <a:t>Camera</a:t>
            </a:r>
          </a:p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5C5C5C"/>
                </a:solidFill>
                <a:latin typeface="Segoe UI"/>
                <a:ea typeface="Segoe UI"/>
                <a:cs typeface="Segoe UI"/>
              </a:rPr>
              <a:t>USB / built-in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2779776" y="4046220"/>
            <a:ext cx="292608" cy="0"/>
          </a:xfrm>
          <a:prstGeom prst="line">
            <a:avLst/>
          </a:prstGeom>
          <a:ln w="22225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3108960" y="3520440"/>
            <a:ext cx="1920240" cy="10515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>
            <a:noAutofit/>
          </a:bodyPr>
          <a:lstStyle/>
          <a:p>
            <a:pPr algn="ctr">
              <a:lnSpc>
                <a:spcPct val="100000"/>
              </a:lnSpc>
            </a:pPr>
            <a:r>
              <a:rPr sz="1700" b="0" i="0">
                <a:solidFill>
                  <a:srgbClr val="1A1A1A"/>
                </a:solidFill>
                <a:latin typeface="Segoe UI Semibold"/>
                <a:ea typeface="Segoe UI Semibold"/>
                <a:cs typeface="Segoe UI Semibold"/>
              </a:rPr>
              <a:t>YOLO11n</a:t>
            </a:r>
          </a:p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5C5C5C"/>
                </a:solidFill>
                <a:latin typeface="Segoe UI"/>
                <a:ea typeface="Segoe UI"/>
                <a:cs typeface="Segoe UI"/>
              </a:rPr>
              <a:t>object detector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5065776" y="4046220"/>
            <a:ext cx="292608" cy="0"/>
          </a:xfrm>
          <a:prstGeom prst="line">
            <a:avLst/>
          </a:prstGeom>
          <a:ln w="22225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5394960" y="3520440"/>
            <a:ext cx="2651760" cy="10515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>
            <a:noAutofit/>
          </a:bodyPr>
          <a:lstStyle/>
          <a:p>
            <a:pPr algn="ctr">
              <a:lnSpc>
                <a:spcPct val="100000"/>
              </a:lnSpc>
            </a:pPr>
            <a:r>
              <a:rPr sz="1700" b="0" i="0">
                <a:solidFill>
                  <a:srgbClr val="1A1A1A"/>
                </a:solidFill>
                <a:latin typeface="Segoe UI Semibold"/>
                <a:ea typeface="Segoe UI Semibold"/>
                <a:cs typeface="Segoe UI Semibold"/>
              </a:rPr>
              <a:t>Object, confidence, zone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8083296" y="4046220"/>
            <a:ext cx="292608" cy="0"/>
          </a:xfrm>
          <a:prstGeom prst="line">
            <a:avLst/>
          </a:prstGeom>
          <a:ln w="22225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8412480" y="3520440"/>
            <a:ext cx="2377440" cy="10515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>
            <a:noAutofit/>
          </a:bodyPr>
          <a:lstStyle/>
          <a:p>
            <a:pPr algn="ctr">
              <a:lnSpc>
                <a:spcPct val="100000"/>
              </a:lnSpc>
            </a:pPr>
            <a:r>
              <a:rPr sz="1700" b="0" i="0">
                <a:solidFill>
                  <a:srgbClr val="1A1A1A"/>
                </a:solidFill>
                <a:latin typeface="Segoe UI Semibold"/>
                <a:ea typeface="Segoe UI Semibold"/>
                <a:cs typeface="Segoe UI Semibold"/>
              </a:rPr>
              <a:t>Camera health</a:t>
            </a:r>
          </a:p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5C5C5C"/>
                </a:solidFill>
                <a:latin typeface="Segoe UI"/>
                <a:ea typeface="Segoe UI"/>
                <a:cs typeface="Segoe UI"/>
              </a:rPr>
              <a:t>is the camera OK?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10826496" y="4046220"/>
            <a:ext cx="292608" cy="0"/>
          </a:xfrm>
          <a:prstGeom prst="line">
            <a:avLst/>
          </a:prstGeom>
          <a:ln w="22225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11155680" y="3520440"/>
            <a:ext cx="2377440" cy="1051560"/>
          </a:xfrm>
          <a:prstGeom prst="roundRect">
            <a:avLst>
              <a:gd name="adj" fmla="val 12000"/>
            </a:avLst>
          </a:prstGeom>
          <a:solidFill>
            <a:srgbClr val="FF914D"/>
          </a:solidFill>
          <a:ln w="19050">
            <a:solidFill>
              <a:srgbClr val="FF91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>
            <a:noAutofit/>
          </a:bodyPr>
          <a:lstStyle/>
          <a:p>
            <a:pPr algn="ctr">
              <a:lnSpc>
                <a:spcPct val="100000"/>
              </a:lnSpc>
            </a:pPr>
            <a:r>
              <a:rPr sz="1700" b="0" i="0">
                <a:solidFill>
                  <a:srgbClr val="1A1A1A"/>
                </a:solidFill>
                <a:latin typeface="Segoe UI Semibold"/>
                <a:ea typeface="Segoe UI Semibold"/>
                <a:cs typeface="Segoe UI Semibold"/>
              </a:rPr>
              <a:t>Signed observation</a:t>
            </a:r>
          </a:p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000000"/>
                </a:solidFill>
                <a:latin typeface="Segoe UI"/>
                <a:ea typeface="Segoe UI"/>
                <a:cs typeface="Segoe UI"/>
              </a:rPr>
              <a:t>ML-DSA-65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13569696" y="4046220"/>
            <a:ext cx="292608" cy="0"/>
          </a:xfrm>
          <a:prstGeom prst="line">
            <a:avLst/>
          </a:prstGeom>
          <a:ln w="22225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13898880" y="3520440"/>
            <a:ext cx="1737360" cy="1051560"/>
          </a:xfrm>
          <a:prstGeom prst="roundRect">
            <a:avLst>
              <a:gd name="adj" fmla="val 12000"/>
            </a:avLst>
          </a:prstGeom>
          <a:solidFill>
            <a:srgbClr val="000000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>
            <a:noAutofit/>
          </a:bodyPr>
          <a:lstStyle/>
          <a:p>
            <a:pPr algn="ctr">
              <a:lnSpc>
                <a:spcPct val="100000"/>
              </a:lnSpc>
            </a:pPr>
            <a:r>
              <a:rPr sz="1700" b="0" i="0">
                <a:solidFill>
                  <a:srgbClr val="FFFFFF"/>
                </a:solidFill>
                <a:latin typeface="Segoe UI Semibold"/>
                <a:ea typeface="Segoe UI Semibold"/>
                <a:cs typeface="Segoe UI Semibold"/>
              </a:rPr>
              <a:t>Trust engine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22960" y="5166360"/>
            <a:ext cx="5120640" cy="356616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>
            <a:noAutofit/>
          </a:bodyPr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3383280" y="5166360"/>
            <a:ext cx="2560320" cy="3566160"/>
          </a:xfrm>
          <a:prstGeom prst="rect">
            <a:avLst/>
          </a:prstGeom>
          <a:solidFill>
            <a:srgbClr val="FFE9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>
            <a:noAutofit/>
          </a:bodyPr>
          <a:lstStyle/>
          <a:p>
            <a:pPr algn="ctr"/>
          </a:p>
        </p:txBody>
      </p:sp>
      <p:cxnSp>
        <p:nvCxnSpPr>
          <p:cNvPr id="38" name="Connector 37"/>
          <p:cNvCxnSpPr/>
          <p:nvPr/>
        </p:nvCxnSpPr>
        <p:spPr>
          <a:xfrm>
            <a:off x="3383280" y="5166360"/>
            <a:ext cx="0" cy="3566160"/>
          </a:xfrm>
          <a:prstGeom prst="line">
            <a:avLst/>
          </a:prstGeom>
          <a:ln w="19050">
            <a:solidFill>
              <a:srgbClr val="FF914D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914400" y="5239512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 i="0">
                <a:solidFill>
                  <a:srgbClr val="5C5C5C"/>
                </a:solidFill>
                <a:latin typeface="Segoe UI"/>
                <a:ea typeface="Segoe UI"/>
                <a:cs typeface="Segoe UI"/>
              </a:rPr>
              <a:t>monitored zone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474720" y="5239512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 i="0">
                <a:solidFill>
                  <a:srgbClr val="C2410C"/>
                </a:solidFill>
                <a:latin typeface="Segoe UI Semibold"/>
                <a:ea typeface="Segoe UI Semibold"/>
                <a:cs typeface="Segoe UI Semibold"/>
              </a:rPr>
              <a:t>restricted zone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114800" y="6035040"/>
            <a:ext cx="1097280" cy="2331720"/>
          </a:xfrm>
          <a:prstGeom prst="rect">
            <a:avLst/>
          </a:prstGeom>
          <a:noFill/>
          <a:ln w="25400">
            <a:solidFill>
              <a:srgbClr val="C241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>
            <a:noAutofit/>
          </a:bodyPr>
          <a:lstStyle/>
          <a:p>
            <a:pPr algn="ctr">
              <a:lnSpc>
                <a:spcPct val="100000"/>
              </a:lnSpc>
            </a:pPr>
            <a:r>
              <a:rPr sz="1500" b="0" i="0">
                <a:solidFill>
                  <a:srgbClr val="C2410C"/>
                </a:solidFill>
                <a:latin typeface="Segoe UI Semibold"/>
                <a:ea typeface="Segoe UI Semibold"/>
                <a:cs typeface="Segoe UI Semibold"/>
              </a:rPr>
              <a:t>person</a:t>
            </a:r>
          </a:p>
          <a:p>
            <a:pPr algn="ctr">
              <a:lnSpc>
                <a:spcPct val="100000"/>
              </a:lnSpc>
            </a:pPr>
            <a:r>
              <a:rPr sz="1500" b="0" i="0">
                <a:solidFill>
                  <a:srgbClr val="C2410C"/>
                </a:solidFill>
                <a:latin typeface="Segoe UI Semibold"/>
                <a:ea typeface="Segoe UI Semibold"/>
                <a:cs typeface="Segoe UI Semibold"/>
              </a:rPr>
              <a:t>0.86</a:t>
            </a:r>
          </a:p>
        </p:txBody>
      </p:sp>
      <p:sp>
        <p:nvSpPr>
          <p:cNvPr id="42" name="Oval 41"/>
          <p:cNvSpPr/>
          <p:nvPr/>
        </p:nvSpPr>
        <p:spPr>
          <a:xfrm>
            <a:off x="4590288" y="8293608"/>
            <a:ext cx="146304" cy="146304"/>
          </a:xfrm>
          <a:prstGeom prst="ellipse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22960" y="8805672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400" b="0" i="0">
                <a:solidFill>
                  <a:srgbClr val="5C5C5C"/>
                </a:solidFill>
                <a:latin typeface="Segoe UI"/>
                <a:ea typeface="Segoe UI"/>
                <a:cs typeface="Segoe UI"/>
              </a:rPr>
              <a:t>anchor: bottom-centre of the box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92240" y="5166360"/>
            <a:ext cx="9144000" cy="3931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2000" b="0" i="0">
                <a:solidFill>
                  <a:srgbClr val="1A1A1A"/>
                </a:solidFill>
                <a:latin typeface="Segoe UI Semibold"/>
                <a:ea typeface="Segoe UI Semibold"/>
                <a:cs typeface="Segoe UI Semibold"/>
              </a:rPr>
              <a:t>Rule match = restricted class in a restricted zone</a:t>
            </a:r>
          </a:p>
          <a:p>
            <a:pPr algn="l">
              <a:lnSpc>
                <a:spcPct val="108000"/>
              </a:lnSpc>
              <a:spcAft>
                <a:spcPts val="1200"/>
              </a:spcAft>
            </a:pPr>
            <a:r>
              <a:rPr sz="2000" b="0" i="0">
                <a:solidFill>
                  <a:srgbClr val="5C5C5C"/>
                </a:solidFill>
                <a:latin typeface="Segoe UI"/>
                <a:ea typeface="Segoe UI"/>
                <a:cs typeface="Segoe UI"/>
              </a:rPr>
              <a:t>a policy match, not an anomaly-detection verdict</a:t>
            </a:r>
          </a:p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2000" b="0" i="0">
                <a:solidFill>
                  <a:srgbClr val="1A1A1A"/>
                </a:solidFill>
                <a:latin typeface="Segoe UI Semibold"/>
                <a:ea typeface="Segoe UI Semibold"/>
                <a:cs typeface="Segoe UI Semibold"/>
              </a:rPr>
              <a:t>The webcam has no key</a:t>
            </a:r>
          </a:p>
          <a:p>
            <a:pPr algn="l">
              <a:lnSpc>
                <a:spcPct val="108000"/>
              </a:lnSpc>
              <a:spcAft>
                <a:spcPts val="1200"/>
              </a:spcAft>
            </a:pPr>
            <a:r>
              <a:rPr sz="2000" b="0" i="0">
                <a:solidFill>
                  <a:srgbClr val="5C5C5C"/>
                </a:solidFill>
                <a:latin typeface="Segoe UI"/>
                <a:ea typeface="Segoe UI"/>
                <a:cs typeface="Segoe UI"/>
              </a:rPr>
              <a:t>the vision service holds the ML-DSA-65 identity, scoped to its device</a:t>
            </a:r>
          </a:p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2000" b="0" i="0">
                <a:solidFill>
                  <a:srgbClr val="1A1A1A"/>
                </a:solidFill>
                <a:latin typeface="Segoe UI Semibold"/>
                <a:ea typeface="Segoe UI Semibold"/>
                <a:cs typeface="Segoe UI Semibold"/>
              </a:rPr>
              <a:t>Live on a USB webcam, CPU only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000" b="0" i="0">
                <a:solidFill>
                  <a:srgbClr val="5C5C5C"/>
                </a:solidFill>
                <a:latin typeface="Segoe UI"/>
                <a:ea typeface="Segoe UI"/>
                <a:cs typeface="Segoe UI"/>
              </a:rPr>
              <a:t>about 5 frames/s at the configured rate; detection accuracy not measured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22960" y="9747504"/>
            <a:ext cx="822960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 i="0">
                <a:solidFill>
                  <a:srgbClr val="000000"/>
                </a:solidFill>
                <a:latin typeface="Segoe UI Semibold"/>
                <a:ea typeface="Segoe UI Semibold"/>
                <a:cs typeface="Segoe UI Semibold"/>
              </a:rPr>
              <a:t>Q-SHIELD</a:t>
            </a:r>
            <a:r>
              <a:rPr sz="1500" b="0" i="0">
                <a:solidFill>
                  <a:srgbClr val="000000"/>
                </a:solidFill>
                <a:latin typeface="Segoe UI"/>
                <a:ea typeface="Segoe UI"/>
                <a:cs typeface="Segoe UI"/>
              </a:rPr>
              <a:t>   continuous device trust with post-quantum-signed evidence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3350240" y="9747504"/>
            <a:ext cx="228600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500" b="0" i="0">
                <a:solidFill>
                  <a:srgbClr val="000000"/>
                </a:solidFill>
                <a:latin typeface="Segoe UI"/>
                <a:ea typeface="Segoe UI"/>
                <a:cs typeface="Segoe UI"/>
              </a:rPr>
              <a:t>13 / 24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name="Freeform 2" id="2"/>
          <p:cNvSpPr/>
          <p:nvPr/>
        </p:nvSpPr>
        <p:spPr>
          <a:xfrm flipH="false" flipV="false" rot="0">
            <a:off x="-350872" y="9407052"/>
            <a:ext cx="14979358" cy="908523"/>
          </a:xfrm>
          <a:custGeom>
            <a:avLst/>
            <a:gdLst/>
            <a:ahLst/>
            <a:cxnLst/>
            <a:rect r="r" b="b" t="t" l="l"/>
            <a:pathLst>
              <a:path h="908523" w="14979358">
                <a:moveTo>
                  <a:pt x="0" y="0"/>
                </a:moveTo>
                <a:lnTo>
                  <a:pt x="14979357" y="0"/>
                </a:lnTo>
                <a:lnTo>
                  <a:pt x="14979357" y="908523"/>
                </a:lnTo>
                <a:lnTo>
                  <a:pt x="0" y="90852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2273265" y="1130884"/>
            <a:ext cx="6870735" cy="543077"/>
            <a:chOff x="0" y="0"/>
            <a:chExt cx="9160980" cy="72410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9161018" cy="724154"/>
            </a:xfrm>
            <a:custGeom>
              <a:avLst/>
              <a:gdLst/>
              <a:ahLst/>
              <a:cxnLst/>
              <a:rect r="r" b="b" t="t" l="l"/>
              <a:pathLst>
                <a:path h="724154" w="9161018">
                  <a:moveTo>
                    <a:pt x="0" y="0"/>
                  </a:moveTo>
                  <a:lnTo>
                    <a:pt x="9161018" y="0"/>
                  </a:lnTo>
                  <a:lnTo>
                    <a:pt x="9161018" y="724154"/>
                  </a:lnTo>
                  <a:lnTo>
                    <a:pt x="0" y="72415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914D"/>
            </a:solidFill>
          </p:spPr>
        </p:sp>
      </p:grpSp>
      <p:grpSp>
        <p:nvGrpSpPr>
          <p:cNvPr name="Group 5" id="5"/>
          <p:cNvGrpSpPr/>
          <p:nvPr/>
        </p:nvGrpSpPr>
        <p:grpSpPr>
          <a:xfrm rot="-10800000">
            <a:off x="9124950" y="1130884"/>
            <a:ext cx="6870735" cy="543077"/>
            <a:chOff x="0" y="0"/>
            <a:chExt cx="9160980" cy="724103"/>
          </a:xfrm>
        </p:grpSpPr>
        <p:sp>
          <p:nvSpPr>
            <p:cNvPr name="Freeform 6" id="6"/>
            <p:cNvSpPr/>
            <p:nvPr/>
          </p:nvSpPr>
          <p:spPr>
            <a:xfrm flipH="false" flipV="true" rot="0">
              <a:off x="0" y="0"/>
              <a:ext cx="9161018" cy="724154"/>
            </a:xfrm>
            <a:custGeom>
              <a:avLst/>
              <a:gdLst/>
              <a:ahLst/>
              <a:cxnLst/>
              <a:rect r="r" b="b" t="t" l="l"/>
              <a:pathLst>
                <a:path h="724154" w="9161018">
                  <a:moveTo>
                    <a:pt x="0" y="724154"/>
                  </a:moveTo>
                  <a:lnTo>
                    <a:pt x="9161018" y="724154"/>
                  </a:lnTo>
                  <a:lnTo>
                    <a:pt x="9161018" y="0"/>
                  </a:lnTo>
                  <a:lnTo>
                    <a:pt x="0" y="0"/>
                  </a:lnTo>
                  <a:lnTo>
                    <a:pt x="0" y="724154"/>
                  </a:lnTo>
                  <a:close/>
                </a:path>
              </a:pathLst>
            </a:custGeom>
            <a:solidFill>
              <a:srgbClr val="FF914D"/>
            </a:solidFill>
          </p:spPr>
        </p:sp>
      </p:grpSp>
      <p:grpSp>
        <p:nvGrpSpPr>
          <p:cNvPr name="Group 7" id="7"/>
          <p:cNvGrpSpPr/>
          <p:nvPr/>
        </p:nvGrpSpPr>
        <p:grpSpPr>
          <a:xfrm rot="-10800000">
            <a:off x="-32871" y="1130884"/>
            <a:ext cx="3068079" cy="503739"/>
            <a:chOff x="0" y="0"/>
            <a:chExt cx="4090772" cy="671652"/>
          </a:xfrm>
        </p:grpSpPr>
        <p:sp>
          <p:nvSpPr>
            <p:cNvPr name="Freeform 8" id="8"/>
            <p:cNvSpPr/>
            <p:nvPr/>
          </p:nvSpPr>
          <p:spPr>
            <a:xfrm flipH="false" flipV="true" rot="0">
              <a:off x="0" y="0"/>
              <a:ext cx="4090797" cy="671703"/>
            </a:xfrm>
            <a:custGeom>
              <a:avLst/>
              <a:gdLst/>
              <a:ahLst/>
              <a:cxnLst/>
              <a:rect r="r" b="b" t="t" l="l"/>
              <a:pathLst>
                <a:path h="671703" w="4090797">
                  <a:moveTo>
                    <a:pt x="0" y="671703"/>
                  </a:moveTo>
                  <a:lnTo>
                    <a:pt x="4090797" y="671703"/>
                  </a:lnTo>
                  <a:lnTo>
                    <a:pt x="4090797" y="0"/>
                  </a:lnTo>
                  <a:lnTo>
                    <a:pt x="0" y="0"/>
                  </a:lnTo>
                  <a:lnTo>
                    <a:pt x="0" y="671703"/>
                  </a:lnTo>
                  <a:close/>
                </a:path>
              </a:pathLst>
            </a:custGeom>
            <a:solidFill>
              <a:srgbClr val="FF914D"/>
            </a:solidFill>
          </p:spPr>
        </p:sp>
      </p:grpSp>
      <p:sp>
        <p:nvSpPr>
          <p:cNvPr name="Freeform 9" id="9"/>
          <p:cNvSpPr/>
          <p:nvPr/>
        </p:nvSpPr>
        <p:spPr>
          <a:xfrm flipH="false" flipV="false" rot="-5400000">
            <a:off x="12120564" y="5052657"/>
            <a:ext cx="10084834" cy="2269088"/>
          </a:xfrm>
          <a:custGeom>
            <a:avLst/>
            <a:gdLst/>
            <a:ahLst/>
            <a:cxnLst/>
            <a:rect r="r" b="b" t="t" l="l"/>
            <a:pathLst>
              <a:path h="2269088" w="10084834">
                <a:moveTo>
                  <a:pt x="0" y="0"/>
                </a:moveTo>
                <a:lnTo>
                  <a:pt x="10084834" y="0"/>
                </a:lnTo>
                <a:lnTo>
                  <a:pt x="10084834" y="2269088"/>
                </a:lnTo>
                <a:lnTo>
                  <a:pt x="0" y="226908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-10800000">
            <a:off x="15248496" y="1130884"/>
            <a:ext cx="3068079" cy="503739"/>
            <a:chOff x="0" y="0"/>
            <a:chExt cx="4090772" cy="671652"/>
          </a:xfrm>
        </p:grpSpPr>
        <p:sp>
          <p:nvSpPr>
            <p:cNvPr name="Freeform 11" id="11"/>
            <p:cNvSpPr/>
            <p:nvPr/>
          </p:nvSpPr>
          <p:spPr>
            <a:xfrm flipH="false" flipV="true" rot="0">
              <a:off x="0" y="0"/>
              <a:ext cx="4090797" cy="671703"/>
            </a:xfrm>
            <a:custGeom>
              <a:avLst/>
              <a:gdLst/>
              <a:ahLst/>
              <a:cxnLst/>
              <a:rect r="r" b="b" t="t" l="l"/>
              <a:pathLst>
                <a:path h="671703" w="4090797">
                  <a:moveTo>
                    <a:pt x="0" y="671703"/>
                  </a:moveTo>
                  <a:lnTo>
                    <a:pt x="4090797" y="671703"/>
                  </a:lnTo>
                  <a:lnTo>
                    <a:pt x="4090797" y="0"/>
                  </a:lnTo>
                  <a:lnTo>
                    <a:pt x="0" y="0"/>
                  </a:lnTo>
                  <a:lnTo>
                    <a:pt x="0" y="671703"/>
                  </a:lnTo>
                  <a:close/>
                </a:path>
              </a:pathLst>
            </a:custGeom>
            <a:solidFill>
              <a:srgbClr val="FF914D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5688825" y="96222"/>
            <a:ext cx="2423739" cy="924096"/>
            <a:chOff x="0" y="0"/>
            <a:chExt cx="2307438" cy="879754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307463" cy="879729"/>
            </a:xfrm>
            <a:custGeom>
              <a:avLst/>
              <a:gdLst/>
              <a:ahLst/>
              <a:cxnLst/>
              <a:rect r="r" b="b" t="t" l="l"/>
              <a:pathLst>
                <a:path h="879729" w="2307463">
                  <a:moveTo>
                    <a:pt x="0" y="0"/>
                  </a:moveTo>
                  <a:lnTo>
                    <a:pt x="2307463" y="0"/>
                  </a:lnTo>
                  <a:lnTo>
                    <a:pt x="2307463" y="879729"/>
                  </a:lnTo>
                  <a:lnTo>
                    <a:pt x="0" y="8797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-76294" r="1" b="-85995"/>
              </a:stretch>
            </a:blipFill>
          </p:spPr>
        </p:sp>
      </p:grpSp>
      <p:sp>
        <p:nvSpPr>
          <p:cNvPr name="Freeform 14" id="14"/>
          <p:cNvSpPr/>
          <p:nvPr/>
        </p:nvSpPr>
        <p:spPr>
          <a:xfrm flipH="false" flipV="false" rot="0">
            <a:off x="9857003" y="9407052"/>
            <a:ext cx="14979358" cy="908523"/>
          </a:xfrm>
          <a:custGeom>
            <a:avLst/>
            <a:gdLst/>
            <a:ahLst/>
            <a:cxnLst/>
            <a:rect r="r" b="b" t="t" l="l"/>
            <a:pathLst>
              <a:path h="908523" w="14979358">
                <a:moveTo>
                  <a:pt x="0" y="0"/>
                </a:moveTo>
                <a:lnTo>
                  <a:pt x="14979358" y="0"/>
                </a:lnTo>
                <a:lnTo>
                  <a:pt x="14979358" y="908523"/>
                </a:lnTo>
                <a:lnTo>
                  <a:pt x="0" y="90852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252268" y="89049"/>
            <a:ext cx="2497801" cy="1034663"/>
          </a:xfrm>
          <a:custGeom>
            <a:avLst/>
            <a:gdLst/>
            <a:ahLst/>
            <a:cxnLst/>
            <a:rect r="r" b="b" t="t" l="l"/>
            <a:pathLst>
              <a:path h="1034663" w="2497801">
                <a:moveTo>
                  <a:pt x="0" y="0"/>
                </a:moveTo>
                <a:lnTo>
                  <a:pt x="2497801" y="0"/>
                </a:lnTo>
                <a:lnTo>
                  <a:pt x="2497801" y="1034663"/>
                </a:lnTo>
                <a:lnTo>
                  <a:pt x="0" y="103466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5988" t="-27243" r="-4375" b="-52819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6236411" y="74654"/>
            <a:ext cx="5815177" cy="987762"/>
          </a:xfrm>
          <a:custGeom>
            <a:avLst/>
            <a:gdLst/>
            <a:ahLst/>
            <a:cxnLst/>
            <a:rect r="r" b="b" t="t" l="l"/>
            <a:pathLst>
              <a:path h="987762" w="5815177">
                <a:moveTo>
                  <a:pt x="0" y="0"/>
                </a:moveTo>
                <a:lnTo>
                  <a:pt x="5815178" y="0"/>
                </a:lnTo>
                <a:lnTo>
                  <a:pt x="5815178" y="987762"/>
                </a:lnTo>
                <a:lnTo>
                  <a:pt x="0" y="987762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-11062" t="-153011" r="-9149" b="-154810"/>
            </a:stretch>
          </a:blipFill>
        </p:spPr>
      </p:sp>
      <p:sp>
        <p:nvSpPr>
          <p:cNvPr id="20" name="TextBox 19"/>
          <p:cNvSpPr txBox="1"/>
          <p:nvPr/>
        </p:nvSpPr>
        <p:spPr>
          <a:xfrm>
            <a:off x="822960" y="1810512"/>
            <a:ext cx="10972800" cy="3291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 i="0">
                <a:solidFill>
                  <a:srgbClr val="C2410C"/>
                </a:solidFill>
                <a:latin typeface="Segoe UI Semibold"/>
                <a:ea typeface="Segoe UI Semibold"/>
                <a:cs typeface="Segoe UI Semibold"/>
              </a:rPr>
              <a:t>4. Technical Design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2084832"/>
            <a:ext cx="14813280" cy="7315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4000" b="0" i="0">
                <a:solidFill>
                  <a:srgbClr val="000000"/>
                </a:solidFill>
                <a:latin typeface="Bahnschrift SemiBold"/>
                <a:ea typeface="Bahnschrift SemiBold"/>
                <a:cs typeface="Bahnschrift SemiBold"/>
              </a:rPr>
              <a:t>Camera tamper and anomaly model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2761488"/>
            <a:ext cx="1481328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100" b="0" i="0">
                <a:solidFill>
                  <a:srgbClr val="5C5C5C"/>
                </a:solidFill>
                <a:latin typeface="Segoe UI"/>
                <a:ea typeface="Segoe UI"/>
                <a:cs typeface="Segoe UI"/>
              </a:rPr>
              <a:t>The camera is part of the security boundary, not just a detector</a:t>
            </a:r>
          </a:p>
        </p:txBody>
      </p:sp>
      <p:sp>
        <p:nvSpPr>
          <p:cNvPr id="23" name="Oval 22"/>
          <p:cNvSpPr/>
          <p:nvPr/>
        </p:nvSpPr>
        <p:spPr>
          <a:xfrm>
            <a:off x="822960" y="3246120"/>
            <a:ext cx="128016" cy="128016"/>
          </a:xfrm>
          <a:prstGeom prst="ellipse">
            <a:avLst/>
          </a:prstGeom>
          <a:solidFill>
            <a:srgbClr val="FFFFFF"/>
          </a:solidFill>
          <a:ln w="22225">
            <a:solidFill>
              <a:srgbClr val="FF91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4" name="Connector 23"/>
          <p:cNvCxnSpPr/>
          <p:nvPr/>
        </p:nvCxnSpPr>
        <p:spPr>
          <a:xfrm>
            <a:off x="950976" y="3310128"/>
            <a:ext cx="1335024" cy="0"/>
          </a:xfrm>
          <a:prstGeom prst="line">
            <a:avLst/>
          </a:prstGeom>
          <a:ln w="22225">
            <a:solidFill>
              <a:srgbClr val="FF91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 24"/>
          <p:cNvSpPr/>
          <p:nvPr/>
        </p:nvSpPr>
        <p:spPr>
          <a:xfrm>
            <a:off x="1051560" y="3520440"/>
            <a:ext cx="1828800" cy="1234440"/>
          </a:xfrm>
          <a:prstGeom prst="rect">
            <a:avLst/>
          </a:prstGeom>
          <a:solidFill>
            <a:srgbClr val="FFFFFF"/>
          </a:solidFill>
          <a:ln w="158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>
            <a:noAutofit/>
          </a:bodyPr>
          <a:lstStyle/>
          <a:p>
            <a:pPr algn="ctr"/>
          </a:p>
        </p:txBody>
      </p:sp>
      <p:cxnSp>
        <p:nvCxnSpPr>
          <p:cNvPr id="26" name="Connector 25"/>
          <p:cNvCxnSpPr/>
          <p:nvPr/>
        </p:nvCxnSpPr>
        <p:spPr>
          <a:xfrm>
            <a:off x="1143000" y="4389120"/>
            <a:ext cx="1645920" cy="0"/>
          </a:xfrm>
          <a:prstGeom prst="line">
            <a:avLst/>
          </a:prstGeom>
          <a:ln w="15875">
            <a:solidFill>
              <a:srgbClr val="5C5C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ectangle 26"/>
          <p:cNvSpPr/>
          <p:nvPr/>
        </p:nvSpPr>
        <p:spPr>
          <a:xfrm>
            <a:off x="1325880" y="3931920"/>
            <a:ext cx="411480" cy="457200"/>
          </a:xfrm>
          <a:prstGeom prst="rect">
            <a:avLst/>
          </a:prstGeom>
          <a:solidFill>
            <a:srgbClr val="BDBD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>
            <a:noAutofit/>
          </a:bodyPr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2011680" y="3749040"/>
            <a:ext cx="320040" cy="640080"/>
          </a:xfrm>
          <a:prstGeom prst="rect">
            <a:avLst/>
          </a:prstGeom>
          <a:solidFill>
            <a:srgbClr val="BDBD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>
            <a:noAutofit/>
          </a:bodyPr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" y="4846320"/>
            <a:ext cx="210312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2000" b="0" i="0">
                <a:solidFill>
                  <a:srgbClr val="1A1A1A"/>
                </a:solidFill>
                <a:latin typeface="Segoe UI Semibold"/>
                <a:ea typeface="Segoe UI Semibold"/>
                <a:cs typeface="Segoe UI Semibold"/>
              </a:rPr>
              <a:t>Normal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5303520"/>
            <a:ext cx="2103120" cy="11887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5C5C5C"/>
                </a:solidFill>
                <a:latin typeface="Segoe UI"/>
                <a:ea typeface="Segoe UI"/>
                <a:cs typeface="Segoe UI"/>
              </a:rPr>
              <a:t>scene matches the reference view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394460" y="6492240"/>
            <a:ext cx="1143000" cy="34747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>
            <a:noAutofit/>
          </a:bodyPr>
          <a:lstStyle/>
          <a:p>
            <a:pPr algn="ctr">
              <a:lnSpc>
                <a:spcPct val="100000"/>
              </a:lnSpc>
            </a:pPr>
            <a:r>
              <a:rPr sz="1500" b="0" i="0">
                <a:solidFill>
                  <a:srgbClr val="000000"/>
                </a:solidFill>
                <a:latin typeface="Segoe UI Semibold"/>
                <a:ea typeface="Segoe UI Semibold"/>
                <a:cs typeface="Segoe UI Semibold"/>
              </a:rPr>
              <a:t>no report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3090672" y="4133088"/>
            <a:ext cx="237744" cy="0"/>
          </a:xfrm>
          <a:prstGeom prst="line">
            <a:avLst/>
          </a:prstGeom>
          <a:ln w="15875">
            <a:solidFill>
              <a:srgbClr val="BDBDB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ectangle 32"/>
          <p:cNvSpPr/>
          <p:nvPr/>
        </p:nvSpPr>
        <p:spPr>
          <a:xfrm>
            <a:off x="3557016" y="3520440"/>
            <a:ext cx="1828800" cy="1234440"/>
          </a:xfrm>
          <a:prstGeom prst="rect">
            <a:avLst/>
          </a:prstGeom>
          <a:solidFill>
            <a:srgbClr val="FFFFFF"/>
          </a:solidFill>
          <a:ln w="158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>
            <a:noAutofit/>
          </a:bodyPr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557016" y="3520440"/>
            <a:ext cx="1828800" cy="1234440"/>
          </a:xfrm>
          <a:prstGeom prst="rect">
            <a:avLst/>
          </a:prstGeom>
          <a:solidFill>
            <a:srgbClr val="1F1F1F"/>
          </a:solidFill>
          <a:ln w="158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>
            <a:noAutofit/>
          </a:bodyPr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419856" y="4846320"/>
            <a:ext cx="210312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2000" b="0" i="0">
                <a:solidFill>
                  <a:srgbClr val="1A1A1A"/>
                </a:solidFill>
                <a:latin typeface="Segoe UI Semibold"/>
                <a:ea typeface="Segoe UI Semibold"/>
                <a:cs typeface="Segoe UI Semibold"/>
              </a:rPr>
              <a:t>Occluded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419856" y="5303520"/>
            <a:ext cx="2103120" cy="11887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5C5C5C"/>
                </a:solidFill>
                <a:latin typeface="Segoe UI"/>
                <a:ea typeface="Segoe UI"/>
                <a:cs typeface="Segoe UI"/>
              </a:rPr>
              <a:t>dark with no scene left, flat, or blinded; held 2 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899916" y="6492240"/>
            <a:ext cx="1143000" cy="347472"/>
          </a:xfrm>
          <a:prstGeom prst="roundRect">
            <a:avLst>
              <a:gd name="adj" fmla="val 50000"/>
            </a:avLst>
          </a:prstGeom>
          <a:solidFill>
            <a:srgbClr val="FF914D"/>
          </a:solidFill>
          <a:ln w="15875">
            <a:solidFill>
              <a:srgbClr val="FF91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>
            <a:noAutofit/>
          </a:bodyPr>
          <a:lstStyle/>
          <a:p>
            <a:pPr algn="ctr">
              <a:lnSpc>
                <a:spcPct val="100000"/>
              </a:lnSpc>
            </a:pPr>
            <a:r>
              <a:rPr sz="1500" b="0" i="0">
                <a:solidFill>
                  <a:srgbClr val="000000"/>
                </a:solidFill>
                <a:latin typeface="Segoe UI Semibold"/>
                <a:ea typeface="Segoe UI Semibold"/>
                <a:cs typeface="Segoe UI Semibold"/>
              </a:rPr>
              <a:t>HIGH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5596128" y="4133088"/>
            <a:ext cx="237744" cy="0"/>
          </a:xfrm>
          <a:prstGeom prst="line">
            <a:avLst/>
          </a:prstGeom>
          <a:ln w="15875">
            <a:solidFill>
              <a:srgbClr val="BDBDB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ectangle 38"/>
          <p:cNvSpPr/>
          <p:nvPr/>
        </p:nvSpPr>
        <p:spPr>
          <a:xfrm>
            <a:off x="6062472" y="3520440"/>
            <a:ext cx="1828800" cy="1234440"/>
          </a:xfrm>
          <a:prstGeom prst="rect">
            <a:avLst/>
          </a:prstGeom>
          <a:solidFill>
            <a:srgbClr val="FFFFFF"/>
          </a:solidFill>
          <a:ln w="158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>
            <a:noAutofit/>
          </a:bodyPr>
          <a:lstStyle/>
          <a:p>
            <a:pPr algn="ctr"/>
          </a:p>
        </p:txBody>
      </p:sp>
      <p:cxnSp>
        <p:nvCxnSpPr>
          <p:cNvPr id="40" name="Connector 39"/>
          <p:cNvCxnSpPr/>
          <p:nvPr/>
        </p:nvCxnSpPr>
        <p:spPr>
          <a:xfrm>
            <a:off x="6153912" y="4206240"/>
            <a:ext cx="1645920" cy="0"/>
          </a:xfrm>
          <a:prstGeom prst="line">
            <a:avLst/>
          </a:prstGeom>
          <a:ln w="15875">
            <a:solidFill>
              <a:srgbClr val="5C5C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ectangle 40"/>
          <p:cNvSpPr/>
          <p:nvPr/>
        </p:nvSpPr>
        <p:spPr>
          <a:xfrm>
            <a:off x="6748272" y="3749040"/>
            <a:ext cx="411480" cy="457200"/>
          </a:xfrm>
          <a:prstGeom prst="rect">
            <a:avLst/>
          </a:prstGeom>
          <a:solidFill>
            <a:srgbClr val="BDBD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>
            <a:noAutofit/>
          </a:bodyPr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336792" y="3931920"/>
            <a:ext cx="411480" cy="457200"/>
          </a:xfrm>
          <a:prstGeom prst="rect">
            <a:avLst/>
          </a:prstGeom>
          <a:noFill/>
          <a:ln w="19050">
            <a:solidFill>
              <a:srgbClr val="FF914D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>
            <a:noAutofit/>
          </a:bodyPr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925312" y="4846320"/>
            <a:ext cx="210312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2000" b="0" i="0">
                <a:solidFill>
                  <a:srgbClr val="1A1A1A"/>
                </a:solidFill>
                <a:latin typeface="Segoe UI Semibold"/>
                <a:ea typeface="Segoe UI Semibold"/>
                <a:cs typeface="Segoe UI Semibold"/>
              </a:rPr>
              <a:t>Moved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925312" y="5303520"/>
            <a:ext cx="2103120" cy="11887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5C5C5C"/>
                </a:solidFill>
                <a:latin typeface="Segoe UI"/>
                <a:ea typeface="Segoe UI"/>
                <a:cs typeface="Segoe UI"/>
              </a:rPr>
              <a:t>shift found by phase correlation, or similarity &lt; 0.7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405372" y="6492240"/>
            <a:ext cx="1143000" cy="347472"/>
          </a:xfrm>
          <a:prstGeom prst="roundRect">
            <a:avLst>
              <a:gd name="adj" fmla="val 50000"/>
            </a:avLst>
          </a:prstGeom>
          <a:solidFill>
            <a:srgbClr val="FF914D"/>
          </a:solidFill>
          <a:ln w="15875">
            <a:solidFill>
              <a:srgbClr val="FF91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>
            <a:noAutofit/>
          </a:bodyPr>
          <a:lstStyle/>
          <a:p>
            <a:pPr algn="ctr">
              <a:lnSpc>
                <a:spcPct val="100000"/>
              </a:lnSpc>
            </a:pPr>
            <a:r>
              <a:rPr sz="1500" b="0" i="0">
                <a:solidFill>
                  <a:srgbClr val="000000"/>
                </a:solidFill>
                <a:latin typeface="Segoe UI Semibold"/>
                <a:ea typeface="Segoe UI Semibold"/>
                <a:cs typeface="Segoe UI Semibold"/>
              </a:rPr>
              <a:t>HIGH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8101584" y="4133088"/>
            <a:ext cx="237744" cy="0"/>
          </a:xfrm>
          <a:prstGeom prst="line">
            <a:avLst/>
          </a:prstGeom>
          <a:ln w="15875">
            <a:solidFill>
              <a:srgbClr val="BDBDB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Rectangle 46"/>
          <p:cNvSpPr/>
          <p:nvPr/>
        </p:nvSpPr>
        <p:spPr>
          <a:xfrm>
            <a:off x="8567928" y="3520440"/>
            <a:ext cx="1828800" cy="1234440"/>
          </a:xfrm>
          <a:prstGeom prst="rect">
            <a:avLst/>
          </a:prstGeom>
          <a:solidFill>
            <a:srgbClr val="FFFFFF"/>
          </a:solidFill>
          <a:ln w="158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>
            <a:noAutofit/>
          </a:bodyPr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8705088" y="3657600"/>
            <a:ext cx="1371600" cy="868680"/>
          </a:xfrm>
          <a:prstGeom prst="rect">
            <a:avLst/>
          </a:prstGeom>
          <a:solidFill>
            <a:srgbClr val="F6F6F6"/>
          </a:solidFill>
          <a:ln w="12700">
            <a:solidFill>
              <a:srgbClr val="5C5C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>
            <a:noAutofit/>
          </a:bodyPr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8887968" y="3794760"/>
            <a:ext cx="137160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5C5C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>
            <a:noAutofit/>
          </a:bodyPr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887968" y="3794760"/>
            <a:ext cx="1371600" cy="8686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2600" b="0" i="0">
                <a:solidFill>
                  <a:srgbClr val="5C5C5C"/>
                </a:solidFill>
                <a:latin typeface="Segoe UI"/>
                <a:ea typeface="Segoe UI"/>
                <a:cs typeface="Segoe UI"/>
              </a:rPr>
              <a:t>=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430768" y="4846320"/>
            <a:ext cx="210312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2000" b="0" i="0">
                <a:solidFill>
                  <a:srgbClr val="1A1A1A"/>
                </a:solidFill>
                <a:latin typeface="Segoe UI Semibold"/>
                <a:ea typeface="Segoe UI Semibold"/>
                <a:cs typeface="Segoe UI Semibold"/>
              </a:rPr>
              <a:t>Frozen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430768" y="5303520"/>
            <a:ext cx="2103120" cy="11887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5C5C5C"/>
                </a:solidFill>
                <a:latin typeface="Segoe UI"/>
                <a:ea typeface="Segoe UI"/>
                <a:cs typeface="Segoe UI"/>
              </a:rPr>
              <a:t>the same frame again and again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8910828" y="6492240"/>
            <a:ext cx="1143000" cy="347472"/>
          </a:xfrm>
          <a:prstGeom prst="roundRect">
            <a:avLst>
              <a:gd name="adj" fmla="val 50000"/>
            </a:avLst>
          </a:prstGeom>
          <a:solidFill>
            <a:srgbClr val="FF914D"/>
          </a:solidFill>
          <a:ln w="15875">
            <a:solidFill>
              <a:srgbClr val="FF91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>
            <a:noAutofit/>
          </a:bodyPr>
          <a:lstStyle/>
          <a:p>
            <a:pPr algn="ctr">
              <a:lnSpc>
                <a:spcPct val="100000"/>
              </a:lnSpc>
            </a:pPr>
            <a:r>
              <a:rPr sz="1500" b="0" i="0">
                <a:solidFill>
                  <a:srgbClr val="000000"/>
                </a:solidFill>
                <a:latin typeface="Segoe UI Semibold"/>
                <a:ea typeface="Segoe UI Semibold"/>
                <a:cs typeface="Segoe UI Semibold"/>
              </a:rPr>
              <a:t>HIGH</a:t>
            </a:r>
          </a:p>
        </p:txBody>
      </p:sp>
      <p:cxnSp>
        <p:nvCxnSpPr>
          <p:cNvPr id="54" name="Connector 53"/>
          <p:cNvCxnSpPr/>
          <p:nvPr/>
        </p:nvCxnSpPr>
        <p:spPr>
          <a:xfrm>
            <a:off x="10607040" y="4133088"/>
            <a:ext cx="237744" cy="0"/>
          </a:xfrm>
          <a:prstGeom prst="line">
            <a:avLst/>
          </a:prstGeom>
          <a:ln w="15875">
            <a:solidFill>
              <a:srgbClr val="BDBDB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Rectangle 54"/>
          <p:cNvSpPr/>
          <p:nvPr/>
        </p:nvSpPr>
        <p:spPr>
          <a:xfrm>
            <a:off x="11073384" y="3520440"/>
            <a:ext cx="1828800" cy="1234440"/>
          </a:xfrm>
          <a:prstGeom prst="rect">
            <a:avLst/>
          </a:prstGeom>
          <a:solidFill>
            <a:srgbClr val="FFFFFF"/>
          </a:solidFill>
          <a:ln w="158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>
            <a:noAutofit/>
          </a:bodyPr>
          <a:lstStyle/>
          <a:p>
            <a:pPr algn="ctr"/>
          </a:p>
        </p:txBody>
      </p:sp>
      <p:cxnSp>
        <p:nvCxnSpPr>
          <p:cNvPr id="56" name="Connector 55"/>
          <p:cNvCxnSpPr/>
          <p:nvPr/>
        </p:nvCxnSpPr>
        <p:spPr>
          <a:xfrm>
            <a:off x="11164824" y="4389120"/>
            <a:ext cx="1645920" cy="0"/>
          </a:xfrm>
          <a:prstGeom prst="line">
            <a:avLst/>
          </a:prstGeom>
          <a:ln w="15875">
            <a:solidFill>
              <a:srgbClr val="5C5C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Rectangle 56"/>
          <p:cNvSpPr/>
          <p:nvPr/>
        </p:nvSpPr>
        <p:spPr>
          <a:xfrm>
            <a:off x="11347704" y="3931920"/>
            <a:ext cx="411480" cy="457200"/>
          </a:xfrm>
          <a:prstGeom prst="rect">
            <a:avLst/>
          </a:prstGeom>
          <a:solidFill>
            <a:srgbClr val="F6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>
            <a:noAutofit/>
          </a:bodyPr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12033504" y="3749040"/>
            <a:ext cx="320040" cy="640080"/>
          </a:xfrm>
          <a:prstGeom prst="rect">
            <a:avLst/>
          </a:prstGeom>
          <a:solidFill>
            <a:srgbClr val="F6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>
            <a:noAutofit/>
          </a:bodyPr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0936224" y="4846320"/>
            <a:ext cx="210312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2000" b="0" i="0">
                <a:solidFill>
                  <a:srgbClr val="1A1A1A"/>
                </a:solidFill>
                <a:latin typeface="Segoe UI Semibold"/>
                <a:ea typeface="Segoe UI Semibold"/>
                <a:cs typeface="Segoe UI Semibold"/>
              </a:rPr>
              <a:t>Degraded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936224" y="5303520"/>
            <a:ext cx="2103120" cy="11887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5C5C5C"/>
                </a:solidFill>
                <a:latin typeface="Segoe UI"/>
                <a:ea typeface="Segoe UI"/>
                <a:cs typeface="Segoe UI"/>
              </a:rPr>
              <a:t>low light with the scene still visible, or blur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11416284" y="6492240"/>
            <a:ext cx="1143000" cy="34747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>
            <a:noAutofit/>
          </a:bodyPr>
          <a:lstStyle/>
          <a:p>
            <a:pPr algn="ctr">
              <a:lnSpc>
                <a:spcPct val="100000"/>
              </a:lnSpc>
            </a:pPr>
            <a:r>
              <a:rPr sz="1500" b="0" i="0">
                <a:solidFill>
                  <a:srgbClr val="000000"/>
                </a:solidFill>
                <a:latin typeface="Segoe UI Semibold"/>
                <a:ea typeface="Segoe UI Semibold"/>
                <a:cs typeface="Segoe UI Semibold"/>
              </a:rPr>
              <a:t>MEDIUM</a:t>
            </a:r>
          </a:p>
        </p:txBody>
      </p:sp>
      <p:cxnSp>
        <p:nvCxnSpPr>
          <p:cNvPr id="62" name="Connector 61"/>
          <p:cNvCxnSpPr/>
          <p:nvPr/>
        </p:nvCxnSpPr>
        <p:spPr>
          <a:xfrm>
            <a:off x="13112496" y="4133088"/>
            <a:ext cx="237744" cy="0"/>
          </a:xfrm>
          <a:prstGeom prst="line">
            <a:avLst/>
          </a:prstGeom>
          <a:ln w="15875">
            <a:solidFill>
              <a:srgbClr val="BDBDB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Rectangle 62"/>
          <p:cNvSpPr/>
          <p:nvPr/>
        </p:nvSpPr>
        <p:spPr>
          <a:xfrm>
            <a:off x="13578840" y="3520440"/>
            <a:ext cx="1828800" cy="1234440"/>
          </a:xfrm>
          <a:prstGeom prst="rect">
            <a:avLst/>
          </a:prstGeom>
          <a:solidFill>
            <a:srgbClr val="FFFFFF"/>
          </a:solidFill>
          <a:ln w="158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>
            <a:noAutofit/>
          </a:bodyPr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13761720" y="3630168"/>
            <a:ext cx="1463040" cy="1124712"/>
          </a:xfrm>
          <a:prstGeom prst="rect">
            <a:avLst/>
          </a:prstGeom>
          <a:noFill/>
          <a:ln w="25400">
            <a:solidFill>
              <a:srgbClr val="C241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>
            <a:noAutofit/>
          </a:bodyPr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13441680" y="4846320"/>
            <a:ext cx="210312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2000" b="0" i="0">
                <a:solidFill>
                  <a:srgbClr val="1A1A1A"/>
                </a:solidFill>
                <a:latin typeface="Segoe UI Semibold"/>
                <a:ea typeface="Segoe UI Semibold"/>
                <a:cs typeface="Segoe UI Semibold"/>
              </a:rPr>
              <a:t>Too close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3441680" y="5303520"/>
            <a:ext cx="2103120" cy="11887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5C5C5C"/>
                </a:solidFill>
                <a:latin typeface="Segoe UI"/>
                <a:ea typeface="Segoe UI"/>
                <a:cs typeface="Segoe UI"/>
              </a:rPr>
              <a:t>box over 35% of the frame; not a distance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13921740" y="6492240"/>
            <a:ext cx="1143000" cy="34747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>
            <a:noAutofit/>
          </a:bodyPr>
          <a:lstStyle/>
          <a:p>
            <a:pPr algn="ctr">
              <a:lnSpc>
                <a:spcPct val="100000"/>
              </a:lnSpc>
            </a:pPr>
            <a:r>
              <a:rPr sz="1500" b="0" i="0">
                <a:solidFill>
                  <a:srgbClr val="000000"/>
                </a:solidFill>
                <a:latin typeface="Segoe UI Semibold"/>
                <a:ea typeface="Segoe UI Semibold"/>
                <a:cs typeface="Segoe UI Semibold"/>
              </a:rPr>
              <a:t>LOW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822960" y="7360920"/>
            <a:ext cx="329184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>
            <a:noAutofit/>
          </a:bodyPr>
          <a:lstStyle/>
          <a:p>
            <a:pPr algn="ctr">
              <a:lnSpc>
                <a:spcPct val="100000"/>
              </a:lnSpc>
            </a:pPr>
            <a:r>
              <a:rPr sz="1800" b="0" i="0">
                <a:solidFill>
                  <a:srgbClr val="1A1A1A"/>
                </a:solidFill>
                <a:latin typeface="Segoe UI Semibold"/>
                <a:ea typeface="Segoe UI Semibold"/>
                <a:cs typeface="Segoe UI Semibold"/>
              </a:rPr>
              <a:t>Tamper report</a:t>
            </a:r>
          </a:p>
          <a:p>
            <a:pPr algn="ctr">
              <a:lnSpc>
                <a:spcPct val="100000"/>
              </a:lnSpc>
            </a:pPr>
            <a:r>
              <a:rPr sz="1500" b="0" i="0">
                <a:solidFill>
                  <a:srgbClr val="5C5C5C"/>
                </a:solidFill>
                <a:latin typeface="Segoe UI"/>
                <a:ea typeface="Segoe UI"/>
                <a:cs typeface="Segoe UI"/>
              </a:rPr>
              <a:t>HMAC-SHA256, device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206240" y="7452360"/>
            <a:ext cx="548640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3400" b="0" i="0">
                <a:solidFill>
                  <a:srgbClr val="1A1A1A"/>
                </a:solidFill>
                <a:latin typeface="Bahnschrift SemiBold"/>
                <a:ea typeface="Bahnschrift SemiBold"/>
                <a:cs typeface="Bahnschrift SemiBold"/>
              </a:rPr>
              <a:t>+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4800600" y="7360920"/>
            <a:ext cx="3657600" cy="914400"/>
          </a:xfrm>
          <a:prstGeom prst="roundRect">
            <a:avLst>
              <a:gd name="adj" fmla="val 12000"/>
            </a:avLst>
          </a:prstGeom>
          <a:solidFill>
            <a:srgbClr val="FFE9DB"/>
          </a:solidFill>
          <a:ln w="19050">
            <a:solidFill>
              <a:srgbClr val="FF91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>
            <a:noAutofit/>
          </a:bodyPr>
          <a:lstStyle/>
          <a:p>
            <a:pPr algn="ctr">
              <a:lnSpc>
                <a:spcPct val="100000"/>
              </a:lnSpc>
            </a:pPr>
            <a:r>
              <a:rPr sz="1800" b="0" i="0">
                <a:solidFill>
                  <a:srgbClr val="1A1A1A"/>
                </a:solidFill>
                <a:latin typeface="Segoe UI Semibold"/>
                <a:ea typeface="Segoe UI Semibold"/>
                <a:cs typeface="Segoe UI Semibold"/>
              </a:rPr>
              <a:t>Signed camera interference</a:t>
            </a:r>
          </a:p>
          <a:p>
            <a:pPr algn="ctr">
              <a:lnSpc>
                <a:spcPct val="100000"/>
              </a:lnSpc>
            </a:pPr>
            <a:r>
              <a:rPr sz="1500" b="0" i="0">
                <a:solidFill>
                  <a:srgbClr val="5C5C5C"/>
                </a:solidFill>
                <a:latin typeface="Segoe UI"/>
                <a:ea typeface="Segoe UI"/>
                <a:cs typeface="Segoe UI"/>
              </a:rPr>
              <a:t>occluded, moved or frozen</a:t>
            </a:r>
          </a:p>
        </p:txBody>
      </p:sp>
      <p:cxnSp>
        <p:nvCxnSpPr>
          <p:cNvPr id="71" name="Connector 70"/>
          <p:cNvCxnSpPr/>
          <p:nvPr/>
        </p:nvCxnSpPr>
        <p:spPr>
          <a:xfrm>
            <a:off x="8503920" y="7818120"/>
            <a:ext cx="685800" cy="0"/>
          </a:xfrm>
          <a:prstGeom prst="line">
            <a:avLst/>
          </a:prstGeom>
          <a:ln w="22225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Rounded Rectangle 71"/>
          <p:cNvSpPr/>
          <p:nvPr/>
        </p:nvSpPr>
        <p:spPr>
          <a:xfrm>
            <a:off x="9235440" y="7360920"/>
            <a:ext cx="3566160" cy="914400"/>
          </a:xfrm>
          <a:prstGeom prst="roundRect">
            <a:avLst>
              <a:gd name="adj" fmla="val 12000"/>
            </a:avLst>
          </a:prstGeom>
          <a:solidFill>
            <a:srgbClr val="FF914D"/>
          </a:solidFill>
          <a:ln w="19050">
            <a:solidFill>
              <a:srgbClr val="FF91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>
            <a:noAutofit/>
          </a:bodyPr>
          <a:lstStyle/>
          <a:p>
            <a:pPr algn="ctr">
              <a:lnSpc>
                <a:spcPct val="100000"/>
              </a:lnSpc>
            </a:pPr>
            <a:r>
              <a:rPr sz="1800" b="0" i="0">
                <a:solidFill>
                  <a:srgbClr val="1A1A1A"/>
                </a:solidFill>
                <a:latin typeface="Segoe UI Semibold"/>
                <a:ea typeface="Segoe UI Semibold"/>
                <a:cs typeface="Segoe UI Semibold"/>
              </a:rPr>
              <a:t>Confirmed incident</a:t>
            </a:r>
          </a:p>
          <a:p>
            <a:pPr algn="ctr">
              <a:lnSpc>
                <a:spcPct val="100000"/>
              </a:lnSpc>
            </a:pPr>
            <a:r>
              <a:rPr sz="1500" b="0" i="0">
                <a:solidFill>
                  <a:srgbClr val="000000"/>
                </a:solidFill>
                <a:latin typeface="Segoe UI"/>
                <a:ea typeface="Segoe UI"/>
                <a:cs typeface="Segoe UI"/>
              </a:rPr>
              <a:t>within 60 s → score 30</a:t>
            </a:r>
          </a:p>
        </p:txBody>
      </p:sp>
      <p:cxnSp>
        <p:nvCxnSpPr>
          <p:cNvPr id="73" name="Connector 72"/>
          <p:cNvCxnSpPr/>
          <p:nvPr/>
        </p:nvCxnSpPr>
        <p:spPr>
          <a:xfrm>
            <a:off x="12847320" y="7818120"/>
            <a:ext cx="411480" cy="0"/>
          </a:xfrm>
          <a:prstGeom prst="line">
            <a:avLst/>
          </a:prstGeom>
          <a:ln w="22225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" name="Rounded Rectangle 73"/>
          <p:cNvSpPr/>
          <p:nvPr/>
        </p:nvSpPr>
        <p:spPr>
          <a:xfrm>
            <a:off x="13304520" y="7360920"/>
            <a:ext cx="2331720" cy="914400"/>
          </a:xfrm>
          <a:prstGeom prst="roundRect">
            <a:avLst>
              <a:gd name="adj" fmla="val 12000"/>
            </a:avLst>
          </a:prstGeom>
          <a:solidFill>
            <a:srgbClr val="000000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>
            <a:noAutofit/>
          </a:bodyPr>
          <a:lstStyle/>
          <a:p>
            <a:pPr algn="ctr">
              <a:lnSpc>
                <a:spcPct val="100000"/>
              </a:lnSpc>
            </a:pPr>
            <a:r>
              <a:rPr sz="1800" b="0" i="0">
                <a:solidFill>
                  <a:srgbClr val="FFFFFF"/>
                </a:solidFill>
                <a:latin typeface="Segoe UI Semibold"/>
                <a:ea typeface="Segoe UI Semibold"/>
                <a:cs typeface="Segoe UI Semibold"/>
              </a:rPr>
              <a:t>QUARANTINE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822960" y="8458200"/>
            <a:ext cx="14813280" cy="685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 i="0">
                <a:solidFill>
                  <a:srgbClr val="5C5C5C"/>
                </a:solidFill>
                <a:latin typeface="Segoe UI"/>
                <a:ea typeface="Segoe UI"/>
                <a:cs typeface="Segoe UI"/>
              </a:rPr>
              <a:t>Camera alone: a penalty, never quarantine.  Camera + rule match from the same signer: one modality, so a stolen vision key cannot confirm an incident by itself.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822960" y="9747504"/>
            <a:ext cx="822960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 i="0">
                <a:solidFill>
                  <a:srgbClr val="000000"/>
                </a:solidFill>
                <a:latin typeface="Segoe UI Semibold"/>
                <a:ea typeface="Segoe UI Semibold"/>
                <a:cs typeface="Segoe UI Semibold"/>
              </a:rPr>
              <a:t>Q-SHIELD</a:t>
            </a:r>
            <a:r>
              <a:rPr sz="1500" b="0" i="0">
                <a:solidFill>
                  <a:srgbClr val="000000"/>
                </a:solidFill>
                <a:latin typeface="Segoe UI"/>
                <a:ea typeface="Segoe UI"/>
                <a:cs typeface="Segoe UI"/>
              </a:rPr>
              <a:t>   continuous device trust with post-quantum-signed evidence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3350240" y="9747504"/>
            <a:ext cx="228600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500" b="0" i="0">
                <a:solidFill>
                  <a:srgbClr val="000000"/>
                </a:solidFill>
                <a:latin typeface="Segoe UI"/>
                <a:ea typeface="Segoe UI"/>
                <a:cs typeface="Segoe UI"/>
              </a:rPr>
              <a:t>14 / 24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name="Freeform 2" id="2"/>
          <p:cNvSpPr/>
          <p:nvPr/>
        </p:nvSpPr>
        <p:spPr>
          <a:xfrm flipH="false" flipV="false" rot="0">
            <a:off x="-350872" y="9407052"/>
            <a:ext cx="14979358" cy="908523"/>
          </a:xfrm>
          <a:custGeom>
            <a:avLst/>
            <a:gdLst/>
            <a:ahLst/>
            <a:cxnLst/>
            <a:rect r="r" b="b" t="t" l="l"/>
            <a:pathLst>
              <a:path h="908523" w="14979358">
                <a:moveTo>
                  <a:pt x="0" y="0"/>
                </a:moveTo>
                <a:lnTo>
                  <a:pt x="14979357" y="0"/>
                </a:lnTo>
                <a:lnTo>
                  <a:pt x="14979357" y="908523"/>
                </a:lnTo>
                <a:lnTo>
                  <a:pt x="0" y="90852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2273265" y="1130884"/>
            <a:ext cx="6870735" cy="543077"/>
            <a:chOff x="0" y="0"/>
            <a:chExt cx="9160980" cy="72410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9161018" cy="724154"/>
            </a:xfrm>
            <a:custGeom>
              <a:avLst/>
              <a:gdLst/>
              <a:ahLst/>
              <a:cxnLst/>
              <a:rect r="r" b="b" t="t" l="l"/>
              <a:pathLst>
                <a:path h="724154" w="9161018">
                  <a:moveTo>
                    <a:pt x="0" y="0"/>
                  </a:moveTo>
                  <a:lnTo>
                    <a:pt x="9161018" y="0"/>
                  </a:lnTo>
                  <a:lnTo>
                    <a:pt x="9161018" y="724154"/>
                  </a:lnTo>
                  <a:lnTo>
                    <a:pt x="0" y="72415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914D"/>
            </a:solidFill>
          </p:spPr>
        </p:sp>
      </p:grpSp>
      <p:grpSp>
        <p:nvGrpSpPr>
          <p:cNvPr name="Group 5" id="5"/>
          <p:cNvGrpSpPr/>
          <p:nvPr/>
        </p:nvGrpSpPr>
        <p:grpSpPr>
          <a:xfrm rot="-10800000">
            <a:off x="9124950" y="1130884"/>
            <a:ext cx="6870735" cy="543077"/>
            <a:chOff x="0" y="0"/>
            <a:chExt cx="9160980" cy="724103"/>
          </a:xfrm>
        </p:grpSpPr>
        <p:sp>
          <p:nvSpPr>
            <p:cNvPr name="Freeform 6" id="6"/>
            <p:cNvSpPr/>
            <p:nvPr/>
          </p:nvSpPr>
          <p:spPr>
            <a:xfrm flipH="false" flipV="true" rot="0">
              <a:off x="0" y="0"/>
              <a:ext cx="9161018" cy="724154"/>
            </a:xfrm>
            <a:custGeom>
              <a:avLst/>
              <a:gdLst/>
              <a:ahLst/>
              <a:cxnLst/>
              <a:rect r="r" b="b" t="t" l="l"/>
              <a:pathLst>
                <a:path h="724154" w="9161018">
                  <a:moveTo>
                    <a:pt x="0" y="724154"/>
                  </a:moveTo>
                  <a:lnTo>
                    <a:pt x="9161018" y="724154"/>
                  </a:lnTo>
                  <a:lnTo>
                    <a:pt x="9161018" y="0"/>
                  </a:lnTo>
                  <a:lnTo>
                    <a:pt x="0" y="0"/>
                  </a:lnTo>
                  <a:lnTo>
                    <a:pt x="0" y="724154"/>
                  </a:lnTo>
                  <a:close/>
                </a:path>
              </a:pathLst>
            </a:custGeom>
            <a:solidFill>
              <a:srgbClr val="FF914D"/>
            </a:solidFill>
          </p:spPr>
        </p:sp>
      </p:grpSp>
      <p:grpSp>
        <p:nvGrpSpPr>
          <p:cNvPr name="Group 7" id="7"/>
          <p:cNvGrpSpPr/>
          <p:nvPr/>
        </p:nvGrpSpPr>
        <p:grpSpPr>
          <a:xfrm rot="-10800000">
            <a:off x="-32871" y="1130884"/>
            <a:ext cx="3068079" cy="503739"/>
            <a:chOff x="0" y="0"/>
            <a:chExt cx="4090772" cy="671652"/>
          </a:xfrm>
        </p:grpSpPr>
        <p:sp>
          <p:nvSpPr>
            <p:cNvPr name="Freeform 8" id="8"/>
            <p:cNvSpPr/>
            <p:nvPr/>
          </p:nvSpPr>
          <p:spPr>
            <a:xfrm flipH="false" flipV="true" rot="0">
              <a:off x="0" y="0"/>
              <a:ext cx="4090797" cy="671703"/>
            </a:xfrm>
            <a:custGeom>
              <a:avLst/>
              <a:gdLst/>
              <a:ahLst/>
              <a:cxnLst/>
              <a:rect r="r" b="b" t="t" l="l"/>
              <a:pathLst>
                <a:path h="671703" w="4090797">
                  <a:moveTo>
                    <a:pt x="0" y="671703"/>
                  </a:moveTo>
                  <a:lnTo>
                    <a:pt x="4090797" y="671703"/>
                  </a:lnTo>
                  <a:lnTo>
                    <a:pt x="4090797" y="0"/>
                  </a:lnTo>
                  <a:lnTo>
                    <a:pt x="0" y="0"/>
                  </a:lnTo>
                  <a:lnTo>
                    <a:pt x="0" y="671703"/>
                  </a:lnTo>
                  <a:close/>
                </a:path>
              </a:pathLst>
            </a:custGeom>
            <a:solidFill>
              <a:srgbClr val="FF914D"/>
            </a:solidFill>
          </p:spPr>
        </p:sp>
      </p:grpSp>
      <p:sp>
        <p:nvSpPr>
          <p:cNvPr name="Freeform 9" id="9"/>
          <p:cNvSpPr/>
          <p:nvPr/>
        </p:nvSpPr>
        <p:spPr>
          <a:xfrm flipH="false" flipV="false" rot="-5400000">
            <a:off x="12120564" y="5052657"/>
            <a:ext cx="10084834" cy="2269088"/>
          </a:xfrm>
          <a:custGeom>
            <a:avLst/>
            <a:gdLst/>
            <a:ahLst/>
            <a:cxnLst/>
            <a:rect r="r" b="b" t="t" l="l"/>
            <a:pathLst>
              <a:path h="2269088" w="10084834">
                <a:moveTo>
                  <a:pt x="0" y="0"/>
                </a:moveTo>
                <a:lnTo>
                  <a:pt x="10084834" y="0"/>
                </a:lnTo>
                <a:lnTo>
                  <a:pt x="10084834" y="2269088"/>
                </a:lnTo>
                <a:lnTo>
                  <a:pt x="0" y="226908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-10800000">
            <a:off x="15248496" y="1130884"/>
            <a:ext cx="3068079" cy="503739"/>
            <a:chOff x="0" y="0"/>
            <a:chExt cx="4090772" cy="671652"/>
          </a:xfrm>
        </p:grpSpPr>
        <p:sp>
          <p:nvSpPr>
            <p:cNvPr name="Freeform 11" id="11"/>
            <p:cNvSpPr/>
            <p:nvPr/>
          </p:nvSpPr>
          <p:spPr>
            <a:xfrm flipH="false" flipV="true" rot="0">
              <a:off x="0" y="0"/>
              <a:ext cx="4090797" cy="671703"/>
            </a:xfrm>
            <a:custGeom>
              <a:avLst/>
              <a:gdLst/>
              <a:ahLst/>
              <a:cxnLst/>
              <a:rect r="r" b="b" t="t" l="l"/>
              <a:pathLst>
                <a:path h="671703" w="4090797">
                  <a:moveTo>
                    <a:pt x="0" y="671703"/>
                  </a:moveTo>
                  <a:lnTo>
                    <a:pt x="4090797" y="671703"/>
                  </a:lnTo>
                  <a:lnTo>
                    <a:pt x="4090797" y="0"/>
                  </a:lnTo>
                  <a:lnTo>
                    <a:pt x="0" y="0"/>
                  </a:lnTo>
                  <a:lnTo>
                    <a:pt x="0" y="671703"/>
                  </a:lnTo>
                  <a:close/>
                </a:path>
              </a:pathLst>
            </a:custGeom>
            <a:solidFill>
              <a:srgbClr val="FF914D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5688825" y="96222"/>
            <a:ext cx="2423739" cy="924096"/>
            <a:chOff x="0" y="0"/>
            <a:chExt cx="2307438" cy="879754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307463" cy="879729"/>
            </a:xfrm>
            <a:custGeom>
              <a:avLst/>
              <a:gdLst/>
              <a:ahLst/>
              <a:cxnLst/>
              <a:rect r="r" b="b" t="t" l="l"/>
              <a:pathLst>
                <a:path h="879729" w="2307463">
                  <a:moveTo>
                    <a:pt x="0" y="0"/>
                  </a:moveTo>
                  <a:lnTo>
                    <a:pt x="2307463" y="0"/>
                  </a:lnTo>
                  <a:lnTo>
                    <a:pt x="2307463" y="879729"/>
                  </a:lnTo>
                  <a:lnTo>
                    <a:pt x="0" y="8797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-76294" r="1" b="-85995"/>
              </a:stretch>
            </a:blipFill>
          </p:spPr>
        </p:sp>
      </p:grpSp>
      <p:sp>
        <p:nvSpPr>
          <p:cNvPr name="Freeform 14" id="14"/>
          <p:cNvSpPr/>
          <p:nvPr/>
        </p:nvSpPr>
        <p:spPr>
          <a:xfrm flipH="false" flipV="false" rot="0">
            <a:off x="9857003" y="9407052"/>
            <a:ext cx="14979358" cy="908523"/>
          </a:xfrm>
          <a:custGeom>
            <a:avLst/>
            <a:gdLst/>
            <a:ahLst/>
            <a:cxnLst/>
            <a:rect r="r" b="b" t="t" l="l"/>
            <a:pathLst>
              <a:path h="908523" w="14979358">
                <a:moveTo>
                  <a:pt x="0" y="0"/>
                </a:moveTo>
                <a:lnTo>
                  <a:pt x="14979358" y="0"/>
                </a:lnTo>
                <a:lnTo>
                  <a:pt x="14979358" y="908523"/>
                </a:lnTo>
                <a:lnTo>
                  <a:pt x="0" y="90852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252268" y="89049"/>
            <a:ext cx="2497801" cy="1034663"/>
          </a:xfrm>
          <a:custGeom>
            <a:avLst/>
            <a:gdLst/>
            <a:ahLst/>
            <a:cxnLst/>
            <a:rect r="r" b="b" t="t" l="l"/>
            <a:pathLst>
              <a:path h="1034663" w="2497801">
                <a:moveTo>
                  <a:pt x="0" y="0"/>
                </a:moveTo>
                <a:lnTo>
                  <a:pt x="2497801" y="0"/>
                </a:lnTo>
                <a:lnTo>
                  <a:pt x="2497801" y="1034663"/>
                </a:lnTo>
                <a:lnTo>
                  <a:pt x="0" y="103466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5988" t="-27243" r="-4375" b="-52819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6236411" y="74654"/>
            <a:ext cx="5815177" cy="987762"/>
          </a:xfrm>
          <a:custGeom>
            <a:avLst/>
            <a:gdLst/>
            <a:ahLst/>
            <a:cxnLst/>
            <a:rect r="r" b="b" t="t" l="l"/>
            <a:pathLst>
              <a:path h="987762" w="5815177">
                <a:moveTo>
                  <a:pt x="0" y="0"/>
                </a:moveTo>
                <a:lnTo>
                  <a:pt x="5815178" y="0"/>
                </a:lnTo>
                <a:lnTo>
                  <a:pt x="5815178" y="987762"/>
                </a:lnTo>
                <a:lnTo>
                  <a:pt x="0" y="987762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-11062" t="-153011" r="-9149" b="-154810"/>
            </a:stretch>
          </a:blipFill>
        </p:spPr>
      </p:sp>
      <p:sp>
        <p:nvSpPr>
          <p:cNvPr id="20" name="TextBox 19"/>
          <p:cNvSpPr txBox="1"/>
          <p:nvPr/>
        </p:nvSpPr>
        <p:spPr>
          <a:xfrm>
            <a:off x="822960" y="1810512"/>
            <a:ext cx="10972800" cy="3291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 i="0">
                <a:solidFill>
                  <a:srgbClr val="C2410C"/>
                </a:solidFill>
                <a:latin typeface="Segoe UI Semibold"/>
                <a:ea typeface="Segoe UI Semibold"/>
                <a:cs typeface="Segoe UI Semibold"/>
              </a:rPr>
              <a:t>4. Technical Design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2084832"/>
            <a:ext cx="14813280" cy="7315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4000" b="0" i="0">
                <a:solidFill>
                  <a:srgbClr val="000000"/>
                </a:solidFill>
                <a:latin typeface="Bahnschrift SemiBold"/>
                <a:ea typeface="Bahnschrift SemiBold"/>
                <a:cs typeface="Bahnschrift SemiBold"/>
              </a:rPr>
              <a:t>Digital twin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2761488"/>
            <a:ext cx="1481328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100" b="0" i="0">
                <a:solidFill>
                  <a:srgbClr val="5C5C5C"/>
                </a:solidFill>
                <a:latin typeface="Segoe UI"/>
                <a:ea typeface="Segoe UI"/>
                <a:cs typeface="Segoe UI"/>
              </a:rPr>
              <a:t>Expected state, set by an operator, against what the device reports (authenticated)</a:t>
            </a:r>
          </a:p>
        </p:txBody>
      </p:sp>
      <p:sp>
        <p:nvSpPr>
          <p:cNvPr id="23" name="Oval 22"/>
          <p:cNvSpPr/>
          <p:nvPr/>
        </p:nvSpPr>
        <p:spPr>
          <a:xfrm>
            <a:off x="822960" y="3246120"/>
            <a:ext cx="128016" cy="128016"/>
          </a:xfrm>
          <a:prstGeom prst="ellipse">
            <a:avLst/>
          </a:prstGeom>
          <a:solidFill>
            <a:srgbClr val="FFFFFF"/>
          </a:solidFill>
          <a:ln w="22225">
            <a:solidFill>
              <a:srgbClr val="FF91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4" name="Connector 23"/>
          <p:cNvCxnSpPr/>
          <p:nvPr/>
        </p:nvCxnSpPr>
        <p:spPr>
          <a:xfrm>
            <a:off x="950976" y="3310128"/>
            <a:ext cx="1335024" cy="0"/>
          </a:xfrm>
          <a:prstGeom prst="line">
            <a:avLst/>
          </a:prstGeom>
          <a:ln w="22225">
            <a:solidFill>
              <a:srgbClr val="FF91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1005840" y="3520440"/>
            <a:ext cx="214884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 i="0">
                <a:solidFill>
                  <a:srgbClr val="5C5C5C"/>
                </a:solidFill>
                <a:latin typeface="Segoe UI Semibold"/>
                <a:ea typeface="Segoe UI Semibold"/>
                <a:cs typeface="Segoe UI Semibold"/>
              </a:rPr>
              <a:t>Field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91840" y="3520440"/>
            <a:ext cx="342900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 i="0">
                <a:solidFill>
                  <a:srgbClr val="5C5C5C"/>
                </a:solidFill>
                <a:latin typeface="Segoe UI Semibold"/>
                <a:ea typeface="Segoe UI Semibold"/>
                <a:cs typeface="Segoe UI Semibold"/>
              </a:rPr>
              <a:t>Expected (operator)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0" y="3520440"/>
            <a:ext cx="379476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 i="0">
                <a:solidFill>
                  <a:srgbClr val="5C5C5C"/>
                </a:solidFill>
                <a:latin typeface="Segoe UI Semibold"/>
                <a:ea typeface="Segoe UI Semibold"/>
                <a:cs typeface="Segoe UI Semibold"/>
              </a:rPr>
              <a:t>Observed (device report)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789920" y="3520440"/>
            <a:ext cx="164592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 i="0">
                <a:solidFill>
                  <a:srgbClr val="5C5C5C"/>
                </a:solidFill>
                <a:latin typeface="Segoe UI Semibold"/>
                <a:ea typeface="Segoe UI Semibold"/>
                <a:cs typeface="Segoe UI Semibold"/>
              </a:rPr>
              <a:t>Verdict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1005840" y="3931920"/>
            <a:ext cx="11567160" cy="0"/>
          </a:xfrm>
          <a:prstGeom prst="line">
            <a:avLst/>
          </a:prstGeom>
          <a:ln w="158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1005840" y="4023360"/>
            <a:ext cx="2103120" cy="8229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1A1A1A"/>
                </a:solidFill>
                <a:latin typeface="Segoe UI Semibold"/>
                <a:ea typeface="Segoe UI Semibold"/>
                <a:cs typeface="Segoe UI Semibold"/>
              </a:rPr>
              <a:t>Firmware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291840" y="4023360"/>
            <a:ext cx="3383280" cy="8229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agent-0.1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0" y="4023360"/>
            <a:ext cx="3749040" cy="8229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agent-0.1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789920" y="4023360"/>
            <a:ext cx="1600200" cy="8229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1A1A1A"/>
                </a:solidFill>
                <a:latin typeface="Segoe UI Semibold"/>
                <a:ea typeface="Segoe UI Semibold"/>
                <a:cs typeface="Segoe UI Semibold"/>
              </a:rPr>
              <a:t>MATCH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1005840" y="4846320"/>
            <a:ext cx="11567160" cy="0"/>
          </a:xfrm>
          <a:prstGeom prst="line">
            <a:avLst/>
          </a:prstGeom>
          <a:ln w="9525">
            <a:solidFill>
              <a:srgbClr val="BDBD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ectangle 34"/>
          <p:cNvSpPr/>
          <p:nvPr/>
        </p:nvSpPr>
        <p:spPr>
          <a:xfrm>
            <a:off x="841248" y="4901184"/>
            <a:ext cx="73152" cy="676656"/>
          </a:xfrm>
          <a:prstGeom prst="rect">
            <a:avLst/>
          </a:prstGeom>
          <a:solidFill>
            <a:srgbClr val="FF91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>
            <a:noAutofit/>
          </a:bodyPr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05840" y="4846320"/>
            <a:ext cx="2103120" cy="8229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1A1A1A"/>
                </a:solidFill>
                <a:latin typeface="Segoe UI Semibold"/>
                <a:ea typeface="Segoe UI Semibold"/>
                <a:cs typeface="Segoe UI Semibold"/>
              </a:rPr>
              <a:t>Configuration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291840" y="4846320"/>
            <a:ext cx="3383280" cy="8229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cfg-good-1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858000" y="4846320"/>
            <a:ext cx="3749040" cy="8229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cfg-tampered-0000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789920" y="4846320"/>
            <a:ext cx="1600200" cy="8229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C2410C"/>
                </a:solidFill>
                <a:latin typeface="Segoe UI Semibold"/>
                <a:ea typeface="Segoe UI Semibold"/>
                <a:cs typeface="Segoe UI Semibold"/>
              </a:rPr>
              <a:t>MISMATCH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1005840" y="5669280"/>
            <a:ext cx="11567160" cy="0"/>
          </a:xfrm>
          <a:prstGeom prst="line">
            <a:avLst/>
          </a:prstGeom>
          <a:ln w="9525">
            <a:solidFill>
              <a:srgbClr val="BDBD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1005840" y="5669280"/>
            <a:ext cx="2103120" cy="8229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1A1A1A"/>
                </a:solidFill>
                <a:latin typeface="Segoe UI Semibold"/>
                <a:ea typeface="Segoe UI Semibold"/>
                <a:cs typeface="Segoe UI Semibold"/>
              </a:rPr>
              <a:t>Capabilities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291840" y="5669280"/>
            <a:ext cx="3383280" cy="8229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tamper, temperature, vibration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58000" y="5669280"/>
            <a:ext cx="3749040" cy="8229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tamper, temperature, vibration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789920" y="5669280"/>
            <a:ext cx="1600200" cy="8229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1A1A1A"/>
                </a:solidFill>
                <a:latin typeface="Segoe UI Semibold"/>
                <a:ea typeface="Segoe UI Semibold"/>
                <a:cs typeface="Segoe UI Semibold"/>
              </a:rPr>
              <a:t>MATCH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1005840" y="6492240"/>
            <a:ext cx="11567160" cy="0"/>
          </a:xfrm>
          <a:prstGeom prst="line">
            <a:avLst/>
          </a:prstGeom>
          <a:ln w="9525">
            <a:solidFill>
              <a:srgbClr val="BDBD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1005840" y="6492240"/>
            <a:ext cx="2103120" cy="8229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1A1A1A"/>
                </a:solidFill>
                <a:latin typeface="Segoe UI Semibold"/>
                <a:ea typeface="Segoe UI Semibold"/>
                <a:cs typeface="Segoe UI Semibold"/>
              </a:rPr>
              <a:t>Temperature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291840" y="6492240"/>
            <a:ext cx="3383280" cy="8229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−20 to 60 °C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858000" y="6492240"/>
            <a:ext cx="3749040" cy="8229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27.4 °C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789920" y="6492240"/>
            <a:ext cx="1600200" cy="8229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1A1A1A"/>
                </a:solidFill>
                <a:latin typeface="Segoe UI Semibold"/>
                <a:ea typeface="Segoe UI Semibold"/>
                <a:cs typeface="Segoe UI Semibold"/>
              </a:rPr>
              <a:t>MATCH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1005840" y="7315200"/>
            <a:ext cx="11567160" cy="0"/>
          </a:xfrm>
          <a:prstGeom prst="line">
            <a:avLst/>
          </a:prstGeom>
          <a:ln w="9525">
            <a:solidFill>
              <a:srgbClr val="BDBD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Rectangle 50"/>
          <p:cNvSpPr/>
          <p:nvPr/>
        </p:nvSpPr>
        <p:spPr>
          <a:xfrm>
            <a:off x="841248" y="7370064"/>
            <a:ext cx="73152" cy="676656"/>
          </a:xfrm>
          <a:prstGeom prst="rect">
            <a:avLst/>
          </a:prstGeom>
          <a:solidFill>
            <a:srgbClr val="FF91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>
            <a:noAutofit/>
          </a:bodyPr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005840" y="7315200"/>
            <a:ext cx="2103120" cy="8229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1A1A1A"/>
                </a:solidFill>
                <a:latin typeface="Segoe UI Semibold"/>
                <a:ea typeface="Segoe UI Semibold"/>
                <a:cs typeface="Segoe UI Semibold"/>
              </a:rPr>
              <a:t>Tamper state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291840" y="7315200"/>
            <a:ext cx="3383280" cy="8229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closed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858000" y="7315200"/>
            <a:ext cx="3749040" cy="8229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open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789920" y="7315200"/>
            <a:ext cx="1600200" cy="8229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C2410C"/>
                </a:solidFill>
                <a:latin typeface="Segoe UI Semibold"/>
                <a:ea typeface="Segoe UI Semibold"/>
                <a:cs typeface="Segoe UI Semibold"/>
              </a:rPr>
              <a:t>MISMATCH</a:t>
            </a:r>
          </a:p>
        </p:txBody>
      </p:sp>
      <p:cxnSp>
        <p:nvCxnSpPr>
          <p:cNvPr id="56" name="Connector 55"/>
          <p:cNvCxnSpPr/>
          <p:nvPr/>
        </p:nvCxnSpPr>
        <p:spPr>
          <a:xfrm>
            <a:off x="1005840" y="8138160"/>
            <a:ext cx="11567160" cy="0"/>
          </a:xfrm>
          <a:prstGeom prst="line">
            <a:avLst/>
          </a:prstGeom>
          <a:ln w="9525">
            <a:solidFill>
              <a:srgbClr val="BDBD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TextBox 56"/>
          <p:cNvSpPr txBox="1"/>
          <p:nvPr/>
        </p:nvSpPr>
        <p:spPr>
          <a:xfrm>
            <a:off x="13167360" y="3520440"/>
            <a:ext cx="2468880" cy="53949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  <a:spcAft>
                <a:spcPts val="800"/>
              </a:spcAft>
            </a:pPr>
            <a:r>
              <a:rPr sz="1700" b="0" i="0">
                <a:solidFill>
                  <a:srgbClr val="1A1A1A"/>
                </a:solidFill>
                <a:latin typeface="Segoe UI Semibold"/>
                <a:ea typeface="Segoe UI Semibold"/>
                <a:cs typeface="Segoe UI Semibold"/>
              </a:rPr>
              <a:t>How it is used</a:t>
            </a:r>
          </a:p>
          <a:p>
            <a:pPr algn="l" marL="292608" indent="-292608">
              <a:lnSpc>
                <a:spcPct val="108000"/>
              </a:lnSpc>
              <a:spcAft>
                <a:spcPts val="400"/>
              </a:spcAft>
              <a:buClr>
                <a:srgbClr val="FF914D"/>
              </a:buClr>
              <a:buSzPct val="70000"/>
              <a:buFont typeface="Arial"/>
              <a:buChar char="■"/>
            </a:pPr>
            <a:r>
              <a:rPr sz="1600" b="0" i="0">
                <a:solidFill>
                  <a:srgbClr val="1A1A1A"/>
                </a:solidFill>
                <a:latin typeface="Segoe UI"/>
                <a:ea typeface="Segoe UI"/>
                <a:cs typeface="Segoe UI"/>
              </a:rPr>
              <a:t>overrides the global trust expectations per device</a:t>
            </a:r>
          </a:p>
          <a:p>
            <a:pPr algn="l" marL="292608" indent="-292608">
              <a:lnSpc>
                <a:spcPct val="108000"/>
              </a:lnSpc>
              <a:spcAft>
                <a:spcPts val="400"/>
              </a:spcAft>
              <a:buClr>
                <a:srgbClr val="FF914D"/>
              </a:buClr>
              <a:buSzPct val="70000"/>
              <a:buFont typeface="Arial"/>
              <a:buChar char="■"/>
            </a:pPr>
            <a:r>
              <a:rPr sz="1600" b="0" i="0">
                <a:solidFill>
                  <a:srgbClr val="1A1A1A"/>
                </a:solidFill>
                <a:latin typeface="Segoe UI"/>
                <a:ea typeface="Segoe UI"/>
                <a:cs typeface="Segoe UI"/>
              </a:rPr>
              <a:t>recovery checks judge each report on its own content</a:t>
            </a:r>
          </a:p>
          <a:p>
            <a:pPr algn="l" marL="292608" indent="-292608">
              <a:lnSpc>
                <a:spcPct val="108000"/>
              </a:lnSpc>
              <a:spcAft>
                <a:spcPts val="1200"/>
              </a:spcAft>
              <a:buClr>
                <a:srgbClr val="FF914D"/>
              </a:buClr>
              <a:buSzPct val="70000"/>
              <a:buFont typeface="Arial"/>
              <a:buChar char="■"/>
            </a:pPr>
            <a:r>
              <a:rPr sz="1600" b="0" i="0">
                <a:solidFill>
                  <a:srgbClr val="1A1A1A"/>
                </a:solidFill>
                <a:latin typeface="Segoe UI"/>
                <a:ea typeface="Segoe UI"/>
                <a:cs typeface="Segoe UI"/>
              </a:rPr>
              <a:t>the known-good state is frozen during recovery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 i="0">
                <a:solidFill>
                  <a:srgbClr val="C2410C"/>
                </a:solidFill>
                <a:latin typeface="Segoe UI Semibold"/>
                <a:ea typeface="Segoe UI Semibold"/>
                <a:cs typeface="Segoe UI Semibold"/>
              </a:rPr>
              <a:t>A match is evidence, not attestation.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22960" y="9747504"/>
            <a:ext cx="822960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 i="0">
                <a:solidFill>
                  <a:srgbClr val="000000"/>
                </a:solidFill>
                <a:latin typeface="Segoe UI Semibold"/>
                <a:ea typeface="Segoe UI Semibold"/>
                <a:cs typeface="Segoe UI Semibold"/>
              </a:rPr>
              <a:t>Q-SHIELD</a:t>
            </a:r>
            <a:r>
              <a:rPr sz="1500" b="0" i="0">
                <a:solidFill>
                  <a:srgbClr val="000000"/>
                </a:solidFill>
                <a:latin typeface="Segoe UI"/>
                <a:ea typeface="Segoe UI"/>
                <a:cs typeface="Segoe UI"/>
              </a:rPr>
              <a:t>   continuous device trust with post-quantum-signed evidence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3350240" y="9747504"/>
            <a:ext cx="228600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500" b="0" i="0">
                <a:solidFill>
                  <a:srgbClr val="000000"/>
                </a:solidFill>
                <a:latin typeface="Segoe UI"/>
                <a:ea typeface="Segoe UI"/>
                <a:cs typeface="Segoe UI"/>
              </a:rPr>
              <a:t>15 / 24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name="Freeform 2" id="2"/>
          <p:cNvSpPr/>
          <p:nvPr/>
        </p:nvSpPr>
        <p:spPr>
          <a:xfrm flipH="false" flipV="false" rot="0">
            <a:off x="-350872" y="9407052"/>
            <a:ext cx="14979358" cy="908523"/>
          </a:xfrm>
          <a:custGeom>
            <a:avLst/>
            <a:gdLst/>
            <a:ahLst/>
            <a:cxnLst/>
            <a:rect r="r" b="b" t="t" l="l"/>
            <a:pathLst>
              <a:path h="908523" w="14979358">
                <a:moveTo>
                  <a:pt x="0" y="0"/>
                </a:moveTo>
                <a:lnTo>
                  <a:pt x="14979357" y="0"/>
                </a:lnTo>
                <a:lnTo>
                  <a:pt x="14979357" y="908523"/>
                </a:lnTo>
                <a:lnTo>
                  <a:pt x="0" y="90852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2273265" y="1130884"/>
            <a:ext cx="6870735" cy="543077"/>
            <a:chOff x="0" y="0"/>
            <a:chExt cx="9160980" cy="72410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9161018" cy="724154"/>
            </a:xfrm>
            <a:custGeom>
              <a:avLst/>
              <a:gdLst/>
              <a:ahLst/>
              <a:cxnLst/>
              <a:rect r="r" b="b" t="t" l="l"/>
              <a:pathLst>
                <a:path h="724154" w="9161018">
                  <a:moveTo>
                    <a:pt x="0" y="0"/>
                  </a:moveTo>
                  <a:lnTo>
                    <a:pt x="9161018" y="0"/>
                  </a:lnTo>
                  <a:lnTo>
                    <a:pt x="9161018" y="724154"/>
                  </a:lnTo>
                  <a:lnTo>
                    <a:pt x="0" y="72415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914D"/>
            </a:solidFill>
          </p:spPr>
        </p:sp>
      </p:grpSp>
      <p:grpSp>
        <p:nvGrpSpPr>
          <p:cNvPr name="Group 5" id="5"/>
          <p:cNvGrpSpPr/>
          <p:nvPr/>
        </p:nvGrpSpPr>
        <p:grpSpPr>
          <a:xfrm rot="-10800000">
            <a:off x="9124950" y="1130884"/>
            <a:ext cx="6870735" cy="543077"/>
            <a:chOff x="0" y="0"/>
            <a:chExt cx="9160980" cy="724103"/>
          </a:xfrm>
        </p:grpSpPr>
        <p:sp>
          <p:nvSpPr>
            <p:cNvPr name="Freeform 6" id="6"/>
            <p:cNvSpPr/>
            <p:nvPr/>
          </p:nvSpPr>
          <p:spPr>
            <a:xfrm flipH="false" flipV="true" rot="0">
              <a:off x="0" y="0"/>
              <a:ext cx="9161018" cy="724154"/>
            </a:xfrm>
            <a:custGeom>
              <a:avLst/>
              <a:gdLst/>
              <a:ahLst/>
              <a:cxnLst/>
              <a:rect r="r" b="b" t="t" l="l"/>
              <a:pathLst>
                <a:path h="724154" w="9161018">
                  <a:moveTo>
                    <a:pt x="0" y="724154"/>
                  </a:moveTo>
                  <a:lnTo>
                    <a:pt x="9161018" y="724154"/>
                  </a:lnTo>
                  <a:lnTo>
                    <a:pt x="9161018" y="0"/>
                  </a:lnTo>
                  <a:lnTo>
                    <a:pt x="0" y="0"/>
                  </a:lnTo>
                  <a:lnTo>
                    <a:pt x="0" y="724154"/>
                  </a:lnTo>
                  <a:close/>
                </a:path>
              </a:pathLst>
            </a:custGeom>
            <a:solidFill>
              <a:srgbClr val="FF914D"/>
            </a:solidFill>
          </p:spPr>
        </p:sp>
      </p:grpSp>
      <p:grpSp>
        <p:nvGrpSpPr>
          <p:cNvPr name="Group 7" id="7"/>
          <p:cNvGrpSpPr/>
          <p:nvPr/>
        </p:nvGrpSpPr>
        <p:grpSpPr>
          <a:xfrm rot="-10800000">
            <a:off x="-32871" y="1130884"/>
            <a:ext cx="3068079" cy="503739"/>
            <a:chOff x="0" y="0"/>
            <a:chExt cx="4090772" cy="671652"/>
          </a:xfrm>
        </p:grpSpPr>
        <p:sp>
          <p:nvSpPr>
            <p:cNvPr name="Freeform 8" id="8"/>
            <p:cNvSpPr/>
            <p:nvPr/>
          </p:nvSpPr>
          <p:spPr>
            <a:xfrm flipH="false" flipV="true" rot="0">
              <a:off x="0" y="0"/>
              <a:ext cx="4090797" cy="671703"/>
            </a:xfrm>
            <a:custGeom>
              <a:avLst/>
              <a:gdLst/>
              <a:ahLst/>
              <a:cxnLst/>
              <a:rect r="r" b="b" t="t" l="l"/>
              <a:pathLst>
                <a:path h="671703" w="4090797">
                  <a:moveTo>
                    <a:pt x="0" y="671703"/>
                  </a:moveTo>
                  <a:lnTo>
                    <a:pt x="4090797" y="671703"/>
                  </a:lnTo>
                  <a:lnTo>
                    <a:pt x="4090797" y="0"/>
                  </a:lnTo>
                  <a:lnTo>
                    <a:pt x="0" y="0"/>
                  </a:lnTo>
                  <a:lnTo>
                    <a:pt x="0" y="671703"/>
                  </a:lnTo>
                  <a:close/>
                </a:path>
              </a:pathLst>
            </a:custGeom>
            <a:solidFill>
              <a:srgbClr val="FF914D"/>
            </a:solidFill>
          </p:spPr>
        </p:sp>
      </p:grpSp>
      <p:sp>
        <p:nvSpPr>
          <p:cNvPr name="Freeform 9" id="9"/>
          <p:cNvSpPr/>
          <p:nvPr/>
        </p:nvSpPr>
        <p:spPr>
          <a:xfrm flipH="false" flipV="false" rot="-5400000">
            <a:off x="12120564" y="5052657"/>
            <a:ext cx="10084834" cy="2269088"/>
          </a:xfrm>
          <a:custGeom>
            <a:avLst/>
            <a:gdLst/>
            <a:ahLst/>
            <a:cxnLst/>
            <a:rect r="r" b="b" t="t" l="l"/>
            <a:pathLst>
              <a:path h="2269088" w="10084834">
                <a:moveTo>
                  <a:pt x="0" y="0"/>
                </a:moveTo>
                <a:lnTo>
                  <a:pt x="10084834" y="0"/>
                </a:lnTo>
                <a:lnTo>
                  <a:pt x="10084834" y="2269088"/>
                </a:lnTo>
                <a:lnTo>
                  <a:pt x="0" y="226908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-10800000">
            <a:off x="15248496" y="1130884"/>
            <a:ext cx="3068079" cy="503739"/>
            <a:chOff x="0" y="0"/>
            <a:chExt cx="4090772" cy="671652"/>
          </a:xfrm>
        </p:grpSpPr>
        <p:sp>
          <p:nvSpPr>
            <p:cNvPr name="Freeform 11" id="11"/>
            <p:cNvSpPr/>
            <p:nvPr/>
          </p:nvSpPr>
          <p:spPr>
            <a:xfrm flipH="false" flipV="true" rot="0">
              <a:off x="0" y="0"/>
              <a:ext cx="4090797" cy="671703"/>
            </a:xfrm>
            <a:custGeom>
              <a:avLst/>
              <a:gdLst/>
              <a:ahLst/>
              <a:cxnLst/>
              <a:rect r="r" b="b" t="t" l="l"/>
              <a:pathLst>
                <a:path h="671703" w="4090797">
                  <a:moveTo>
                    <a:pt x="0" y="671703"/>
                  </a:moveTo>
                  <a:lnTo>
                    <a:pt x="4090797" y="671703"/>
                  </a:lnTo>
                  <a:lnTo>
                    <a:pt x="4090797" y="0"/>
                  </a:lnTo>
                  <a:lnTo>
                    <a:pt x="0" y="0"/>
                  </a:lnTo>
                  <a:lnTo>
                    <a:pt x="0" y="671703"/>
                  </a:lnTo>
                  <a:close/>
                </a:path>
              </a:pathLst>
            </a:custGeom>
            <a:solidFill>
              <a:srgbClr val="FF914D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5688825" y="96222"/>
            <a:ext cx="2423739" cy="924096"/>
            <a:chOff x="0" y="0"/>
            <a:chExt cx="2307438" cy="879754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307463" cy="879729"/>
            </a:xfrm>
            <a:custGeom>
              <a:avLst/>
              <a:gdLst/>
              <a:ahLst/>
              <a:cxnLst/>
              <a:rect r="r" b="b" t="t" l="l"/>
              <a:pathLst>
                <a:path h="879729" w="2307463">
                  <a:moveTo>
                    <a:pt x="0" y="0"/>
                  </a:moveTo>
                  <a:lnTo>
                    <a:pt x="2307463" y="0"/>
                  </a:lnTo>
                  <a:lnTo>
                    <a:pt x="2307463" y="879729"/>
                  </a:lnTo>
                  <a:lnTo>
                    <a:pt x="0" y="8797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-76294" r="1" b="-85995"/>
              </a:stretch>
            </a:blipFill>
          </p:spPr>
        </p:sp>
      </p:grpSp>
      <p:sp>
        <p:nvSpPr>
          <p:cNvPr name="Freeform 14" id="14"/>
          <p:cNvSpPr/>
          <p:nvPr/>
        </p:nvSpPr>
        <p:spPr>
          <a:xfrm flipH="false" flipV="false" rot="0">
            <a:off x="9857003" y="9407052"/>
            <a:ext cx="14979358" cy="908523"/>
          </a:xfrm>
          <a:custGeom>
            <a:avLst/>
            <a:gdLst/>
            <a:ahLst/>
            <a:cxnLst/>
            <a:rect r="r" b="b" t="t" l="l"/>
            <a:pathLst>
              <a:path h="908523" w="14979358">
                <a:moveTo>
                  <a:pt x="0" y="0"/>
                </a:moveTo>
                <a:lnTo>
                  <a:pt x="14979358" y="0"/>
                </a:lnTo>
                <a:lnTo>
                  <a:pt x="14979358" y="908523"/>
                </a:lnTo>
                <a:lnTo>
                  <a:pt x="0" y="90852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252268" y="89049"/>
            <a:ext cx="2497801" cy="1034663"/>
          </a:xfrm>
          <a:custGeom>
            <a:avLst/>
            <a:gdLst/>
            <a:ahLst/>
            <a:cxnLst/>
            <a:rect r="r" b="b" t="t" l="l"/>
            <a:pathLst>
              <a:path h="1034663" w="2497801">
                <a:moveTo>
                  <a:pt x="0" y="0"/>
                </a:moveTo>
                <a:lnTo>
                  <a:pt x="2497801" y="0"/>
                </a:lnTo>
                <a:lnTo>
                  <a:pt x="2497801" y="1034663"/>
                </a:lnTo>
                <a:lnTo>
                  <a:pt x="0" y="103466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5988" t="-27243" r="-4375" b="-52819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6236411" y="74654"/>
            <a:ext cx="5815177" cy="987762"/>
          </a:xfrm>
          <a:custGeom>
            <a:avLst/>
            <a:gdLst/>
            <a:ahLst/>
            <a:cxnLst/>
            <a:rect r="r" b="b" t="t" l="l"/>
            <a:pathLst>
              <a:path h="987762" w="5815177">
                <a:moveTo>
                  <a:pt x="0" y="0"/>
                </a:moveTo>
                <a:lnTo>
                  <a:pt x="5815178" y="0"/>
                </a:lnTo>
                <a:lnTo>
                  <a:pt x="5815178" y="987762"/>
                </a:lnTo>
                <a:lnTo>
                  <a:pt x="0" y="987762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-11062" t="-153011" r="-9149" b="-154810"/>
            </a:stretch>
          </a:blipFill>
        </p:spPr>
      </p:sp>
      <p:sp>
        <p:nvSpPr>
          <p:cNvPr id="20" name="TextBox 19"/>
          <p:cNvSpPr txBox="1"/>
          <p:nvPr/>
        </p:nvSpPr>
        <p:spPr>
          <a:xfrm>
            <a:off x="822960" y="1810512"/>
            <a:ext cx="10972800" cy="3291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 i="0">
                <a:solidFill>
                  <a:srgbClr val="C2410C"/>
                </a:solidFill>
                <a:latin typeface="Segoe UI Semibold"/>
                <a:ea typeface="Segoe UI Semibold"/>
                <a:cs typeface="Segoe UI Semibold"/>
              </a:rPr>
              <a:t>4. Technical Design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2084832"/>
            <a:ext cx="14813280" cy="7315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4000" b="0" i="0">
                <a:solidFill>
                  <a:srgbClr val="000000"/>
                </a:solidFill>
                <a:latin typeface="Bahnschrift SemiBold"/>
                <a:ea typeface="Bahnschrift SemiBold"/>
                <a:cs typeface="Bahnschrift SemiBold"/>
              </a:rPr>
              <a:t>Evidence chain and forensics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2761488"/>
            <a:ext cx="1481328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100" b="0" i="0">
                <a:solidFill>
                  <a:srgbClr val="5C5C5C"/>
                </a:solidFill>
                <a:latin typeface="Segoe UI"/>
                <a:ea typeface="Segoe UI"/>
                <a:cs typeface="Segoe UI"/>
              </a:rPr>
              <a:t>Every decision is linked by SHA-256 and signed with ML-DSA-65</a:t>
            </a:r>
          </a:p>
        </p:txBody>
      </p:sp>
      <p:sp>
        <p:nvSpPr>
          <p:cNvPr id="23" name="Oval 22"/>
          <p:cNvSpPr/>
          <p:nvPr/>
        </p:nvSpPr>
        <p:spPr>
          <a:xfrm>
            <a:off x="822960" y="3246120"/>
            <a:ext cx="128016" cy="128016"/>
          </a:xfrm>
          <a:prstGeom prst="ellipse">
            <a:avLst/>
          </a:prstGeom>
          <a:solidFill>
            <a:srgbClr val="FFFFFF"/>
          </a:solidFill>
          <a:ln w="22225">
            <a:solidFill>
              <a:srgbClr val="FF91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4" name="Connector 23"/>
          <p:cNvCxnSpPr/>
          <p:nvPr/>
        </p:nvCxnSpPr>
        <p:spPr>
          <a:xfrm>
            <a:off x="950976" y="3310128"/>
            <a:ext cx="1335024" cy="0"/>
          </a:xfrm>
          <a:prstGeom prst="line">
            <a:avLst/>
          </a:prstGeom>
          <a:ln w="22225">
            <a:solidFill>
              <a:srgbClr val="FF91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 24"/>
          <p:cNvSpPr/>
          <p:nvPr/>
        </p:nvSpPr>
        <p:spPr>
          <a:xfrm>
            <a:off x="822960" y="3566160"/>
            <a:ext cx="4023360" cy="187452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>
            <a:noAutofit/>
          </a:bodyPr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51560" y="3657600"/>
            <a:ext cx="365760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000" b="0" i="0">
                <a:solidFill>
                  <a:srgbClr val="1A1A1A"/>
                </a:solidFill>
                <a:latin typeface="Segoe UI Semibold"/>
                <a:ea typeface="Segoe UI Semibold"/>
                <a:cs typeface="Segoe UI Semibold"/>
              </a:rPr>
              <a:t>Event 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1560" y="4114800"/>
            <a:ext cx="3657600" cy="1554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0" i="0">
                <a:solidFill>
                  <a:srgbClr val="5C5C5C"/>
                </a:solidFill>
                <a:latin typeface="Consolas"/>
                <a:ea typeface="Consolas"/>
                <a:cs typeface="Consolas"/>
              </a:rPr>
              <a:t>prev_hash  </a:t>
            </a:r>
            <a:r>
              <a:rPr sz="1700" b="0" i="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h(N−1)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0" i="0">
                <a:solidFill>
                  <a:srgbClr val="5C5C5C"/>
                </a:solidFill>
                <a:latin typeface="Consolas"/>
                <a:ea typeface="Consolas"/>
                <a:cs typeface="Consolas"/>
              </a:rPr>
              <a:t>event_hash </a:t>
            </a:r>
            <a:r>
              <a:rPr sz="1700" b="0" i="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h(N)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0" i="0">
                <a:solidFill>
                  <a:srgbClr val="5C5C5C"/>
                </a:solidFill>
                <a:latin typeface="Consolas"/>
                <a:ea typeface="Consolas"/>
                <a:cs typeface="Consolas"/>
              </a:rPr>
              <a:t>signature  </a:t>
            </a:r>
            <a:r>
              <a:rPr sz="1700" b="0" i="0">
                <a:solidFill>
                  <a:srgbClr val="C2410C"/>
                </a:solidFill>
                <a:latin typeface="Consolas"/>
                <a:ea typeface="Consolas"/>
                <a:cs typeface="Consolas"/>
              </a:rPr>
              <a:t>ML-DSA-65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4892040" y="4498848"/>
            <a:ext cx="914400" cy="0"/>
          </a:xfrm>
          <a:prstGeom prst="line">
            <a:avLst/>
          </a:prstGeom>
          <a:ln w="2540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4846320" y="4041648"/>
            <a:ext cx="1005840" cy="411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400" b="0" i="0">
                <a:solidFill>
                  <a:srgbClr val="5C5C5C"/>
                </a:solidFill>
                <a:latin typeface="Segoe UI"/>
                <a:ea typeface="Segoe UI"/>
                <a:cs typeface="Segoe UI"/>
              </a:rPr>
              <a:t>links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852160" y="3566160"/>
            <a:ext cx="4023360" cy="187452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>
            <a:noAutofit/>
          </a:bodyPr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080760" y="3657600"/>
            <a:ext cx="365760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000" b="0" i="0">
                <a:solidFill>
                  <a:srgbClr val="1A1A1A"/>
                </a:solidFill>
                <a:latin typeface="Segoe UI Semibold"/>
                <a:ea typeface="Segoe UI Semibold"/>
                <a:cs typeface="Segoe UI Semibold"/>
              </a:rPr>
              <a:t>Event N+1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080760" y="4114800"/>
            <a:ext cx="3657600" cy="1554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0" i="0">
                <a:solidFill>
                  <a:srgbClr val="5C5C5C"/>
                </a:solidFill>
                <a:latin typeface="Consolas"/>
                <a:ea typeface="Consolas"/>
                <a:cs typeface="Consolas"/>
              </a:rPr>
              <a:t>prev_hash  </a:t>
            </a:r>
            <a:r>
              <a:rPr sz="1700" b="0" i="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h(N)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0" i="0">
                <a:solidFill>
                  <a:srgbClr val="5C5C5C"/>
                </a:solidFill>
                <a:latin typeface="Consolas"/>
                <a:ea typeface="Consolas"/>
                <a:cs typeface="Consolas"/>
              </a:rPr>
              <a:t>event_hash </a:t>
            </a:r>
            <a:r>
              <a:rPr sz="1700" b="0" i="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h(N+1)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0" i="0">
                <a:solidFill>
                  <a:srgbClr val="5C5C5C"/>
                </a:solidFill>
                <a:latin typeface="Consolas"/>
                <a:ea typeface="Consolas"/>
                <a:cs typeface="Consolas"/>
              </a:rPr>
              <a:t>signature  </a:t>
            </a:r>
            <a:r>
              <a:rPr sz="1700" b="0" i="0">
                <a:solidFill>
                  <a:srgbClr val="C2410C"/>
                </a:solidFill>
                <a:latin typeface="Consolas"/>
                <a:ea typeface="Consolas"/>
                <a:cs typeface="Consolas"/>
              </a:rPr>
              <a:t>ML-DSA-65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9921240" y="4498848"/>
            <a:ext cx="914400" cy="0"/>
          </a:xfrm>
          <a:prstGeom prst="line">
            <a:avLst/>
          </a:prstGeom>
          <a:ln w="2540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9875520" y="4041648"/>
            <a:ext cx="1005840" cy="411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400" b="0" i="0">
                <a:solidFill>
                  <a:srgbClr val="5C5C5C"/>
                </a:solidFill>
                <a:latin typeface="Segoe UI"/>
                <a:ea typeface="Segoe UI"/>
                <a:cs typeface="Segoe UI"/>
              </a:rPr>
              <a:t>links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0881360" y="3566160"/>
            <a:ext cx="4023360" cy="187452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>
            <a:noAutofit/>
          </a:bodyPr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1109960" y="3657600"/>
            <a:ext cx="365760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000" b="0" i="0">
                <a:solidFill>
                  <a:srgbClr val="1A1A1A"/>
                </a:solidFill>
                <a:latin typeface="Segoe UI Semibold"/>
                <a:ea typeface="Segoe UI Semibold"/>
                <a:cs typeface="Segoe UI Semibold"/>
              </a:rPr>
              <a:t>Event N+2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109960" y="4114800"/>
            <a:ext cx="3657600" cy="1554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0" i="0">
                <a:solidFill>
                  <a:srgbClr val="5C5C5C"/>
                </a:solidFill>
                <a:latin typeface="Consolas"/>
                <a:ea typeface="Consolas"/>
                <a:cs typeface="Consolas"/>
              </a:rPr>
              <a:t>prev_hash  </a:t>
            </a:r>
            <a:r>
              <a:rPr sz="1700" b="0" i="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h(N+1)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0" i="0">
                <a:solidFill>
                  <a:srgbClr val="5C5C5C"/>
                </a:solidFill>
                <a:latin typeface="Consolas"/>
                <a:ea typeface="Consolas"/>
                <a:cs typeface="Consolas"/>
              </a:rPr>
              <a:t>event_hash </a:t>
            </a:r>
            <a:r>
              <a:rPr sz="1700" b="0" i="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h(N+2)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0" i="0">
                <a:solidFill>
                  <a:srgbClr val="5C5C5C"/>
                </a:solidFill>
                <a:latin typeface="Consolas"/>
                <a:ea typeface="Consolas"/>
                <a:cs typeface="Consolas"/>
              </a:rPr>
              <a:t>signature  </a:t>
            </a:r>
            <a:r>
              <a:rPr sz="1700" b="0" i="0">
                <a:solidFill>
                  <a:srgbClr val="C2410C"/>
                </a:solidFill>
                <a:latin typeface="Consolas"/>
                <a:ea typeface="Consolas"/>
                <a:cs typeface="Consolas"/>
              </a:rPr>
              <a:t>ML-DSA-65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22960" y="6172200"/>
            <a:ext cx="7040880" cy="1051560"/>
          </a:xfrm>
          <a:prstGeom prst="roundRect">
            <a:avLst>
              <a:gd name="adj" fmla="val 12000"/>
            </a:avLst>
          </a:prstGeom>
          <a:solidFill>
            <a:srgbClr val="FFE9DB"/>
          </a:solidFill>
          <a:ln w="19050">
            <a:solidFill>
              <a:srgbClr val="FF91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36576" bIns="36576">
            <a:noAutofit/>
          </a:bodyPr>
          <a:lstStyle/>
          <a:p>
            <a:pPr algn="l">
              <a:lnSpc>
                <a:spcPct val="100000"/>
              </a:lnSpc>
            </a:pPr>
            <a:r>
              <a:rPr sz="1900" b="0" i="0">
                <a:solidFill>
                  <a:srgbClr val="1A1A1A"/>
                </a:solidFill>
                <a:latin typeface="Segoe UI Semibold"/>
                <a:ea typeface="Segoe UI Semibold"/>
                <a:cs typeface="Segoe UI Semibold"/>
              </a:rPr>
              <a:t>Signature on every entry</a:t>
            </a:r>
          </a:p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5C5C5C"/>
                </a:solidFill>
                <a:latin typeface="Consolas"/>
                <a:ea typeface="Consolas"/>
                <a:cs typeface="Consolas"/>
              </a:rPr>
              <a:t>context qshield/evidence/v1, gateway evidence key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22960" y="7498080"/>
            <a:ext cx="7040880" cy="1508760"/>
          </a:xfrm>
          <a:prstGeom prst="roundRect">
            <a:avLst>
              <a:gd name="adj" fmla="val 12000"/>
            </a:avLst>
          </a:prstGeom>
          <a:solidFill>
            <a:srgbClr val="000000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36576" bIns="36576">
            <a:noAutofit/>
          </a:bodyPr>
          <a:lstStyle/>
          <a:p>
            <a:pPr algn="l">
              <a:lnSpc>
                <a:spcPct val="100000"/>
              </a:lnSpc>
            </a:pPr>
            <a:r>
              <a:rPr sz="1900" b="0" i="0">
                <a:solidFill>
                  <a:srgbClr val="FFFFFF"/>
                </a:solidFill>
                <a:latin typeface="Segoe UI Semibold"/>
                <a:ea typeface="Segoe UI Semibold"/>
                <a:cs typeface="Segoe UI Semibold"/>
              </a:rPr>
              <a:t>Verification</a:t>
            </a:r>
          </a:p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recompute every SHA-256 hash, check every signature</a:t>
            </a:r>
          </a:p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→ an edited, reordered or removed entry is found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503920" y="6172200"/>
            <a:ext cx="7132320" cy="29260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000" b="0" i="0">
                <a:solidFill>
                  <a:srgbClr val="1A1A1A"/>
                </a:solidFill>
                <a:latin typeface="Segoe UI Semibold"/>
                <a:ea typeface="Segoe UI Semibold"/>
                <a:cs typeface="Segoe UI Semibold"/>
              </a:rPr>
              <a:t>Live demo result</a:t>
            </a:r>
          </a:p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4400" b="0" i="0">
                <a:solidFill>
                  <a:srgbClr val="1A1A1A"/>
                </a:solidFill>
                <a:latin typeface="Bahnschrift SemiBold"/>
                <a:ea typeface="Bahnschrift SemiBold"/>
                <a:cs typeface="Bahnschrift SemiBold"/>
              </a:rPr>
              <a:t>26</a:t>
            </a:r>
            <a:r>
              <a:rPr sz="2000" b="0" i="0">
                <a:solidFill>
                  <a:srgbClr val="1A1A1A"/>
                </a:solidFill>
                <a:latin typeface="Segoe UI"/>
                <a:ea typeface="Segoe UI"/>
                <a:cs typeface="Segoe UI"/>
              </a:rPr>
              <a:t>  entries, chain </a:t>
            </a:r>
            <a:r>
              <a:rPr sz="2000" b="0" i="0">
                <a:solidFill>
                  <a:srgbClr val="1A1A1A"/>
                </a:solidFill>
                <a:latin typeface="Segoe UI Semibold"/>
                <a:ea typeface="Segoe UI Semibold"/>
                <a:cs typeface="Segoe UI Semibold"/>
              </a:rPr>
              <a:t>VERIFIED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0" i="0">
                <a:solidFill>
                  <a:srgbClr val="5C5C5C"/>
                </a:solidFill>
                <a:latin typeface="Segoe UI"/>
                <a:ea typeface="Segoe UI"/>
                <a:cs typeface="Segoe UI"/>
              </a:rPr>
              <a:t>Not anchored externally: cutting entries off the end needs an outside copy of the head to detect, and whoever holds both the database and the evidence key could rewrite history.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2960" y="9747504"/>
            <a:ext cx="822960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 i="0">
                <a:solidFill>
                  <a:srgbClr val="000000"/>
                </a:solidFill>
                <a:latin typeface="Segoe UI Semibold"/>
                <a:ea typeface="Segoe UI Semibold"/>
                <a:cs typeface="Segoe UI Semibold"/>
              </a:rPr>
              <a:t>Q-SHIELD</a:t>
            </a:r>
            <a:r>
              <a:rPr sz="1500" b="0" i="0">
                <a:solidFill>
                  <a:srgbClr val="000000"/>
                </a:solidFill>
                <a:latin typeface="Segoe UI"/>
                <a:ea typeface="Segoe UI"/>
                <a:cs typeface="Segoe UI"/>
              </a:rPr>
              <a:t>   continuous device trust with post-quantum-signed evidence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3350240" y="9747504"/>
            <a:ext cx="228600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500" b="0" i="0">
                <a:solidFill>
                  <a:srgbClr val="000000"/>
                </a:solidFill>
                <a:latin typeface="Segoe UI"/>
                <a:ea typeface="Segoe UI"/>
                <a:cs typeface="Segoe UI"/>
              </a:rPr>
              <a:t>16 / 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name="Freeform 2" id="2"/>
          <p:cNvSpPr/>
          <p:nvPr/>
        </p:nvSpPr>
        <p:spPr>
          <a:xfrm flipH="false" flipV="false" rot="0">
            <a:off x="-350872" y="9407052"/>
            <a:ext cx="14979358" cy="908523"/>
          </a:xfrm>
          <a:custGeom>
            <a:avLst/>
            <a:gdLst/>
            <a:ahLst/>
            <a:cxnLst/>
            <a:rect r="r" b="b" t="t" l="l"/>
            <a:pathLst>
              <a:path h="908523" w="14979358">
                <a:moveTo>
                  <a:pt x="0" y="0"/>
                </a:moveTo>
                <a:lnTo>
                  <a:pt x="14979357" y="0"/>
                </a:lnTo>
                <a:lnTo>
                  <a:pt x="14979357" y="908523"/>
                </a:lnTo>
                <a:lnTo>
                  <a:pt x="0" y="90852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2273265" y="1130884"/>
            <a:ext cx="6870735" cy="543077"/>
            <a:chOff x="0" y="0"/>
            <a:chExt cx="9160980" cy="72410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9161018" cy="724154"/>
            </a:xfrm>
            <a:custGeom>
              <a:avLst/>
              <a:gdLst/>
              <a:ahLst/>
              <a:cxnLst/>
              <a:rect r="r" b="b" t="t" l="l"/>
              <a:pathLst>
                <a:path h="724154" w="9161018">
                  <a:moveTo>
                    <a:pt x="0" y="0"/>
                  </a:moveTo>
                  <a:lnTo>
                    <a:pt x="9161018" y="0"/>
                  </a:lnTo>
                  <a:lnTo>
                    <a:pt x="9161018" y="724154"/>
                  </a:lnTo>
                  <a:lnTo>
                    <a:pt x="0" y="72415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914D"/>
            </a:solidFill>
          </p:spPr>
        </p:sp>
      </p:grpSp>
      <p:grpSp>
        <p:nvGrpSpPr>
          <p:cNvPr name="Group 5" id="5"/>
          <p:cNvGrpSpPr/>
          <p:nvPr/>
        </p:nvGrpSpPr>
        <p:grpSpPr>
          <a:xfrm rot="-10800000">
            <a:off x="9124950" y="1130884"/>
            <a:ext cx="6870735" cy="543077"/>
            <a:chOff x="0" y="0"/>
            <a:chExt cx="9160980" cy="724103"/>
          </a:xfrm>
        </p:grpSpPr>
        <p:sp>
          <p:nvSpPr>
            <p:cNvPr name="Freeform 6" id="6"/>
            <p:cNvSpPr/>
            <p:nvPr/>
          </p:nvSpPr>
          <p:spPr>
            <a:xfrm flipH="false" flipV="true" rot="0">
              <a:off x="0" y="0"/>
              <a:ext cx="9161018" cy="724154"/>
            </a:xfrm>
            <a:custGeom>
              <a:avLst/>
              <a:gdLst/>
              <a:ahLst/>
              <a:cxnLst/>
              <a:rect r="r" b="b" t="t" l="l"/>
              <a:pathLst>
                <a:path h="724154" w="9161018">
                  <a:moveTo>
                    <a:pt x="0" y="724154"/>
                  </a:moveTo>
                  <a:lnTo>
                    <a:pt x="9161018" y="724154"/>
                  </a:lnTo>
                  <a:lnTo>
                    <a:pt x="9161018" y="0"/>
                  </a:lnTo>
                  <a:lnTo>
                    <a:pt x="0" y="0"/>
                  </a:lnTo>
                  <a:lnTo>
                    <a:pt x="0" y="724154"/>
                  </a:lnTo>
                  <a:close/>
                </a:path>
              </a:pathLst>
            </a:custGeom>
            <a:solidFill>
              <a:srgbClr val="FF914D"/>
            </a:solidFill>
          </p:spPr>
        </p:sp>
      </p:grpSp>
      <p:grpSp>
        <p:nvGrpSpPr>
          <p:cNvPr name="Group 7" id="7"/>
          <p:cNvGrpSpPr/>
          <p:nvPr/>
        </p:nvGrpSpPr>
        <p:grpSpPr>
          <a:xfrm rot="-10800000">
            <a:off x="-32871" y="1130884"/>
            <a:ext cx="3068079" cy="503739"/>
            <a:chOff x="0" y="0"/>
            <a:chExt cx="4090772" cy="671652"/>
          </a:xfrm>
        </p:grpSpPr>
        <p:sp>
          <p:nvSpPr>
            <p:cNvPr name="Freeform 8" id="8"/>
            <p:cNvSpPr/>
            <p:nvPr/>
          </p:nvSpPr>
          <p:spPr>
            <a:xfrm flipH="false" flipV="true" rot="0">
              <a:off x="0" y="0"/>
              <a:ext cx="4090797" cy="671703"/>
            </a:xfrm>
            <a:custGeom>
              <a:avLst/>
              <a:gdLst/>
              <a:ahLst/>
              <a:cxnLst/>
              <a:rect r="r" b="b" t="t" l="l"/>
              <a:pathLst>
                <a:path h="671703" w="4090797">
                  <a:moveTo>
                    <a:pt x="0" y="671703"/>
                  </a:moveTo>
                  <a:lnTo>
                    <a:pt x="4090797" y="671703"/>
                  </a:lnTo>
                  <a:lnTo>
                    <a:pt x="4090797" y="0"/>
                  </a:lnTo>
                  <a:lnTo>
                    <a:pt x="0" y="0"/>
                  </a:lnTo>
                  <a:lnTo>
                    <a:pt x="0" y="671703"/>
                  </a:lnTo>
                  <a:close/>
                </a:path>
              </a:pathLst>
            </a:custGeom>
            <a:solidFill>
              <a:srgbClr val="FF914D"/>
            </a:solidFill>
          </p:spPr>
        </p:sp>
      </p:grpSp>
      <p:sp>
        <p:nvSpPr>
          <p:cNvPr name="Freeform 9" id="9"/>
          <p:cNvSpPr/>
          <p:nvPr/>
        </p:nvSpPr>
        <p:spPr>
          <a:xfrm flipH="false" flipV="false" rot="-5400000">
            <a:off x="12120564" y="5052657"/>
            <a:ext cx="10084834" cy="2269088"/>
          </a:xfrm>
          <a:custGeom>
            <a:avLst/>
            <a:gdLst/>
            <a:ahLst/>
            <a:cxnLst/>
            <a:rect r="r" b="b" t="t" l="l"/>
            <a:pathLst>
              <a:path h="2269088" w="10084834">
                <a:moveTo>
                  <a:pt x="0" y="0"/>
                </a:moveTo>
                <a:lnTo>
                  <a:pt x="10084834" y="0"/>
                </a:lnTo>
                <a:lnTo>
                  <a:pt x="10084834" y="2269088"/>
                </a:lnTo>
                <a:lnTo>
                  <a:pt x="0" y="226908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-10800000">
            <a:off x="15248496" y="1130884"/>
            <a:ext cx="3068079" cy="503739"/>
            <a:chOff x="0" y="0"/>
            <a:chExt cx="4090772" cy="671652"/>
          </a:xfrm>
        </p:grpSpPr>
        <p:sp>
          <p:nvSpPr>
            <p:cNvPr name="Freeform 11" id="11"/>
            <p:cNvSpPr/>
            <p:nvPr/>
          </p:nvSpPr>
          <p:spPr>
            <a:xfrm flipH="false" flipV="true" rot="0">
              <a:off x="0" y="0"/>
              <a:ext cx="4090797" cy="671703"/>
            </a:xfrm>
            <a:custGeom>
              <a:avLst/>
              <a:gdLst/>
              <a:ahLst/>
              <a:cxnLst/>
              <a:rect r="r" b="b" t="t" l="l"/>
              <a:pathLst>
                <a:path h="671703" w="4090797">
                  <a:moveTo>
                    <a:pt x="0" y="671703"/>
                  </a:moveTo>
                  <a:lnTo>
                    <a:pt x="4090797" y="671703"/>
                  </a:lnTo>
                  <a:lnTo>
                    <a:pt x="4090797" y="0"/>
                  </a:lnTo>
                  <a:lnTo>
                    <a:pt x="0" y="0"/>
                  </a:lnTo>
                  <a:lnTo>
                    <a:pt x="0" y="671703"/>
                  </a:lnTo>
                  <a:close/>
                </a:path>
              </a:pathLst>
            </a:custGeom>
            <a:solidFill>
              <a:srgbClr val="FF914D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5688825" y="96222"/>
            <a:ext cx="2423739" cy="924096"/>
            <a:chOff x="0" y="0"/>
            <a:chExt cx="2307438" cy="879754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307463" cy="879729"/>
            </a:xfrm>
            <a:custGeom>
              <a:avLst/>
              <a:gdLst/>
              <a:ahLst/>
              <a:cxnLst/>
              <a:rect r="r" b="b" t="t" l="l"/>
              <a:pathLst>
                <a:path h="879729" w="2307463">
                  <a:moveTo>
                    <a:pt x="0" y="0"/>
                  </a:moveTo>
                  <a:lnTo>
                    <a:pt x="2307463" y="0"/>
                  </a:lnTo>
                  <a:lnTo>
                    <a:pt x="2307463" y="879729"/>
                  </a:lnTo>
                  <a:lnTo>
                    <a:pt x="0" y="8797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-76294" r="1" b="-85995"/>
              </a:stretch>
            </a:blipFill>
          </p:spPr>
        </p:sp>
      </p:grpSp>
      <p:sp>
        <p:nvSpPr>
          <p:cNvPr name="Freeform 14" id="14"/>
          <p:cNvSpPr/>
          <p:nvPr/>
        </p:nvSpPr>
        <p:spPr>
          <a:xfrm flipH="false" flipV="false" rot="0">
            <a:off x="9857003" y="9407052"/>
            <a:ext cx="14979358" cy="908523"/>
          </a:xfrm>
          <a:custGeom>
            <a:avLst/>
            <a:gdLst/>
            <a:ahLst/>
            <a:cxnLst/>
            <a:rect r="r" b="b" t="t" l="l"/>
            <a:pathLst>
              <a:path h="908523" w="14979358">
                <a:moveTo>
                  <a:pt x="0" y="0"/>
                </a:moveTo>
                <a:lnTo>
                  <a:pt x="14979358" y="0"/>
                </a:lnTo>
                <a:lnTo>
                  <a:pt x="14979358" y="908523"/>
                </a:lnTo>
                <a:lnTo>
                  <a:pt x="0" y="90852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252268" y="89049"/>
            <a:ext cx="2497801" cy="1034663"/>
          </a:xfrm>
          <a:custGeom>
            <a:avLst/>
            <a:gdLst/>
            <a:ahLst/>
            <a:cxnLst/>
            <a:rect r="r" b="b" t="t" l="l"/>
            <a:pathLst>
              <a:path h="1034663" w="2497801">
                <a:moveTo>
                  <a:pt x="0" y="0"/>
                </a:moveTo>
                <a:lnTo>
                  <a:pt x="2497801" y="0"/>
                </a:lnTo>
                <a:lnTo>
                  <a:pt x="2497801" y="1034663"/>
                </a:lnTo>
                <a:lnTo>
                  <a:pt x="0" y="103466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5988" t="-27243" r="-4375" b="-52819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6236411" y="74654"/>
            <a:ext cx="5815177" cy="987762"/>
          </a:xfrm>
          <a:custGeom>
            <a:avLst/>
            <a:gdLst/>
            <a:ahLst/>
            <a:cxnLst/>
            <a:rect r="r" b="b" t="t" l="l"/>
            <a:pathLst>
              <a:path h="987762" w="5815177">
                <a:moveTo>
                  <a:pt x="0" y="0"/>
                </a:moveTo>
                <a:lnTo>
                  <a:pt x="5815178" y="0"/>
                </a:lnTo>
                <a:lnTo>
                  <a:pt x="5815178" y="987762"/>
                </a:lnTo>
                <a:lnTo>
                  <a:pt x="0" y="987762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-11062" t="-153011" r="-9149" b="-154810"/>
            </a:stretch>
          </a:blipFill>
        </p:spPr>
      </p:sp>
      <p:sp>
        <p:nvSpPr>
          <p:cNvPr id="20" name="TextBox 19"/>
          <p:cNvSpPr txBox="1"/>
          <p:nvPr/>
        </p:nvSpPr>
        <p:spPr>
          <a:xfrm>
            <a:off x="822960" y="1810512"/>
            <a:ext cx="10972800" cy="3291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 i="0">
                <a:solidFill>
                  <a:srgbClr val="C2410C"/>
                </a:solidFill>
                <a:latin typeface="Segoe UI Semibold"/>
                <a:ea typeface="Segoe UI Semibold"/>
                <a:cs typeface="Segoe UI Semibold"/>
              </a:rPr>
              <a:t>4. Technical Design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2084832"/>
            <a:ext cx="14813280" cy="7315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4000" b="0" i="0">
                <a:solidFill>
                  <a:srgbClr val="000000"/>
                </a:solidFill>
                <a:latin typeface="Bahnschrift SemiBold"/>
                <a:ea typeface="Bahnschrift SemiBold"/>
                <a:cs typeface="Bahnschrift SemiBold"/>
              </a:rPr>
              <a:t>Quarantine enforcement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2761488"/>
            <a:ext cx="1481328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100" b="0" i="0">
                <a:solidFill>
                  <a:srgbClr val="5C5C5C"/>
                </a:solidFill>
                <a:latin typeface="Segoe UI"/>
                <a:ea typeface="Segoe UI"/>
                <a:cs typeface="Segoe UI"/>
              </a:rPr>
              <a:t>Applied at the gateway, after authentication, on three separate channels</a:t>
            </a:r>
          </a:p>
        </p:txBody>
      </p:sp>
      <p:sp>
        <p:nvSpPr>
          <p:cNvPr id="23" name="Oval 22"/>
          <p:cNvSpPr/>
          <p:nvPr/>
        </p:nvSpPr>
        <p:spPr>
          <a:xfrm>
            <a:off x="822960" y="3246120"/>
            <a:ext cx="128016" cy="128016"/>
          </a:xfrm>
          <a:prstGeom prst="ellipse">
            <a:avLst/>
          </a:prstGeom>
          <a:solidFill>
            <a:srgbClr val="FFFFFF"/>
          </a:solidFill>
          <a:ln w="22225">
            <a:solidFill>
              <a:srgbClr val="FF91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4" name="Connector 23"/>
          <p:cNvCxnSpPr/>
          <p:nvPr/>
        </p:nvCxnSpPr>
        <p:spPr>
          <a:xfrm>
            <a:off x="950976" y="3310128"/>
            <a:ext cx="1335024" cy="0"/>
          </a:xfrm>
          <a:prstGeom prst="line">
            <a:avLst/>
          </a:prstGeom>
          <a:ln w="22225">
            <a:solidFill>
              <a:srgbClr val="FF91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5120640" y="3474720"/>
            <a:ext cx="3246120" cy="8229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900" b="0" i="0">
                <a:solidFill>
                  <a:srgbClr val="1A1A1A"/>
                </a:solidFill>
                <a:latin typeface="Segoe UI Semibold"/>
                <a:ea typeface="Segoe UI Semibold"/>
                <a:cs typeface="Segoe UI Semibold"/>
              </a:rPr>
              <a:t>Normal channel</a:t>
            </a:r>
          </a:p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0" i="0">
                <a:solidFill>
                  <a:srgbClr val="5C5C5C"/>
                </a:solidFill>
                <a:latin typeface="Consolas"/>
                <a:ea typeface="Consolas"/>
                <a:cs typeface="Consolas"/>
              </a:rPr>
              <a:t>register, heartbeat, telemetry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49640" y="3474720"/>
            <a:ext cx="3246120" cy="8229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900" b="0" i="0">
                <a:solidFill>
                  <a:srgbClr val="1A1A1A"/>
                </a:solidFill>
                <a:latin typeface="Segoe UI Semibold"/>
                <a:ea typeface="Segoe UI Semibold"/>
                <a:cs typeface="Segoe UI Semibold"/>
              </a:rPr>
              <a:t>Recovery channel</a:t>
            </a:r>
          </a:p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0" i="0">
                <a:solidFill>
                  <a:srgbClr val="5C5C5C"/>
                </a:solidFill>
                <a:latin typeface="Consolas"/>
                <a:ea typeface="Consolas"/>
                <a:cs typeface="Consolas"/>
              </a:rPr>
              <a:t>recovery/report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978640" y="3474720"/>
            <a:ext cx="3246120" cy="8229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900" b="0" i="0">
                <a:solidFill>
                  <a:srgbClr val="1A1A1A"/>
                </a:solidFill>
                <a:latin typeface="Segoe UI Semibold"/>
                <a:ea typeface="Segoe UI Semibold"/>
                <a:cs typeface="Segoe UI Semibold"/>
              </a:rPr>
              <a:t>Control</a:t>
            </a:r>
          </a:p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0" i="0">
                <a:solidFill>
                  <a:srgbClr val="5C5C5C"/>
                </a:solidFill>
                <a:latin typeface="Consolas"/>
                <a:ea typeface="Consolas"/>
                <a:cs typeface="Consolas"/>
              </a:rPr>
              <a:t>operators only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" y="4434840"/>
            <a:ext cx="4114800" cy="1143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1A1A1A"/>
                </a:solidFill>
                <a:latin typeface="Segoe UI Semibold"/>
                <a:ea typeface="Segoe UI Semibold"/>
                <a:cs typeface="Segoe UI Semibold"/>
              </a:rPr>
              <a:t>TRUSTED, SUSPICIOUS,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1A1A1A"/>
                </a:solidFill>
                <a:latin typeface="Segoe UI Semibold"/>
                <a:ea typeface="Segoe UI Semibold"/>
                <a:cs typeface="Segoe UI Semibold"/>
              </a:rPr>
              <a:t>RECOVERED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120640" y="4507992"/>
            <a:ext cx="3246120" cy="996696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>
            <a:noAutofit/>
          </a:bodyPr>
          <a:lstStyle/>
          <a:p>
            <a:pPr algn="ctr">
              <a:lnSpc>
                <a:spcPct val="100000"/>
              </a:lnSpc>
            </a:pPr>
            <a:r>
              <a:rPr sz="1800" b="0" i="0">
                <a:solidFill>
                  <a:srgbClr val="000000"/>
                </a:solidFill>
                <a:latin typeface="Segoe UI Semibold"/>
                <a:ea typeface="Segoe UI Semibold"/>
                <a:cs typeface="Segoe UI Semibold"/>
              </a:rPr>
              <a:t>allowed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549640" y="4507992"/>
            <a:ext cx="3246120" cy="996696"/>
          </a:xfrm>
          <a:prstGeom prst="rect">
            <a:avLst/>
          </a:prstGeom>
          <a:solidFill>
            <a:srgbClr val="F6F6F6"/>
          </a:solidFill>
          <a:ln w="12700">
            <a:solidFill>
              <a:srgbClr val="F6F6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>
            <a:noAutofit/>
          </a:bodyPr>
          <a:lstStyle/>
          <a:p>
            <a:pPr algn="ctr">
              <a:lnSpc>
                <a:spcPct val="100000"/>
              </a:lnSpc>
            </a:pPr>
            <a:r>
              <a:rPr sz="1800" b="0" i="0">
                <a:solidFill>
                  <a:srgbClr val="5C5C5C"/>
                </a:solidFill>
                <a:latin typeface="Segoe UI Semibold"/>
                <a:ea typeface="Segoe UI Semibold"/>
                <a:cs typeface="Segoe UI Semibold"/>
              </a:rPr>
              <a:t>refused: not open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1978640" y="4507992"/>
            <a:ext cx="3246120" cy="996696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>
            <a:noAutofit/>
          </a:bodyPr>
          <a:lstStyle/>
          <a:p>
            <a:pPr algn="ctr">
              <a:lnSpc>
                <a:spcPct val="100000"/>
              </a:lnSpc>
            </a:pPr>
            <a:r>
              <a:rPr sz="1800" b="0" i="0">
                <a:solidFill>
                  <a:srgbClr val="000000"/>
                </a:solidFill>
                <a:latin typeface="Segoe UI Semibold"/>
                <a:ea typeface="Segoe UI Semibold"/>
                <a:cs typeface="Segoe UI Semibold"/>
              </a:rPr>
              <a:t>named operator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60" y="5577840"/>
            <a:ext cx="4114800" cy="1143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1A1A1A"/>
                </a:solidFill>
                <a:latin typeface="Segoe UI Semibold"/>
                <a:ea typeface="Segoe UI Semibold"/>
                <a:cs typeface="Segoe UI Semibold"/>
              </a:rPr>
              <a:t>QUARANTINED, RECOVERING,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1A1A1A"/>
                </a:solidFill>
                <a:latin typeface="Segoe UI Semibold"/>
                <a:ea typeface="Segoe UI Semibold"/>
                <a:cs typeface="Segoe UI Semibold"/>
              </a:rPr>
              <a:t>VERIFIED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120640" y="5650992"/>
            <a:ext cx="3246120" cy="996696"/>
          </a:xfrm>
          <a:prstGeom prst="rect">
            <a:avLst/>
          </a:prstGeom>
          <a:solidFill>
            <a:srgbClr val="FF914D"/>
          </a:solidFill>
          <a:ln w="12700">
            <a:solidFill>
              <a:srgbClr val="FF91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>
            <a:noAutofit/>
          </a:bodyPr>
          <a:lstStyle/>
          <a:p>
            <a:pPr algn="ctr">
              <a:lnSpc>
                <a:spcPct val="100000"/>
              </a:lnSpc>
            </a:pPr>
            <a:r>
              <a:rPr sz="1800" b="0" i="0">
                <a:solidFill>
                  <a:srgbClr val="000000"/>
                </a:solidFill>
                <a:latin typeface="Segoe UI Semibold"/>
                <a:ea typeface="Segoe UI Semibold"/>
                <a:cs typeface="Segoe UI Semibold"/>
              </a:rPr>
              <a:t>403 blocked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549640" y="5650992"/>
            <a:ext cx="3246120" cy="996696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>
            <a:noAutofit/>
          </a:bodyPr>
          <a:lstStyle/>
          <a:p>
            <a:pPr algn="ctr">
              <a:lnSpc>
                <a:spcPct val="100000"/>
              </a:lnSpc>
            </a:pPr>
            <a:r>
              <a:rPr sz="1800" b="0" i="0">
                <a:solidFill>
                  <a:srgbClr val="000000"/>
                </a:solidFill>
                <a:latin typeface="Segoe UI Semibold"/>
                <a:ea typeface="Segoe UI Semibold"/>
                <a:cs typeface="Segoe UI Semibold"/>
              </a:rPr>
              <a:t>allowed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1978640" y="5650992"/>
            <a:ext cx="3246120" cy="996696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>
            <a:noAutofit/>
          </a:bodyPr>
          <a:lstStyle/>
          <a:p>
            <a:pPr algn="ctr">
              <a:lnSpc>
                <a:spcPct val="100000"/>
              </a:lnSpc>
            </a:pPr>
            <a:r>
              <a:rPr sz="1800" b="0" i="0">
                <a:solidFill>
                  <a:srgbClr val="000000"/>
                </a:solidFill>
                <a:latin typeface="Segoe UI Semibold"/>
                <a:ea typeface="Segoe UI Semibold"/>
                <a:cs typeface="Segoe UI Semibold"/>
              </a:rPr>
              <a:t>named operator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2960" y="6720840"/>
            <a:ext cx="4114800" cy="1143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1A1A1A"/>
                </a:solidFill>
                <a:latin typeface="Segoe UI Semibold"/>
                <a:ea typeface="Segoe UI Semibold"/>
                <a:cs typeface="Segoe UI Semibold"/>
              </a:rPr>
              <a:t>Forged or replayed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1A1A1A"/>
                </a:solidFill>
                <a:latin typeface="Segoe UI Semibold"/>
                <a:ea typeface="Segoe UI Semibold"/>
                <a:cs typeface="Segoe UI Semibold"/>
              </a:rPr>
              <a:t>message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120640" y="6793992"/>
            <a:ext cx="3246120" cy="996696"/>
          </a:xfrm>
          <a:prstGeom prst="rect">
            <a:avLst/>
          </a:prstGeom>
          <a:solidFill>
            <a:srgbClr val="1F1F1F"/>
          </a:solidFill>
          <a:ln w="12700">
            <a:solidFill>
              <a:srgbClr val="1F1F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>
            <a:noAutofit/>
          </a:bodyPr>
          <a:lstStyle/>
          <a:p>
            <a:pPr algn="ctr">
              <a:lnSpc>
                <a:spcPct val="100000"/>
              </a:lnSpc>
            </a:pPr>
            <a:r>
              <a:rPr sz="1800" b="0" i="0">
                <a:solidFill>
                  <a:srgbClr val="FFFFFF"/>
                </a:solidFill>
                <a:latin typeface="Segoe UI Semibold"/>
                <a:ea typeface="Segoe UI Semibold"/>
                <a:cs typeface="Segoe UI Semibold"/>
              </a:rPr>
              <a:t>401 before enforcement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549640" y="6793992"/>
            <a:ext cx="3246120" cy="996696"/>
          </a:xfrm>
          <a:prstGeom prst="rect">
            <a:avLst/>
          </a:prstGeom>
          <a:solidFill>
            <a:srgbClr val="1F1F1F"/>
          </a:solidFill>
          <a:ln w="12700">
            <a:solidFill>
              <a:srgbClr val="1F1F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>
            <a:noAutofit/>
          </a:bodyPr>
          <a:lstStyle/>
          <a:p>
            <a:pPr algn="ctr">
              <a:lnSpc>
                <a:spcPct val="100000"/>
              </a:lnSpc>
            </a:pPr>
            <a:r>
              <a:rPr sz="1800" b="0" i="0">
                <a:solidFill>
                  <a:srgbClr val="FFFFFF"/>
                </a:solidFill>
                <a:latin typeface="Segoe UI Semibold"/>
                <a:ea typeface="Segoe UI Semibold"/>
                <a:cs typeface="Segoe UI Semibold"/>
              </a:rPr>
              <a:t>401 before enforcement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1978640" y="6793992"/>
            <a:ext cx="3246120" cy="996696"/>
          </a:xfrm>
          <a:prstGeom prst="rect">
            <a:avLst/>
          </a:prstGeom>
          <a:solidFill>
            <a:srgbClr val="1F1F1F"/>
          </a:solidFill>
          <a:ln w="12700">
            <a:solidFill>
              <a:srgbClr val="1F1F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>
            <a:noAutofit/>
          </a:bodyPr>
          <a:lstStyle/>
          <a:p>
            <a:pPr algn="ctr">
              <a:lnSpc>
                <a:spcPct val="100000"/>
              </a:lnSpc>
            </a:pPr>
            <a:r>
              <a:rPr sz="1800" b="0" i="0">
                <a:solidFill>
                  <a:srgbClr val="FFFFFF"/>
                </a:solidFill>
                <a:latin typeface="Segoe UI Semibold"/>
                <a:ea typeface="Segoe UI Semibold"/>
                <a:cs typeface="Segoe UI Semibold"/>
              </a:rPr>
              <a:t>401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2960" y="8092440"/>
            <a:ext cx="14813280" cy="10058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0" i="0">
                <a:solidFill>
                  <a:srgbClr val="1A1A1A"/>
                </a:solidFill>
                <a:latin typeface="Segoe UI Semibold"/>
                <a:ea typeface="Segoe UI Semibold"/>
                <a:cs typeface="Segoe UI Semibold"/>
              </a:rPr>
              <a:t>Forged traffic can neither trigger quarantine nor bypass it: </a:t>
            </a:r>
            <a:r>
              <a:rPr sz="1800" b="0" i="0">
                <a:solidFill>
                  <a:srgbClr val="1A1A1A"/>
                </a:solidFill>
                <a:latin typeface="Segoe UI"/>
                <a:ea typeface="Segoe UI"/>
                <a:cs typeface="Segoe UI"/>
              </a:rPr>
              <a:t>it is rejected by authentication before the policy runs.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0" i="0">
                <a:solidFill>
                  <a:srgbClr val="5C5C5C"/>
                </a:solidFill>
                <a:latin typeface="Segoe UI"/>
                <a:ea typeface="Segoe UI"/>
                <a:cs typeface="Segoe UI"/>
              </a:rPr>
              <a:t>Blocked messages are not trust evidence; recovery-channel reports are.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2960" y="9747504"/>
            <a:ext cx="822960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 i="0">
                <a:solidFill>
                  <a:srgbClr val="000000"/>
                </a:solidFill>
                <a:latin typeface="Segoe UI Semibold"/>
                <a:ea typeface="Segoe UI Semibold"/>
                <a:cs typeface="Segoe UI Semibold"/>
              </a:rPr>
              <a:t>Q-SHIELD</a:t>
            </a:r>
            <a:r>
              <a:rPr sz="1500" b="0" i="0">
                <a:solidFill>
                  <a:srgbClr val="000000"/>
                </a:solidFill>
                <a:latin typeface="Segoe UI"/>
                <a:ea typeface="Segoe UI"/>
                <a:cs typeface="Segoe UI"/>
              </a:rPr>
              <a:t>   continuous device trust with post-quantum-signed evidence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3350240" y="9747504"/>
            <a:ext cx="228600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500" b="0" i="0">
                <a:solidFill>
                  <a:srgbClr val="000000"/>
                </a:solidFill>
                <a:latin typeface="Segoe UI"/>
                <a:ea typeface="Segoe UI"/>
                <a:cs typeface="Segoe UI"/>
              </a:rPr>
              <a:t>17 / 24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name="Freeform 2" id="2"/>
          <p:cNvSpPr/>
          <p:nvPr/>
        </p:nvSpPr>
        <p:spPr>
          <a:xfrm flipH="false" flipV="false" rot="0">
            <a:off x="-350872" y="9407052"/>
            <a:ext cx="14979358" cy="908523"/>
          </a:xfrm>
          <a:custGeom>
            <a:avLst/>
            <a:gdLst/>
            <a:ahLst/>
            <a:cxnLst/>
            <a:rect r="r" b="b" t="t" l="l"/>
            <a:pathLst>
              <a:path h="908523" w="14979358">
                <a:moveTo>
                  <a:pt x="0" y="0"/>
                </a:moveTo>
                <a:lnTo>
                  <a:pt x="14979357" y="0"/>
                </a:lnTo>
                <a:lnTo>
                  <a:pt x="14979357" y="908523"/>
                </a:lnTo>
                <a:lnTo>
                  <a:pt x="0" y="90852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2273265" y="1130884"/>
            <a:ext cx="6870735" cy="543077"/>
            <a:chOff x="0" y="0"/>
            <a:chExt cx="9160980" cy="72410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9161018" cy="724154"/>
            </a:xfrm>
            <a:custGeom>
              <a:avLst/>
              <a:gdLst/>
              <a:ahLst/>
              <a:cxnLst/>
              <a:rect r="r" b="b" t="t" l="l"/>
              <a:pathLst>
                <a:path h="724154" w="9161018">
                  <a:moveTo>
                    <a:pt x="0" y="0"/>
                  </a:moveTo>
                  <a:lnTo>
                    <a:pt x="9161018" y="0"/>
                  </a:lnTo>
                  <a:lnTo>
                    <a:pt x="9161018" y="724154"/>
                  </a:lnTo>
                  <a:lnTo>
                    <a:pt x="0" y="72415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914D"/>
            </a:solidFill>
          </p:spPr>
        </p:sp>
      </p:grpSp>
      <p:grpSp>
        <p:nvGrpSpPr>
          <p:cNvPr name="Group 5" id="5"/>
          <p:cNvGrpSpPr/>
          <p:nvPr/>
        </p:nvGrpSpPr>
        <p:grpSpPr>
          <a:xfrm rot="-10800000">
            <a:off x="9124950" y="1130884"/>
            <a:ext cx="6870735" cy="543077"/>
            <a:chOff x="0" y="0"/>
            <a:chExt cx="9160980" cy="724103"/>
          </a:xfrm>
        </p:grpSpPr>
        <p:sp>
          <p:nvSpPr>
            <p:cNvPr name="Freeform 6" id="6"/>
            <p:cNvSpPr/>
            <p:nvPr/>
          </p:nvSpPr>
          <p:spPr>
            <a:xfrm flipH="false" flipV="true" rot="0">
              <a:off x="0" y="0"/>
              <a:ext cx="9161018" cy="724154"/>
            </a:xfrm>
            <a:custGeom>
              <a:avLst/>
              <a:gdLst/>
              <a:ahLst/>
              <a:cxnLst/>
              <a:rect r="r" b="b" t="t" l="l"/>
              <a:pathLst>
                <a:path h="724154" w="9161018">
                  <a:moveTo>
                    <a:pt x="0" y="724154"/>
                  </a:moveTo>
                  <a:lnTo>
                    <a:pt x="9161018" y="724154"/>
                  </a:lnTo>
                  <a:lnTo>
                    <a:pt x="9161018" y="0"/>
                  </a:lnTo>
                  <a:lnTo>
                    <a:pt x="0" y="0"/>
                  </a:lnTo>
                  <a:lnTo>
                    <a:pt x="0" y="724154"/>
                  </a:lnTo>
                  <a:close/>
                </a:path>
              </a:pathLst>
            </a:custGeom>
            <a:solidFill>
              <a:srgbClr val="FF914D"/>
            </a:solidFill>
          </p:spPr>
        </p:sp>
      </p:grpSp>
      <p:grpSp>
        <p:nvGrpSpPr>
          <p:cNvPr name="Group 7" id="7"/>
          <p:cNvGrpSpPr/>
          <p:nvPr/>
        </p:nvGrpSpPr>
        <p:grpSpPr>
          <a:xfrm rot="-10800000">
            <a:off x="-32871" y="1130884"/>
            <a:ext cx="3068079" cy="503739"/>
            <a:chOff x="0" y="0"/>
            <a:chExt cx="4090772" cy="671652"/>
          </a:xfrm>
        </p:grpSpPr>
        <p:sp>
          <p:nvSpPr>
            <p:cNvPr name="Freeform 8" id="8"/>
            <p:cNvSpPr/>
            <p:nvPr/>
          </p:nvSpPr>
          <p:spPr>
            <a:xfrm flipH="false" flipV="true" rot="0">
              <a:off x="0" y="0"/>
              <a:ext cx="4090797" cy="671703"/>
            </a:xfrm>
            <a:custGeom>
              <a:avLst/>
              <a:gdLst/>
              <a:ahLst/>
              <a:cxnLst/>
              <a:rect r="r" b="b" t="t" l="l"/>
              <a:pathLst>
                <a:path h="671703" w="4090797">
                  <a:moveTo>
                    <a:pt x="0" y="671703"/>
                  </a:moveTo>
                  <a:lnTo>
                    <a:pt x="4090797" y="671703"/>
                  </a:lnTo>
                  <a:lnTo>
                    <a:pt x="4090797" y="0"/>
                  </a:lnTo>
                  <a:lnTo>
                    <a:pt x="0" y="0"/>
                  </a:lnTo>
                  <a:lnTo>
                    <a:pt x="0" y="671703"/>
                  </a:lnTo>
                  <a:close/>
                </a:path>
              </a:pathLst>
            </a:custGeom>
            <a:solidFill>
              <a:srgbClr val="FF914D"/>
            </a:solidFill>
          </p:spPr>
        </p:sp>
      </p:grpSp>
      <p:sp>
        <p:nvSpPr>
          <p:cNvPr name="Freeform 9" id="9"/>
          <p:cNvSpPr/>
          <p:nvPr/>
        </p:nvSpPr>
        <p:spPr>
          <a:xfrm flipH="false" flipV="false" rot="-5400000">
            <a:off x="12120564" y="5052657"/>
            <a:ext cx="10084834" cy="2269088"/>
          </a:xfrm>
          <a:custGeom>
            <a:avLst/>
            <a:gdLst/>
            <a:ahLst/>
            <a:cxnLst/>
            <a:rect r="r" b="b" t="t" l="l"/>
            <a:pathLst>
              <a:path h="2269088" w="10084834">
                <a:moveTo>
                  <a:pt x="0" y="0"/>
                </a:moveTo>
                <a:lnTo>
                  <a:pt x="10084834" y="0"/>
                </a:lnTo>
                <a:lnTo>
                  <a:pt x="10084834" y="2269088"/>
                </a:lnTo>
                <a:lnTo>
                  <a:pt x="0" y="226908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-10800000">
            <a:off x="15248496" y="1130884"/>
            <a:ext cx="3068079" cy="503739"/>
            <a:chOff x="0" y="0"/>
            <a:chExt cx="4090772" cy="671652"/>
          </a:xfrm>
        </p:grpSpPr>
        <p:sp>
          <p:nvSpPr>
            <p:cNvPr name="Freeform 11" id="11"/>
            <p:cNvSpPr/>
            <p:nvPr/>
          </p:nvSpPr>
          <p:spPr>
            <a:xfrm flipH="false" flipV="true" rot="0">
              <a:off x="0" y="0"/>
              <a:ext cx="4090797" cy="671703"/>
            </a:xfrm>
            <a:custGeom>
              <a:avLst/>
              <a:gdLst/>
              <a:ahLst/>
              <a:cxnLst/>
              <a:rect r="r" b="b" t="t" l="l"/>
              <a:pathLst>
                <a:path h="671703" w="4090797">
                  <a:moveTo>
                    <a:pt x="0" y="671703"/>
                  </a:moveTo>
                  <a:lnTo>
                    <a:pt x="4090797" y="671703"/>
                  </a:lnTo>
                  <a:lnTo>
                    <a:pt x="4090797" y="0"/>
                  </a:lnTo>
                  <a:lnTo>
                    <a:pt x="0" y="0"/>
                  </a:lnTo>
                  <a:lnTo>
                    <a:pt x="0" y="671703"/>
                  </a:lnTo>
                  <a:close/>
                </a:path>
              </a:pathLst>
            </a:custGeom>
            <a:solidFill>
              <a:srgbClr val="FF914D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5688825" y="96222"/>
            <a:ext cx="2423739" cy="924096"/>
            <a:chOff x="0" y="0"/>
            <a:chExt cx="2307438" cy="879754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307463" cy="879729"/>
            </a:xfrm>
            <a:custGeom>
              <a:avLst/>
              <a:gdLst/>
              <a:ahLst/>
              <a:cxnLst/>
              <a:rect r="r" b="b" t="t" l="l"/>
              <a:pathLst>
                <a:path h="879729" w="2307463">
                  <a:moveTo>
                    <a:pt x="0" y="0"/>
                  </a:moveTo>
                  <a:lnTo>
                    <a:pt x="2307463" y="0"/>
                  </a:lnTo>
                  <a:lnTo>
                    <a:pt x="2307463" y="879729"/>
                  </a:lnTo>
                  <a:lnTo>
                    <a:pt x="0" y="8797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-76294" r="1" b="-85995"/>
              </a:stretch>
            </a:blipFill>
          </p:spPr>
        </p:sp>
      </p:grpSp>
      <p:sp>
        <p:nvSpPr>
          <p:cNvPr name="Freeform 14" id="14"/>
          <p:cNvSpPr/>
          <p:nvPr/>
        </p:nvSpPr>
        <p:spPr>
          <a:xfrm flipH="false" flipV="false" rot="0">
            <a:off x="9857003" y="9407052"/>
            <a:ext cx="14979358" cy="908523"/>
          </a:xfrm>
          <a:custGeom>
            <a:avLst/>
            <a:gdLst/>
            <a:ahLst/>
            <a:cxnLst/>
            <a:rect r="r" b="b" t="t" l="l"/>
            <a:pathLst>
              <a:path h="908523" w="14979358">
                <a:moveTo>
                  <a:pt x="0" y="0"/>
                </a:moveTo>
                <a:lnTo>
                  <a:pt x="14979358" y="0"/>
                </a:lnTo>
                <a:lnTo>
                  <a:pt x="14979358" y="908523"/>
                </a:lnTo>
                <a:lnTo>
                  <a:pt x="0" y="90852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252268" y="89049"/>
            <a:ext cx="2497801" cy="1034663"/>
          </a:xfrm>
          <a:custGeom>
            <a:avLst/>
            <a:gdLst/>
            <a:ahLst/>
            <a:cxnLst/>
            <a:rect r="r" b="b" t="t" l="l"/>
            <a:pathLst>
              <a:path h="1034663" w="2497801">
                <a:moveTo>
                  <a:pt x="0" y="0"/>
                </a:moveTo>
                <a:lnTo>
                  <a:pt x="2497801" y="0"/>
                </a:lnTo>
                <a:lnTo>
                  <a:pt x="2497801" y="1034663"/>
                </a:lnTo>
                <a:lnTo>
                  <a:pt x="0" y="103466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5988" t="-27243" r="-4375" b="-52819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6236411" y="74654"/>
            <a:ext cx="5815177" cy="987762"/>
          </a:xfrm>
          <a:custGeom>
            <a:avLst/>
            <a:gdLst/>
            <a:ahLst/>
            <a:cxnLst/>
            <a:rect r="r" b="b" t="t" l="l"/>
            <a:pathLst>
              <a:path h="987762" w="5815177">
                <a:moveTo>
                  <a:pt x="0" y="0"/>
                </a:moveTo>
                <a:lnTo>
                  <a:pt x="5815178" y="0"/>
                </a:lnTo>
                <a:lnTo>
                  <a:pt x="5815178" y="987762"/>
                </a:lnTo>
                <a:lnTo>
                  <a:pt x="0" y="987762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-11062" t="-153011" r="-9149" b="-154810"/>
            </a:stretch>
          </a:blipFill>
        </p:spPr>
      </p:sp>
      <p:sp>
        <p:nvSpPr>
          <p:cNvPr id="20" name="TextBox 19"/>
          <p:cNvSpPr txBox="1"/>
          <p:nvPr/>
        </p:nvSpPr>
        <p:spPr>
          <a:xfrm>
            <a:off x="822960" y="1810512"/>
            <a:ext cx="10972800" cy="3291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 i="0">
                <a:solidFill>
                  <a:srgbClr val="C2410C"/>
                </a:solidFill>
                <a:latin typeface="Segoe UI Semibold"/>
                <a:ea typeface="Segoe UI Semibold"/>
                <a:cs typeface="Segoe UI Semibold"/>
              </a:rPr>
              <a:t>4. Technical Design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2084832"/>
            <a:ext cx="14813280" cy="7315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4000" b="0" i="0">
                <a:solidFill>
                  <a:srgbClr val="000000"/>
                </a:solidFill>
                <a:latin typeface="Bahnschrift SemiBold"/>
                <a:ea typeface="Bahnschrift SemiBold"/>
                <a:cs typeface="Bahnschrift SemiBold"/>
              </a:rPr>
              <a:t>Self-healing recovery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2761488"/>
            <a:ext cx="1481328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100" b="0" i="0">
                <a:solidFill>
                  <a:srgbClr val="5C5C5C"/>
                </a:solidFill>
                <a:latin typeface="Segoe UI"/>
                <a:ea typeface="Segoe UI"/>
                <a:cs typeface="Segoe UI"/>
              </a:rPr>
              <a:t>Trust is earned back with fresh evidence, never granted</a:t>
            </a:r>
          </a:p>
        </p:txBody>
      </p:sp>
      <p:sp>
        <p:nvSpPr>
          <p:cNvPr id="23" name="Oval 22"/>
          <p:cNvSpPr/>
          <p:nvPr/>
        </p:nvSpPr>
        <p:spPr>
          <a:xfrm>
            <a:off x="822960" y="3246120"/>
            <a:ext cx="128016" cy="128016"/>
          </a:xfrm>
          <a:prstGeom prst="ellipse">
            <a:avLst/>
          </a:prstGeom>
          <a:solidFill>
            <a:srgbClr val="FFFFFF"/>
          </a:solidFill>
          <a:ln w="22225">
            <a:solidFill>
              <a:srgbClr val="FF91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4" name="Connector 23"/>
          <p:cNvCxnSpPr/>
          <p:nvPr/>
        </p:nvCxnSpPr>
        <p:spPr>
          <a:xfrm>
            <a:off x="950976" y="3310128"/>
            <a:ext cx="1335024" cy="0"/>
          </a:xfrm>
          <a:prstGeom prst="line">
            <a:avLst/>
          </a:prstGeom>
          <a:ln w="22225">
            <a:solidFill>
              <a:srgbClr val="FF91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822960" y="3611880"/>
            <a:ext cx="1664208" cy="914400"/>
          </a:xfrm>
          <a:prstGeom prst="roundRect">
            <a:avLst>
              <a:gd name="adj" fmla="val 12000"/>
            </a:avLst>
          </a:prstGeom>
          <a:solidFill>
            <a:srgbClr val="1F1F1F"/>
          </a:solidFill>
          <a:ln w="19050">
            <a:solidFill>
              <a:srgbClr val="1F1F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>
            <a:noAutofit/>
          </a:bodyPr>
          <a:lstStyle/>
          <a:p>
            <a:pPr algn="ctr">
              <a:lnSpc>
                <a:spcPct val="100000"/>
              </a:lnSpc>
            </a:pPr>
            <a:r>
              <a:rPr sz="1700" b="0" i="0">
                <a:solidFill>
                  <a:srgbClr val="FFFFFF"/>
                </a:solidFill>
                <a:latin typeface="Segoe UI Semibold"/>
                <a:ea typeface="Segoe UI Semibold"/>
                <a:cs typeface="Segoe UI Semibold"/>
              </a:rPr>
              <a:t>Quarantine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4617720"/>
            <a:ext cx="1755648" cy="8229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5C5C5C"/>
                </a:solidFill>
                <a:latin typeface="Segoe UI"/>
                <a:ea typeface="Segoe UI"/>
                <a:cs typeface="Segoe UI"/>
              </a:rPr>
              <a:t/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2496312" y="4069080"/>
            <a:ext cx="164592" cy="0"/>
          </a:xfrm>
          <a:prstGeom prst="line">
            <a:avLst/>
          </a:prstGeom>
          <a:ln w="1905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2670048" y="3611880"/>
            <a:ext cx="1664208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>
            <a:noAutofit/>
          </a:bodyPr>
          <a:lstStyle/>
          <a:p>
            <a:pPr algn="ctr">
              <a:lnSpc>
                <a:spcPct val="100000"/>
              </a:lnSpc>
            </a:pPr>
            <a:r>
              <a:rPr sz="1700" b="0" i="0">
                <a:solidFill>
                  <a:srgbClr val="000000"/>
                </a:solidFill>
                <a:latin typeface="Segoe UI Semibold"/>
                <a:ea typeface="Segoe UI Semibold"/>
                <a:cs typeface="Segoe UI Semibold"/>
              </a:rPr>
              <a:t>Authorize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624328" y="4617720"/>
            <a:ext cx="1755648" cy="8229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5C5C5C"/>
                </a:solidFill>
                <a:latin typeface="Segoe UI"/>
                <a:ea typeface="Segoe UI"/>
                <a:cs typeface="Segoe UI"/>
              </a:rPr>
              <a:t>operator starts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4343400" y="4069080"/>
            <a:ext cx="164592" cy="0"/>
          </a:xfrm>
          <a:prstGeom prst="line">
            <a:avLst/>
          </a:prstGeom>
          <a:ln w="1905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4517136" y="3611880"/>
            <a:ext cx="1664208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>
            <a:noAutofit/>
          </a:bodyPr>
          <a:lstStyle/>
          <a:p>
            <a:pPr algn="ctr">
              <a:lnSpc>
                <a:spcPct val="100000"/>
              </a:lnSpc>
            </a:pPr>
            <a:r>
              <a:rPr sz="1700" b="0" i="0">
                <a:solidFill>
                  <a:srgbClr val="000000"/>
                </a:solidFill>
                <a:latin typeface="Segoe UI Semibold"/>
                <a:ea typeface="Segoe UI Semibold"/>
                <a:cs typeface="Segoe UI Semibold"/>
              </a:rPr>
              <a:t>Remediate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71416" y="4617720"/>
            <a:ext cx="1755648" cy="8229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5C5C5C"/>
                </a:solidFill>
                <a:latin typeface="Segoe UI"/>
                <a:ea typeface="Segoe UI"/>
                <a:cs typeface="Segoe UI"/>
              </a:rPr>
              <a:t>known-good config, acked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6190488" y="4069080"/>
            <a:ext cx="164592" cy="0"/>
          </a:xfrm>
          <a:prstGeom prst="line">
            <a:avLst/>
          </a:prstGeom>
          <a:ln w="1905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6364224" y="3611880"/>
            <a:ext cx="1664208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>
            <a:noAutofit/>
          </a:bodyPr>
          <a:lstStyle/>
          <a:p>
            <a:pPr algn="ctr">
              <a:lnSpc>
                <a:spcPct val="100000"/>
              </a:lnSpc>
            </a:pPr>
            <a:r>
              <a:rPr sz="1700" b="0" i="0">
                <a:solidFill>
                  <a:srgbClr val="000000"/>
                </a:solidFill>
                <a:latin typeface="Segoe UI Semibold"/>
                <a:ea typeface="Segoe UI Semibold"/>
                <a:cs typeface="Segoe UI Semibold"/>
              </a:rPr>
              <a:t>Health checks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18504" y="4617720"/>
            <a:ext cx="1755648" cy="8229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5C5C5C"/>
                </a:solidFill>
                <a:latin typeface="Segoe UI"/>
                <a:ea typeface="Segoe UI"/>
                <a:cs typeface="Segoe UI"/>
              </a:rPr>
              <a:t>3 reports, each judged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8037576" y="4069080"/>
            <a:ext cx="164592" cy="0"/>
          </a:xfrm>
          <a:prstGeom prst="line">
            <a:avLst/>
          </a:prstGeom>
          <a:ln w="1905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ounded Rectangle 36"/>
          <p:cNvSpPr/>
          <p:nvPr/>
        </p:nvSpPr>
        <p:spPr>
          <a:xfrm>
            <a:off x="8211312" y="3611880"/>
            <a:ext cx="1664208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>
            <a:noAutofit/>
          </a:bodyPr>
          <a:lstStyle/>
          <a:p>
            <a:pPr algn="ctr">
              <a:lnSpc>
                <a:spcPct val="100000"/>
              </a:lnSpc>
            </a:pPr>
            <a:r>
              <a:rPr sz="1700" b="0" i="0">
                <a:solidFill>
                  <a:srgbClr val="000000"/>
                </a:solidFill>
                <a:latin typeface="Segoe UI Semibold"/>
                <a:ea typeface="Segoe UI Semibold"/>
                <a:cs typeface="Segoe UI Semibold"/>
              </a:rPr>
              <a:t>Twin match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165592" y="4617720"/>
            <a:ext cx="1755648" cy="8229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5C5C5C"/>
                </a:solidFill>
                <a:latin typeface="Segoe UI"/>
                <a:ea typeface="Segoe UI"/>
                <a:cs typeface="Segoe UI"/>
              </a:rPr>
              <a:t>expected = reported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9884664" y="4069080"/>
            <a:ext cx="164592" cy="0"/>
          </a:xfrm>
          <a:prstGeom prst="line">
            <a:avLst/>
          </a:prstGeom>
          <a:ln w="1905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ounded Rectangle 39"/>
          <p:cNvSpPr/>
          <p:nvPr/>
        </p:nvSpPr>
        <p:spPr>
          <a:xfrm>
            <a:off x="10058400" y="3611880"/>
            <a:ext cx="1664208" cy="914400"/>
          </a:xfrm>
          <a:prstGeom prst="roundRect">
            <a:avLst>
              <a:gd name="adj" fmla="val 12000"/>
            </a:avLst>
          </a:prstGeom>
          <a:solidFill>
            <a:srgbClr val="FF914D"/>
          </a:solidFill>
          <a:ln w="19050">
            <a:solidFill>
              <a:srgbClr val="FF91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>
            <a:noAutofit/>
          </a:bodyPr>
          <a:lstStyle/>
          <a:p>
            <a:pPr algn="ctr">
              <a:lnSpc>
                <a:spcPct val="100000"/>
              </a:lnSpc>
            </a:pPr>
            <a:r>
              <a:rPr sz="1700" b="0" i="0">
                <a:solidFill>
                  <a:srgbClr val="000000"/>
                </a:solidFill>
                <a:latin typeface="Segoe UI Semibold"/>
                <a:ea typeface="Segoe UI Semibold"/>
                <a:cs typeface="Segoe UI Semibold"/>
              </a:rPr>
              <a:t>Verified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012680" y="4617720"/>
            <a:ext cx="1755648" cy="8229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5C5C5C"/>
                </a:solidFill>
                <a:latin typeface="Segoe UI"/>
                <a:ea typeface="Segoe UI"/>
                <a:cs typeface="Segoe UI"/>
              </a:rPr>
              <a:t>ramp begins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11731752" y="4069080"/>
            <a:ext cx="164592" cy="0"/>
          </a:xfrm>
          <a:prstGeom prst="line">
            <a:avLst/>
          </a:prstGeom>
          <a:ln w="1905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Rounded Rectangle 42"/>
          <p:cNvSpPr/>
          <p:nvPr/>
        </p:nvSpPr>
        <p:spPr>
          <a:xfrm>
            <a:off x="11905488" y="3611880"/>
            <a:ext cx="1664208" cy="914400"/>
          </a:xfrm>
          <a:prstGeom prst="roundRect">
            <a:avLst>
              <a:gd name="adj" fmla="val 12000"/>
            </a:avLst>
          </a:prstGeom>
          <a:solidFill>
            <a:srgbClr val="FF914D"/>
          </a:solidFill>
          <a:ln w="19050">
            <a:solidFill>
              <a:srgbClr val="FF91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>
            <a:noAutofit/>
          </a:bodyPr>
          <a:lstStyle/>
          <a:p>
            <a:pPr algn="ctr">
              <a:lnSpc>
                <a:spcPct val="100000"/>
              </a:lnSpc>
            </a:pPr>
            <a:r>
              <a:rPr sz="1700" b="0" i="0">
                <a:solidFill>
                  <a:srgbClr val="000000"/>
                </a:solidFill>
                <a:latin typeface="Segoe UI Semibold"/>
                <a:ea typeface="Segoe UI Semibold"/>
                <a:cs typeface="Segoe UI Semibold"/>
              </a:rPr>
              <a:t>Recovered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859768" y="4617720"/>
            <a:ext cx="1755648" cy="8229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5C5C5C"/>
                </a:solidFill>
                <a:latin typeface="Segoe UI"/>
                <a:ea typeface="Segoe UI"/>
                <a:cs typeface="Segoe UI"/>
              </a:rPr>
              <a:t>score ≥ 50, access back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13578840" y="4069080"/>
            <a:ext cx="164592" cy="0"/>
          </a:xfrm>
          <a:prstGeom prst="line">
            <a:avLst/>
          </a:prstGeom>
          <a:ln w="1905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Rounded Rectangle 45"/>
          <p:cNvSpPr/>
          <p:nvPr/>
        </p:nvSpPr>
        <p:spPr>
          <a:xfrm>
            <a:off x="13752576" y="3611880"/>
            <a:ext cx="1664208" cy="914400"/>
          </a:xfrm>
          <a:prstGeom prst="roundRect">
            <a:avLst>
              <a:gd name="adj" fmla="val 12000"/>
            </a:avLst>
          </a:prstGeom>
          <a:solidFill>
            <a:srgbClr val="000000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>
            <a:noAutofit/>
          </a:bodyPr>
          <a:lstStyle/>
          <a:p>
            <a:pPr algn="ctr">
              <a:lnSpc>
                <a:spcPct val="100000"/>
              </a:lnSpc>
            </a:pPr>
            <a:r>
              <a:rPr sz="1700" b="0" i="0">
                <a:solidFill>
                  <a:srgbClr val="FFFFFF"/>
                </a:solidFill>
                <a:latin typeface="Segoe UI Semibold"/>
                <a:ea typeface="Segoe UI Semibold"/>
                <a:cs typeface="Segoe UI Semibold"/>
              </a:rPr>
              <a:t>Trusted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3706856" y="4617720"/>
            <a:ext cx="1755648" cy="8229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5C5C5C"/>
                </a:solidFill>
                <a:latin typeface="Segoe UI"/>
                <a:ea typeface="Segoe UI"/>
                <a:cs typeface="Segoe UI"/>
              </a:rPr>
              <a:t>score ≥ 85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7196328" y="5440680"/>
            <a:ext cx="0" cy="548640"/>
          </a:xfrm>
          <a:prstGeom prst="line">
            <a:avLst/>
          </a:prstGeom>
          <a:ln w="19050">
            <a:solidFill>
              <a:srgbClr val="C2410C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3502152" y="5989320"/>
            <a:ext cx="9235440" cy="0"/>
          </a:xfrm>
          <a:prstGeom prst="line">
            <a:avLst/>
          </a:prstGeom>
          <a:ln w="19050">
            <a:solidFill>
              <a:srgbClr val="C2410C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3502152" y="5440680"/>
            <a:ext cx="0" cy="548640"/>
          </a:xfrm>
          <a:prstGeom prst="line">
            <a:avLst/>
          </a:prstGeom>
          <a:ln w="15875">
            <a:solidFill>
              <a:srgbClr val="C2410C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5349240" y="5440680"/>
            <a:ext cx="0" cy="548640"/>
          </a:xfrm>
          <a:prstGeom prst="line">
            <a:avLst/>
          </a:prstGeom>
          <a:ln w="15875">
            <a:solidFill>
              <a:srgbClr val="C2410C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9043416" y="5440680"/>
            <a:ext cx="0" cy="548640"/>
          </a:xfrm>
          <a:prstGeom prst="line">
            <a:avLst/>
          </a:prstGeom>
          <a:ln w="15875">
            <a:solidFill>
              <a:srgbClr val="C2410C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10890504" y="5440680"/>
            <a:ext cx="0" cy="548640"/>
          </a:xfrm>
          <a:prstGeom prst="line">
            <a:avLst/>
          </a:prstGeom>
          <a:ln w="15875">
            <a:solidFill>
              <a:srgbClr val="C2410C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12737592" y="5440680"/>
            <a:ext cx="0" cy="548640"/>
          </a:xfrm>
          <a:prstGeom prst="line">
            <a:avLst/>
          </a:prstGeom>
          <a:ln w="15875">
            <a:solidFill>
              <a:srgbClr val="C2410C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V="1">
            <a:off x="1655064" y="4572000"/>
            <a:ext cx="0" cy="1417320"/>
          </a:xfrm>
          <a:prstGeom prst="line">
            <a:avLst/>
          </a:prstGeom>
          <a:ln w="19050">
            <a:solidFill>
              <a:srgbClr val="C2410C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H="1">
            <a:off x="1655064" y="5989320"/>
            <a:ext cx="1847088" cy="0"/>
          </a:xfrm>
          <a:prstGeom prst="line">
            <a:avLst/>
          </a:prstGeom>
          <a:ln w="19050">
            <a:solidFill>
              <a:srgbClr val="C2410C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TextBox 56"/>
          <p:cNvSpPr txBox="1"/>
          <p:nvPr/>
        </p:nvSpPr>
        <p:spPr>
          <a:xfrm>
            <a:off x="2834640" y="6080760"/>
            <a:ext cx="1188720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 i="0">
                <a:solidFill>
                  <a:srgbClr val="C2410C"/>
                </a:solidFill>
                <a:latin typeface="Segoe UI Semibold"/>
                <a:ea typeface="Segoe UI Semibold"/>
                <a:cs typeface="Segoe UI Semibold"/>
              </a:rPr>
              <a:t>any failure → back to QUARANTINED: </a:t>
            </a:r>
            <a:r>
              <a:rPr sz="1600" b="0" i="0">
                <a:solidFill>
                  <a:srgbClr val="1A1A1A"/>
                </a:solidFill>
                <a:latin typeface="Segoe UI"/>
                <a:ea typeface="Segoe UI"/>
                <a:cs typeface="Segoe UI"/>
              </a:rPr>
              <a:t>an authenticated fault, the 15-min verification deadline, the 2-h ramp deadline, revocation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22960" y="6903720"/>
            <a:ext cx="7315200" cy="21945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700" b="0" i="0">
                <a:solidFill>
                  <a:srgbClr val="1A1A1A"/>
                </a:solidFill>
                <a:latin typeface="Segoe UI Semibold"/>
                <a:ea typeface="Segoe UI Semibold"/>
                <a:cs typeface="Segoe UI Semibold"/>
              </a:rPr>
              <a:t>Rules</a:t>
            </a:r>
          </a:p>
          <a:p>
            <a:pPr algn="l" marL="292608" indent="-292608">
              <a:lnSpc>
                <a:spcPct val="108000"/>
              </a:lnSpc>
              <a:spcAft>
                <a:spcPts val="400"/>
              </a:spcAft>
              <a:buClr>
                <a:srgbClr val="FF914D"/>
              </a:buClr>
              <a:buSzPct val="70000"/>
              <a:buFont typeface="Arial"/>
              <a:buChar char="■"/>
            </a:pPr>
            <a:r>
              <a:rPr sz="1700" b="0" i="0">
                <a:solidFill>
                  <a:srgbClr val="1A1A1A"/>
                </a:solidFill>
                <a:latin typeface="Segoe UI"/>
                <a:ea typeface="Segoe UI"/>
                <a:cs typeface="Segoe UI"/>
              </a:rPr>
              <a:t>each health check judges that report alone: a stale twin field cannot pass it</a:t>
            </a:r>
          </a:p>
          <a:p>
            <a:pPr algn="l" marL="292608" indent="-292608">
              <a:lnSpc>
                <a:spcPct val="108000"/>
              </a:lnSpc>
              <a:spcAft>
                <a:spcPts val="400"/>
              </a:spcAft>
              <a:buClr>
                <a:srgbClr val="FF914D"/>
              </a:buClr>
              <a:buSzPct val="70000"/>
              <a:buFont typeface="Arial"/>
              <a:buChar char="■"/>
            </a:pPr>
            <a:r>
              <a:rPr sz="1700" b="0" i="0">
                <a:solidFill>
                  <a:srgbClr val="1A1A1A"/>
                </a:solidFill>
                <a:latin typeface="Segoe UI"/>
                <a:ea typeface="Segoe UI"/>
                <a:cs typeface="Segoe UI"/>
              </a:rPr>
              <a:t>only the recovery channel stays open while quarantined</a:t>
            </a:r>
          </a:p>
          <a:p>
            <a:pPr algn="l" marL="292608" indent="-292608">
              <a:lnSpc>
                <a:spcPct val="108000"/>
              </a:lnSpc>
              <a:spcAft>
                <a:spcPts val="400"/>
              </a:spcAft>
              <a:buClr>
                <a:srgbClr val="FF914D"/>
              </a:buClr>
              <a:buSzPct val="70000"/>
              <a:buFont typeface="Arial"/>
              <a:buChar char="■"/>
            </a:pPr>
            <a:r>
              <a:rPr sz="1700" b="0" i="0">
                <a:solidFill>
                  <a:srgbClr val="1A1A1A"/>
                </a:solidFill>
                <a:latin typeface="Segoe UI"/>
                <a:ea typeface="Segoe UI"/>
                <a:cs typeface="Segoe UI"/>
              </a:rPr>
              <a:t>software remediation only: it cannot repair hardware</a:t>
            </a:r>
          </a:p>
        </p:txBody>
      </p:sp>
      <p:sp>
        <p:nvSpPr>
          <p:cNvPr id="59" name="Rectangle 58"/>
          <p:cNvSpPr/>
          <p:nvPr/>
        </p:nvSpPr>
        <p:spPr>
          <a:xfrm>
            <a:off x="8778240" y="6903720"/>
            <a:ext cx="6858000" cy="1783080"/>
          </a:xfrm>
          <a:prstGeom prst="rect">
            <a:avLst/>
          </a:prstGeom>
          <a:solidFill>
            <a:srgbClr val="F6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>
            <a:noAutofit/>
          </a:bodyPr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9006840" y="6995160"/>
            <a:ext cx="6492240" cy="20116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700" b="0" i="0">
                <a:solidFill>
                  <a:srgbClr val="1A1A1A"/>
                </a:solidFill>
                <a:latin typeface="Segoe UI Semibold"/>
                <a:ea typeface="Segoe UI Semibold"/>
                <a:cs typeface="Segoe UI Semibold"/>
              </a:rPr>
              <a:t>Live demo (announced time-lapse)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0" i="0">
                <a:solidFill>
                  <a:srgbClr val="1A1A1A"/>
                </a:solidFill>
                <a:latin typeface="Segoe UI"/>
                <a:ea typeface="Segoe UI"/>
                <a:cs typeface="Segoe UI"/>
              </a:rPr>
              <a:t>health checks 3 of 3 → </a:t>
            </a:r>
            <a:r>
              <a:rPr sz="1700" b="0" i="0">
                <a:solidFill>
                  <a:srgbClr val="1A1A1A"/>
                </a:solidFill>
                <a:latin typeface="Segoe UI Semibold"/>
                <a:ea typeface="Segoe UI Semibold"/>
                <a:cs typeface="Segoe UI Semibold"/>
              </a:rPr>
              <a:t>VERIFIED</a:t>
            </a:r>
            <a:r>
              <a:rPr sz="1700" b="0" i="0">
                <a:solidFill>
                  <a:srgbClr val="1A1A1A"/>
                </a:solidFill>
                <a:latin typeface="Segoe UI"/>
                <a:ea typeface="Segoe UI"/>
                <a:cs typeface="Segoe UI"/>
              </a:rPr>
              <a:t> at score 30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0" i="0">
                <a:solidFill>
                  <a:srgbClr val="1A1A1A"/>
                </a:solidFill>
                <a:latin typeface="Segoe UI Semibold"/>
                <a:ea typeface="Segoe UI Semibold"/>
                <a:cs typeface="Segoe UI Semibold"/>
              </a:rPr>
              <a:t>RECOVERED </a:t>
            </a:r>
            <a:r>
              <a:rPr sz="1700" b="0" i="0">
                <a:solidFill>
                  <a:srgbClr val="1A1A1A"/>
                </a:solidFill>
                <a:latin typeface="Segoe UI"/>
                <a:ea typeface="Segoe UI"/>
                <a:cs typeface="Segoe UI"/>
              </a:rPr>
              <a:t>score 80 after 30 min of credited evidence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0" i="0">
                <a:solidFill>
                  <a:srgbClr val="1A1A1A"/>
                </a:solidFill>
                <a:latin typeface="Segoe UI Semibold"/>
                <a:ea typeface="Segoe UI Semibold"/>
                <a:cs typeface="Segoe UI Semibold"/>
              </a:rPr>
              <a:t>TRUSTED </a:t>
            </a:r>
            <a:r>
              <a:rPr sz="1700" b="0" i="0">
                <a:solidFill>
                  <a:srgbClr val="1A1A1A"/>
                </a:solidFill>
                <a:latin typeface="Segoe UI"/>
                <a:ea typeface="Segoe UI"/>
                <a:cs typeface="Segoe UI"/>
              </a:rPr>
              <a:t>score 85 after 42 min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22960" y="9747504"/>
            <a:ext cx="822960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 i="0">
                <a:solidFill>
                  <a:srgbClr val="000000"/>
                </a:solidFill>
                <a:latin typeface="Segoe UI Semibold"/>
                <a:ea typeface="Segoe UI Semibold"/>
                <a:cs typeface="Segoe UI Semibold"/>
              </a:rPr>
              <a:t>Q-SHIELD</a:t>
            </a:r>
            <a:r>
              <a:rPr sz="1500" b="0" i="0">
                <a:solidFill>
                  <a:srgbClr val="000000"/>
                </a:solidFill>
                <a:latin typeface="Segoe UI"/>
                <a:ea typeface="Segoe UI"/>
                <a:cs typeface="Segoe UI"/>
              </a:rPr>
              <a:t>   continuous device trust with post-quantum-signed evidence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3350240" y="9747504"/>
            <a:ext cx="228600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500" b="0" i="0">
                <a:solidFill>
                  <a:srgbClr val="000000"/>
                </a:solidFill>
                <a:latin typeface="Segoe UI"/>
                <a:ea typeface="Segoe UI"/>
                <a:cs typeface="Segoe UI"/>
              </a:rPr>
              <a:t>18 / 24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name="Freeform 2" id="2"/>
          <p:cNvSpPr/>
          <p:nvPr/>
        </p:nvSpPr>
        <p:spPr>
          <a:xfrm flipH="false" flipV="false" rot="0">
            <a:off x="-350872" y="9407052"/>
            <a:ext cx="14979358" cy="908523"/>
          </a:xfrm>
          <a:custGeom>
            <a:avLst/>
            <a:gdLst/>
            <a:ahLst/>
            <a:cxnLst/>
            <a:rect r="r" b="b" t="t" l="l"/>
            <a:pathLst>
              <a:path h="908523" w="14979358">
                <a:moveTo>
                  <a:pt x="0" y="0"/>
                </a:moveTo>
                <a:lnTo>
                  <a:pt x="14979357" y="0"/>
                </a:lnTo>
                <a:lnTo>
                  <a:pt x="14979357" y="908523"/>
                </a:lnTo>
                <a:lnTo>
                  <a:pt x="0" y="90852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2273265" y="1130884"/>
            <a:ext cx="6870735" cy="543077"/>
            <a:chOff x="0" y="0"/>
            <a:chExt cx="9160980" cy="72410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9161018" cy="724154"/>
            </a:xfrm>
            <a:custGeom>
              <a:avLst/>
              <a:gdLst/>
              <a:ahLst/>
              <a:cxnLst/>
              <a:rect r="r" b="b" t="t" l="l"/>
              <a:pathLst>
                <a:path h="724154" w="9161018">
                  <a:moveTo>
                    <a:pt x="0" y="0"/>
                  </a:moveTo>
                  <a:lnTo>
                    <a:pt x="9161018" y="0"/>
                  </a:lnTo>
                  <a:lnTo>
                    <a:pt x="9161018" y="724154"/>
                  </a:lnTo>
                  <a:lnTo>
                    <a:pt x="0" y="72415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914D"/>
            </a:solidFill>
          </p:spPr>
        </p:sp>
      </p:grpSp>
      <p:grpSp>
        <p:nvGrpSpPr>
          <p:cNvPr name="Group 5" id="5"/>
          <p:cNvGrpSpPr/>
          <p:nvPr/>
        </p:nvGrpSpPr>
        <p:grpSpPr>
          <a:xfrm rot="-10800000">
            <a:off x="9124950" y="1130884"/>
            <a:ext cx="6870735" cy="543077"/>
            <a:chOff x="0" y="0"/>
            <a:chExt cx="9160980" cy="724103"/>
          </a:xfrm>
        </p:grpSpPr>
        <p:sp>
          <p:nvSpPr>
            <p:cNvPr name="Freeform 6" id="6"/>
            <p:cNvSpPr/>
            <p:nvPr/>
          </p:nvSpPr>
          <p:spPr>
            <a:xfrm flipH="false" flipV="true" rot="0">
              <a:off x="0" y="0"/>
              <a:ext cx="9161018" cy="724154"/>
            </a:xfrm>
            <a:custGeom>
              <a:avLst/>
              <a:gdLst/>
              <a:ahLst/>
              <a:cxnLst/>
              <a:rect r="r" b="b" t="t" l="l"/>
              <a:pathLst>
                <a:path h="724154" w="9161018">
                  <a:moveTo>
                    <a:pt x="0" y="724154"/>
                  </a:moveTo>
                  <a:lnTo>
                    <a:pt x="9161018" y="724154"/>
                  </a:lnTo>
                  <a:lnTo>
                    <a:pt x="9161018" y="0"/>
                  </a:lnTo>
                  <a:lnTo>
                    <a:pt x="0" y="0"/>
                  </a:lnTo>
                  <a:lnTo>
                    <a:pt x="0" y="724154"/>
                  </a:lnTo>
                  <a:close/>
                </a:path>
              </a:pathLst>
            </a:custGeom>
            <a:solidFill>
              <a:srgbClr val="FF914D"/>
            </a:solidFill>
          </p:spPr>
        </p:sp>
      </p:grpSp>
      <p:grpSp>
        <p:nvGrpSpPr>
          <p:cNvPr name="Group 7" id="7"/>
          <p:cNvGrpSpPr/>
          <p:nvPr/>
        </p:nvGrpSpPr>
        <p:grpSpPr>
          <a:xfrm rot="-10800000">
            <a:off x="-32871" y="1130884"/>
            <a:ext cx="3068079" cy="503739"/>
            <a:chOff x="0" y="0"/>
            <a:chExt cx="4090772" cy="671652"/>
          </a:xfrm>
        </p:grpSpPr>
        <p:sp>
          <p:nvSpPr>
            <p:cNvPr name="Freeform 8" id="8"/>
            <p:cNvSpPr/>
            <p:nvPr/>
          </p:nvSpPr>
          <p:spPr>
            <a:xfrm flipH="false" flipV="true" rot="0">
              <a:off x="0" y="0"/>
              <a:ext cx="4090797" cy="671703"/>
            </a:xfrm>
            <a:custGeom>
              <a:avLst/>
              <a:gdLst/>
              <a:ahLst/>
              <a:cxnLst/>
              <a:rect r="r" b="b" t="t" l="l"/>
              <a:pathLst>
                <a:path h="671703" w="4090797">
                  <a:moveTo>
                    <a:pt x="0" y="671703"/>
                  </a:moveTo>
                  <a:lnTo>
                    <a:pt x="4090797" y="671703"/>
                  </a:lnTo>
                  <a:lnTo>
                    <a:pt x="4090797" y="0"/>
                  </a:lnTo>
                  <a:lnTo>
                    <a:pt x="0" y="0"/>
                  </a:lnTo>
                  <a:lnTo>
                    <a:pt x="0" y="671703"/>
                  </a:lnTo>
                  <a:close/>
                </a:path>
              </a:pathLst>
            </a:custGeom>
            <a:solidFill>
              <a:srgbClr val="FF914D"/>
            </a:solidFill>
          </p:spPr>
        </p:sp>
      </p:grpSp>
      <p:sp>
        <p:nvSpPr>
          <p:cNvPr name="Freeform 9" id="9"/>
          <p:cNvSpPr/>
          <p:nvPr/>
        </p:nvSpPr>
        <p:spPr>
          <a:xfrm flipH="false" flipV="false" rot="-5400000">
            <a:off x="12120564" y="5052657"/>
            <a:ext cx="10084834" cy="2269088"/>
          </a:xfrm>
          <a:custGeom>
            <a:avLst/>
            <a:gdLst/>
            <a:ahLst/>
            <a:cxnLst/>
            <a:rect r="r" b="b" t="t" l="l"/>
            <a:pathLst>
              <a:path h="2269088" w="10084834">
                <a:moveTo>
                  <a:pt x="0" y="0"/>
                </a:moveTo>
                <a:lnTo>
                  <a:pt x="10084834" y="0"/>
                </a:lnTo>
                <a:lnTo>
                  <a:pt x="10084834" y="2269088"/>
                </a:lnTo>
                <a:lnTo>
                  <a:pt x="0" y="226908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-10800000">
            <a:off x="15248496" y="1130884"/>
            <a:ext cx="3068079" cy="503739"/>
            <a:chOff x="0" y="0"/>
            <a:chExt cx="4090772" cy="671652"/>
          </a:xfrm>
        </p:grpSpPr>
        <p:sp>
          <p:nvSpPr>
            <p:cNvPr name="Freeform 11" id="11"/>
            <p:cNvSpPr/>
            <p:nvPr/>
          </p:nvSpPr>
          <p:spPr>
            <a:xfrm flipH="false" flipV="true" rot="0">
              <a:off x="0" y="0"/>
              <a:ext cx="4090797" cy="671703"/>
            </a:xfrm>
            <a:custGeom>
              <a:avLst/>
              <a:gdLst/>
              <a:ahLst/>
              <a:cxnLst/>
              <a:rect r="r" b="b" t="t" l="l"/>
              <a:pathLst>
                <a:path h="671703" w="4090797">
                  <a:moveTo>
                    <a:pt x="0" y="671703"/>
                  </a:moveTo>
                  <a:lnTo>
                    <a:pt x="4090797" y="671703"/>
                  </a:lnTo>
                  <a:lnTo>
                    <a:pt x="4090797" y="0"/>
                  </a:lnTo>
                  <a:lnTo>
                    <a:pt x="0" y="0"/>
                  </a:lnTo>
                  <a:lnTo>
                    <a:pt x="0" y="671703"/>
                  </a:lnTo>
                  <a:close/>
                </a:path>
              </a:pathLst>
            </a:custGeom>
            <a:solidFill>
              <a:srgbClr val="FF914D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5688825" y="96222"/>
            <a:ext cx="2423739" cy="924096"/>
            <a:chOff x="0" y="0"/>
            <a:chExt cx="2307438" cy="879754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307463" cy="879729"/>
            </a:xfrm>
            <a:custGeom>
              <a:avLst/>
              <a:gdLst/>
              <a:ahLst/>
              <a:cxnLst/>
              <a:rect r="r" b="b" t="t" l="l"/>
              <a:pathLst>
                <a:path h="879729" w="2307463">
                  <a:moveTo>
                    <a:pt x="0" y="0"/>
                  </a:moveTo>
                  <a:lnTo>
                    <a:pt x="2307463" y="0"/>
                  </a:lnTo>
                  <a:lnTo>
                    <a:pt x="2307463" y="879729"/>
                  </a:lnTo>
                  <a:lnTo>
                    <a:pt x="0" y="8797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-76294" r="1" b="-85995"/>
              </a:stretch>
            </a:blipFill>
          </p:spPr>
        </p:sp>
      </p:grpSp>
      <p:sp>
        <p:nvSpPr>
          <p:cNvPr name="Freeform 14" id="14"/>
          <p:cNvSpPr/>
          <p:nvPr/>
        </p:nvSpPr>
        <p:spPr>
          <a:xfrm flipH="false" flipV="false" rot="0">
            <a:off x="9857003" y="9407052"/>
            <a:ext cx="14979358" cy="908523"/>
          </a:xfrm>
          <a:custGeom>
            <a:avLst/>
            <a:gdLst/>
            <a:ahLst/>
            <a:cxnLst/>
            <a:rect r="r" b="b" t="t" l="l"/>
            <a:pathLst>
              <a:path h="908523" w="14979358">
                <a:moveTo>
                  <a:pt x="0" y="0"/>
                </a:moveTo>
                <a:lnTo>
                  <a:pt x="14979358" y="0"/>
                </a:lnTo>
                <a:lnTo>
                  <a:pt x="14979358" y="908523"/>
                </a:lnTo>
                <a:lnTo>
                  <a:pt x="0" y="90852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252268" y="89049"/>
            <a:ext cx="2497801" cy="1034663"/>
          </a:xfrm>
          <a:custGeom>
            <a:avLst/>
            <a:gdLst/>
            <a:ahLst/>
            <a:cxnLst/>
            <a:rect r="r" b="b" t="t" l="l"/>
            <a:pathLst>
              <a:path h="1034663" w="2497801">
                <a:moveTo>
                  <a:pt x="0" y="0"/>
                </a:moveTo>
                <a:lnTo>
                  <a:pt x="2497801" y="0"/>
                </a:lnTo>
                <a:lnTo>
                  <a:pt x="2497801" y="1034663"/>
                </a:lnTo>
                <a:lnTo>
                  <a:pt x="0" y="103466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5988" t="-27243" r="-4375" b="-52819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6236411" y="74654"/>
            <a:ext cx="5815177" cy="987762"/>
          </a:xfrm>
          <a:custGeom>
            <a:avLst/>
            <a:gdLst/>
            <a:ahLst/>
            <a:cxnLst/>
            <a:rect r="r" b="b" t="t" l="l"/>
            <a:pathLst>
              <a:path h="987762" w="5815177">
                <a:moveTo>
                  <a:pt x="0" y="0"/>
                </a:moveTo>
                <a:lnTo>
                  <a:pt x="5815178" y="0"/>
                </a:lnTo>
                <a:lnTo>
                  <a:pt x="5815178" y="987762"/>
                </a:lnTo>
                <a:lnTo>
                  <a:pt x="0" y="987762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-11062" t="-153011" r="-9149" b="-154810"/>
            </a:stretch>
          </a:blipFill>
        </p:spPr>
      </p:sp>
      <p:sp>
        <p:nvSpPr>
          <p:cNvPr id="20" name="TextBox 19"/>
          <p:cNvSpPr txBox="1"/>
          <p:nvPr/>
        </p:nvSpPr>
        <p:spPr>
          <a:xfrm>
            <a:off x="822960" y="1810512"/>
            <a:ext cx="10972800" cy="3291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 i="0">
                <a:solidFill>
                  <a:srgbClr val="C2410C"/>
                </a:solidFill>
                <a:latin typeface="Segoe UI Semibold"/>
                <a:ea typeface="Segoe UI Semibold"/>
                <a:cs typeface="Segoe UI Semibold"/>
              </a:rPr>
              <a:t>4. Technical Design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2084832"/>
            <a:ext cx="14813280" cy="7315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4000" b="0" i="0">
                <a:solidFill>
                  <a:srgbClr val="000000"/>
                </a:solidFill>
                <a:latin typeface="Bahnschrift SemiBold"/>
                <a:ea typeface="Bahnschrift SemiBold"/>
                <a:cs typeface="Bahnschrift SemiBold"/>
              </a:rPr>
              <a:t>Technology stack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2761488"/>
            <a:ext cx="1481328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100" b="0" i="0">
                <a:solidFill>
                  <a:srgbClr val="5C5C5C"/>
                </a:solidFill>
                <a:latin typeface="Segoe UI"/>
                <a:ea typeface="Segoe UI"/>
                <a:cs typeface="Segoe UI"/>
              </a:rPr>
              <a:t>Grouped by what each part does in the system</a:t>
            </a:r>
          </a:p>
        </p:txBody>
      </p:sp>
      <p:sp>
        <p:nvSpPr>
          <p:cNvPr id="23" name="Oval 22"/>
          <p:cNvSpPr/>
          <p:nvPr/>
        </p:nvSpPr>
        <p:spPr>
          <a:xfrm>
            <a:off x="822960" y="3246120"/>
            <a:ext cx="128016" cy="128016"/>
          </a:xfrm>
          <a:prstGeom prst="ellipse">
            <a:avLst/>
          </a:prstGeom>
          <a:solidFill>
            <a:srgbClr val="FFFFFF"/>
          </a:solidFill>
          <a:ln w="22225">
            <a:solidFill>
              <a:srgbClr val="FF91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4" name="Connector 23"/>
          <p:cNvCxnSpPr/>
          <p:nvPr/>
        </p:nvCxnSpPr>
        <p:spPr>
          <a:xfrm>
            <a:off x="950976" y="3310128"/>
            <a:ext cx="1335024" cy="0"/>
          </a:xfrm>
          <a:prstGeom prst="line">
            <a:avLst/>
          </a:prstGeom>
          <a:ln w="22225">
            <a:solidFill>
              <a:srgbClr val="FF91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822960" y="3520440"/>
            <a:ext cx="466344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400" b="0" i="0">
                <a:solidFill>
                  <a:srgbClr val="1A1A1A"/>
                </a:solidFill>
                <a:latin typeface="Bahnschrift SemiBold"/>
                <a:ea typeface="Bahnschrift SemiBold"/>
                <a:cs typeface="Bahnschrift SemiBold"/>
              </a:rPr>
              <a:t>Cryptography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22960" y="4023360"/>
            <a:ext cx="4572000" cy="0"/>
          </a:xfrm>
          <a:prstGeom prst="line">
            <a:avLst/>
          </a:prstGeom>
          <a:ln w="22225">
            <a:solidFill>
              <a:srgbClr val="FF91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822960" y="4142232"/>
            <a:ext cx="4663440" cy="21945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700" b="0" i="0">
                <a:solidFill>
                  <a:srgbClr val="1A1A1A"/>
                </a:solidFill>
                <a:latin typeface="Segoe UI Semibold"/>
                <a:ea typeface="Segoe UI Semibold"/>
                <a:cs typeface="Segoe UI Semibold"/>
              </a:rPr>
              <a:t>pqcrypto</a:t>
            </a:r>
            <a:r>
              <a:rPr sz="1700" b="0" i="0">
                <a:solidFill>
                  <a:srgbClr val="5C5C5C"/>
                </a:solidFill>
                <a:latin typeface="Segoe UI"/>
                <a:ea typeface="Segoe UI"/>
                <a:cs typeface="Segoe UI"/>
              </a:rPr>
              <a:t>  ML-KEM-768, ML-DSA-65</a:t>
            </a:r>
          </a:p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700" b="0" i="0">
                <a:solidFill>
                  <a:srgbClr val="1A1A1A"/>
                </a:solidFill>
                <a:latin typeface="Segoe UI Semibold"/>
                <a:ea typeface="Segoe UI Semibold"/>
                <a:cs typeface="Segoe UI Semibold"/>
              </a:rPr>
              <a:t>cryptography</a:t>
            </a:r>
            <a:r>
              <a:rPr sz="1700" b="0" i="0">
                <a:solidFill>
                  <a:srgbClr val="5C5C5C"/>
                </a:solidFill>
                <a:latin typeface="Segoe UI"/>
                <a:ea typeface="Segoe UI"/>
                <a:cs typeface="Segoe UI"/>
              </a:rPr>
              <a:t>  AES-256-GCM, HKDF-SHA256</a:t>
            </a:r>
          </a:p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700" b="0" i="0">
                <a:solidFill>
                  <a:srgbClr val="1A1A1A"/>
                </a:solidFill>
                <a:latin typeface="Segoe UI Semibold"/>
                <a:ea typeface="Segoe UI Semibold"/>
                <a:cs typeface="Segoe UI Semibold"/>
              </a:rPr>
              <a:t>hashlib, hmac</a:t>
            </a:r>
            <a:r>
              <a:rPr sz="1700" b="0" i="0">
                <a:solidFill>
                  <a:srgbClr val="5C5C5C"/>
                </a:solidFill>
                <a:latin typeface="Segoe UI"/>
                <a:ea typeface="Segoe UI"/>
                <a:cs typeface="Segoe UI"/>
              </a:rPr>
              <a:t>  SHA-256 chain, HMAC device auth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852160" y="3520440"/>
            <a:ext cx="466344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400" b="0" i="0">
                <a:solidFill>
                  <a:srgbClr val="1A1A1A"/>
                </a:solidFill>
                <a:latin typeface="Bahnschrift SemiBold"/>
                <a:ea typeface="Bahnschrift SemiBold"/>
                <a:cs typeface="Bahnschrift SemiBold"/>
              </a:rPr>
              <a:t>AI / vision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5852160" y="4023360"/>
            <a:ext cx="4572000" cy="0"/>
          </a:xfrm>
          <a:prstGeom prst="line">
            <a:avLst/>
          </a:prstGeom>
          <a:ln w="22225">
            <a:solidFill>
              <a:srgbClr val="FF91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5852160" y="4142232"/>
            <a:ext cx="4663440" cy="21945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700" b="0" i="0">
                <a:solidFill>
                  <a:srgbClr val="1A1A1A"/>
                </a:solidFill>
                <a:latin typeface="Segoe UI Semibold"/>
                <a:ea typeface="Segoe UI Semibold"/>
                <a:cs typeface="Segoe UI Semibold"/>
              </a:rPr>
              <a:t>OpenCV</a:t>
            </a:r>
            <a:r>
              <a:rPr sz="1700" b="0" i="0">
                <a:solidFill>
                  <a:srgbClr val="5C5C5C"/>
                </a:solidFill>
                <a:latin typeface="Segoe UI"/>
                <a:ea typeface="Segoe UI"/>
                <a:cs typeface="Segoe UI"/>
              </a:rPr>
              <a:t>  camera capture</a:t>
            </a:r>
          </a:p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700" b="0" i="0">
                <a:solidFill>
                  <a:srgbClr val="1A1A1A"/>
                </a:solidFill>
                <a:latin typeface="Segoe UI Semibold"/>
                <a:ea typeface="Segoe UI Semibold"/>
                <a:cs typeface="Segoe UI Semibold"/>
              </a:rPr>
              <a:t>YOLO11n (ultralytics)</a:t>
            </a:r>
            <a:r>
              <a:rPr sz="1700" b="0" i="0">
                <a:solidFill>
                  <a:srgbClr val="5C5C5C"/>
                </a:solidFill>
                <a:latin typeface="Segoe UI"/>
                <a:ea typeface="Segoe UI"/>
                <a:cs typeface="Segoe UI"/>
              </a:rPr>
              <a:t>  object detection</a:t>
            </a:r>
          </a:p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700" b="0" i="0">
                <a:solidFill>
                  <a:srgbClr val="1A1A1A"/>
                </a:solidFill>
                <a:latin typeface="Segoe UI Semibold"/>
                <a:ea typeface="Segoe UI Semibold"/>
                <a:cs typeface="Segoe UI Semibold"/>
              </a:rPr>
              <a:t>NumPy</a:t>
            </a:r>
            <a:r>
              <a:rPr sz="1700" b="0" i="0">
                <a:solidFill>
                  <a:srgbClr val="5C5C5C"/>
                </a:solidFill>
                <a:latin typeface="Segoe UI"/>
                <a:ea typeface="Segoe UI"/>
                <a:cs typeface="Segoe UI"/>
              </a:rPr>
              <a:t>  camera-health statistics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881360" y="3520440"/>
            <a:ext cx="466344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400" b="0" i="0">
                <a:solidFill>
                  <a:srgbClr val="1A1A1A"/>
                </a:solidFill>
                <a:latin typeface="Bahnschrift SemiBold"/>
                <a:ea typeface="Bahnschrift SemiBold"/>
                <a:cs typeface="Bahnschrift SemiBold"/>
              </a:rPr>
              <a:t>Backend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10881360" y="4023360"/>
            <a:ext cx="4572000" cy="0"/>
          </a:xfrm>
          <a:prstGeom prst="line">
            <a:avLst/>
          </a:prstGeom>
          <a:ln w="22225">
            <a:solidFill>
              <a:srgbClr val="FF91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10881360" y="4142232"/>
            <a:ext cx="4663440" cy="21945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700" b="0" i="0">
                <a:solidFill>
                  <a:srgbClr val="1A1A1A"/>
                </a:solidFill>
                <a:latin typeface="Segoe UI Semibold"/>
                <a:ea typeface="Segoe UI Semibold"/>
                <a:cs typeface="Segoe UI Semibold"/>
              </a:rPr>
              <a:t>FastAPI + uvicorn</a:t>
            </a:r>
            <a:r>
              <a:rPr sz="1700" b="0" i="0">
                <a:solidFill>
                  <a:srgbClr val="5C5C5C"/>
                </a:solidFill>
                <a:latin typeface="Segoe UI"/>
                <a:ea typeface="Segoe UI"/>
                <a:cs typeface="Segoe UI"/>
              </a:rPr>
              <a:t>  gateway API</a:t>
            </a:r>
          </a:p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700" b="0" i="0">
                <a:solidFill>
                  <a:srgbClr val="1A1A1A"/>
                </a:solidFill>
                <a:latin typeface="Segoe UI Semibold"/>
                <a:ea typeface="Segoe UI Semibold"/>
                <a:cs typeface="Segoe UI Semibold"/>
              </a:rPr>
              <a:t>Pydantic</a:t>
            </a:r>
            <a:r>
              <a:rPr sz="1700" b="0" i="0">
                <a:solidFill>
                  <a:srgbClr val="5C5C5C"/>
                </a:solidFill>
                <a:latin typeface="Segoe UI"/>
                <a:ea typeface="Segoe UI"/>
                <a:cs typeface="Segoe UI"/>
              </a:rPr>
              <a:t>  strict schemas</a:t>
            </a:r>
          </a:p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700" b="0" i="0">
                <a:solidFill>
                  <a:srgbClr val="1A1A1A"/>
                </a:solidFill>
                <a:latin typeface="Segoe UI Semibold"/>
                <a:ea typeface="Segoe UI Semibold"/>
                <a:cs typeface="Segoe UI Semibold"/>
              </a:rPr>
              <a:t>Trust engine</a:t>
            </a:r>
            <a:r>
              <a:rPr sz="1700" b="0" i="0">
                <a:solidFill>
                  <a:srgbClr val="5C5C5C"/>
                </a:solidFill>
                <a:latin typeface="Segoe UI"/>
                <a:ea typeface="Segoe UI"/>
                <a:cs typeface="Segoe UI"/>
              </a:rPr>
              <a:t>  pure Python, deterministic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2960" y="6492240"/>
            <a:ext cx="466344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400" b="0" i="0">
                <a:solidFill>
                  <a:srgbClr val="1A1A1A"/>
                </a:solidFill>
                <a:latin typeface="Bahnschrift SemiBold"/>
                <a:ea typeface="Bahnschrift SemiBold"/>
                <a:cs typeface="Bahnschrift SemiBold"/>
              </a:rPr>
              <a:t>Frontend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822960" y="6995160"/>
            <a:ext cx="4572000" cy="0"/>
          </a:xfrm>
          <a:prstGeom prst="line">
            <a:avLst/>
          </a:prstGeom>
          <a:ln w="22225">
            <a:solidFill>
              <a:srgbClr val="FF91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822960" y="7114032"/>
            <a:ext cx="4663440" cy="21945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700" b="0" i="0">
                <a:solidFill>
                  <a:srgbClr val="1A1A1A"/>
                </a:solidFill>
                <a:latin typeface="Segoe UI Semibold"/>
                <a:ea typeface="Segoe UI Semibold"/>
                <a:cs typeface="Segoe UI Semibold"/>
              </a:rPr>
              <a:t>Vanilla ES modules</a:t>
            </a:r>
            <a:r>
              <a:rPr sz="1700" b="0" i="0">
                <a:solidFill>
                  <a:srgbClr val="5C5C5C"/>
                </a:solidFill>
                <a:latin typeface="Segoe UI"/>
                <a:ea typeface="Segoe UI"/>
                <a:cs typeface="Segoe UI"/>
              </a:rPr>
              <a:t>  dashboard, no build step</a:t>
            </a:r>
          </a:p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700" b="0" i="0">
                <a:solidFill>
                  <a:srgbClr val="1A1A1A"/>
                </a:solidFill>
                <a:latin typeface="Segoe UI Semibold"/>
                <a:ea typeface="Segoe UI Semibold"/>
                <a:cs typeface="Segoe UI Semibold"/>
              </a:rPr>
              <a:t>Presentation mode</a:t>
            </a:r>
            <a:r>
              <a:rPr sz="1700" b="0" i="0">
                <a:solidFill>
                  <a:srgbClr val="5C5C5C"/>
                </a:solidFill>
                <a:latin typeface="Segoe UI"/>
                <a:ea typeface="Segoe UI"/>
                <a:cs typeface="Segoe UI"/>
              </a:rPr>
              <a:t>  one-screen live view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852160" y="6492240"/>
            <a:ext cx="466344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400" b="0" i="0">
                <a:solidFill>
                  <a:srgbClr val="1A1A1A"/>
                </a:solidFill>
                <a:latin typeface="Bahnschrift SemiBold"/>
                <a:ea typeface="Bahnschrift SemiBold"/>
                <a:cs typeface="Bahnschrift SemiBold"/>
              </a:rPr>
              <a:t>Database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5852160" y="6995160"/>
            <a:ext cx="4572000" cy="0"/>
          </a:xfrm>
          <a:prstGeom prst="line">
            <a:avLst/>
          </a:prstGeom>
          <a:ln w="22225">
            <a:solidFill>
              <a:srgbClr val="FF91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5852160" y="7114032"/>
            <a:ext cx="4663440" cy="21945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700" b="0" i="0">
                <a:solidFill>
                  <a:srgbClr val="1A1A1A"/>
                </a:solidFill>
                <a:latin typeface="Segoe UI Semibold"/>
                <a:ea typeface="Segoe UI Semibold"/>
                <a:cs typeface="Segoe UI Semibold"/>
              </a:rPr>
              <a:t>SQLite</a:t>
            </a:r>
            <a:r>
              <a:rPr sz="1700" b="0" i="0">
                <a:solidFill>
                  <a:srgbClr val="5C5C5C"/>
                </a:solidFill>
                <a:latin typeface="Segoe UI"/>
                <a:ea typeface="Segoe UI"/>
                <a:cs typeface="Segoe UI"/>
              </a:rPr>
              <a:t>  events, observations, twin, evidence chain, trust state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881360" y="6492240"/>
            <a:ext cx="466344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400" b="0" i="0">
                <a:solidFill>
                  <a:srgbClr val="1A1A1A"/>
                </a:solidFill>
                <a:latin typeface="Bahnschrift SemiBold"/>
                <a:ea typeface="Bahnschrift SemiBold"/>
                <a:cs typeface="Bahnschrift SemiBold"/>
              </a:rPr>
              <a:t>Deployment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10881360" y="6995160"/>
            <a:ext cx="4572000" cy="0"/>
          </a:xfrm>
          <a:prstGeom prst="line">
            <a:avLst/>
          </a:prstGeom>
          <a:ln w="22225">
            <a:solidFill>
              <a:srgbClr val="FF91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10881360" y="7114032"/>
            <a:ext cx="4663440" cy="21945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700" b="0" i="0">
                <a:solidFill>
                  <a:srgbClr val="1A1A1A"/>
                </a:solidFill>
                <a:latin typeface="Segoe UI Semibold"/>
                <a:ea typeface="Segoe UI Semibold"/>
                <a:cs typeface="Segoe UI Semibold"/>
              </a:rPr>
              <a:t>One laptop gateway</a:t>
            </a:r>
            <a:r>
              <a:rPr sz="1700" b="0" i="0">
                <a:solidFill>
                  <a:srgbClr val="5C5C5C"/>
                </a:solidFill>
                <a:latin typeface="Segoe UI"/>
                <a:ea typeface="Segoe UI"/>
                <a:cs typeface="Segoe UI"/>
              </a:rPr>
              <a:t>  optional TLS, named operators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0881360" y="8275320"/>
            <a:ext cx="4754880" cy="777240"/>
          </a:xfrm>
          <a:prstGeom prst="rect">
            <a:avLst/>
          </a:prstGeom>
          <a:solidFill>
            <a:srgbClr val="F6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>
            <a:noAutofit/>
          </a:bodyPr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1018520" y="8293608"/>
            <a:ext cx="4572000" cy="7772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 i="0">
                <a:solidFill>
                  <a:srgbClr val="1A1A1A"/>
                </a:solidFill>
                <a:latin typeface="Segoe UI Semibold"/>
                <a:ea typeface="Segoe UI Semibold"/>
                <a:cs typeface="Segoe UI Semibold"/>
              </a:rPr>
              <a:t>Hardware (planned):  </a:t>
            </a:r>
            <a:r>
              <a:rPr sz="1500" b="0" i="0">
                <a:solidFill>
                  <a:srgbClr val="5C5C5C"/>
                </a:solidFill>
                <a:latin typeface="Segoe UI"/>
                <a:ea typeface="Segoe UI"/>
                <a:cs typeface="Segoe UI"/>
              </a:rPr>
              <a:t>ESP32 skeleton (not compiled); BME280, MPU6050, reed switch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22960" y="9747504"/>
            <a:ext cx="822960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 i="0">
                <a:solidFill>
                  <a:srgbClr val="000000"/>
                </a:solidFill>
                <a:latin typeface="Segoe UI Semibold"/>
                <a:ea typeface="Segoe UI Semibold"/>
                <a:cs typeface="Segoe UI Semibold"/>
              </a:rPr>
              <a:t>Q-SHIELD</a:t>
            </a:r>
            <a:r>
              <a:rPr sz="1500" b="0" i="0">
                <a:solidFill>
                  <a:srgbClr val="000000"/>
                </a:solidFill>
                <a:latin typeface="Segoe UI"/>
                <a:ea typeface="Segoe UI"/>
                <a:cs typeface="Segoe UI"/>
              </a:rPr>
              <a:t>   continuous device trust with post-quantum-signed evidence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3350240" y="9747504"/>
            <a:ext cx="228600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500" b="0" i="0">
                <a:solidFill>
                  <a:srgbClr val="000000"/>
                </a:solidFill>
                <a:latin typeface="Segoe UI"/>
                <a:ea typeface="Segoe UI"/>
                <a:cs typeface="Segoe UI"/>
              </a:rPr>
              <a:t>19 / 24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name="Freeform 2" id="2"/>
          <p:cNvSpPr/>
          <p:nvPr/>
        </p:nvSpPr>
        <p:spPr>
          <a:xfrm flipH="false" flipV="false" rot="0">
            <a:off x="-350872" y="9407052"/>
            <a:ext cx="14979358" cy="908523"/>
          </a:xfrm>
          <a:custGeom>
            <a:avLst/>
            <a:gdLst/>
            <a:ahLst/>
            <a:cxnLst/>
            <a:rect r="r" b="b" t="t" l="l"/>
            <a:pathLst>
              <a:path h="908523" w="14979358">
                <a:moveTo>
                  <a:pt x="0" y="0"/>
                </a:moveTo>
                <a:lnTo>
                  <a:pt x="14979357" y="0"/>
                </a:lnTo>
                <a:lnTo>
                  <a:pt x="14979357" y="908523"/>
                </a:lnTo>
                <a:lnTo>
                  <a:pt x="0" y="90852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2273265" y="1130884"/>
            <a:ext cx="6870735" cy="543077"/>
            <a:chOff x="0" y="0"/>
            <a:chExt cx="9160980" cy="72410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9161018" cy="724154"/>
            </a:xfrm>
            <a:custGeom>
              <a:avLst/>
              <a:gdLst/>
              <a:ahLst/>
              <a:cxnLst/>
              <a:rect r="r" b="b" t="t" l="l"/>
              <a:pathLst>
                <a:path h="724154" w="9161018">
                  <a:moveTo>
                    <a:pt x="0" y="0"/>
                  </a:moveTo>
                  <a:lnTo>
                    <a:pt x="9161018" y="0"/>
                  </a:lnTo>
                  <a:lnTo>
                    <a:pt x="9161018" y="724154"/>
                  </a:lnTo>
                  <a:lnTo>
                    <a:pt x="0" y="72415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914D"/>
            </a:solidFill>
          </p:spPr>
        </p:sp>
      </p:grpSp>
      <p:grpSp>
        <p:nvGrpSpPr>
          <p:cNvPr name="Group 5" id="5"/>
          <p:cNvGrpSpPr/>
          <p:nvPr/>
        </p:nvGrpSpPr>
        <p:grpSpPr>
          <a:xfrm rot="-10800000">
            <a:off x="9124950" y="1130884"/>
            <a:ext cx="6870735" cy="543077"/>
            <a:chOff x="0" y="0"/>
            <a:chExt cx="9160980" cy="724103"/>
          </a:xfrm>
        </p:grpSpPr>
        <p:sp>
          <p:nvSpPr>
            <p:cNvPr name="Freeform 6" id="6"/>
            <p:cNvSpPr/>
            <p:nvPr/>
          </p:nvSpPr>
          <p:spPr>
            <a:xfrm flipH="false" flipV="true" rot="0">
              <a:off x="0" y="0"/>
              <a:ext cx="9161018" cy="724154"/>
            </a:xfrm>
            <a:custGeom>
              <a:avLst/>
              <a:gdLst/>
              <a:ahLst/>
              <a:cxnLst/>
              <a:rect r="r" b="b" t="t" l="l"/>
              <a:pathLst>
                <a:path h="724154" w="9161018">
                  <a:moveTo>
                    <a:pt x="0" y="724154"/>
                  </a:moveTo>
                  <a:lnTo>
                    <a:pt x="9161018" y="724154"/>
                  </a:lnTo>
                  <a:lnTo>
                    <a:pt x="9161018" y="0"/>
                  </a:lnTo>
                  <a:lnTo>
                    <a:pt x="0" y="0"/>
                  </a:lnTo>
                  <a:lnTo>
                    <a:pt x="0" y="724154"/>
                  </a:lnTo>
                  <a:close/>
                </a:path>
              </a:pathLst>
            </a:custGeom>
            <a:solidFill>
              <a:srgbClr val="FF914D"/>
            </a:solidFill>
          </p:spPr>
        </p:sp>
      </p:grpSp>
      <p:grpSp>
        <p:nvGrpSpPr>
          <p:cNvPr name="Group 7" id="7"/>
          <p:cNvGrpSpPr/>
          <p:nvPr/>
        </p:nvGrpSpPr>
        <p:grpSpPr>
          <a:xfrm rot="-10800000">
            <a:off x="-32871" y="1130884"/>
            <a:ext cx="3068079" cy="503739"/>
            <a:chOff x="0" y="0"/>
            <a:chExt cx="4090772" cy="671652"/>
          </a:xfrm>
        </p:grpSpPr>
        <p:sp>
          <p:nvSpPr>
            <p:cNvPr name="Freeform 8" id="8"/>
            <p:cNvSpPr/>
            <p:nvPr/>
          </p:nvSpPr>
          <p:spPr>
            <a:xfrm flipH="false" flipV="true" rot="0">
              <a:off x="0" y="0"/>
              <a:ext cx="4090797" cy="671703"/>
            </a:xfrm>
            <a:custGeom>
              <a:avLst/>
              <a:gdLst/>
              <a:ahLst/>
              <a:cxnLst/>
              <a:rect r="r" b="b" t="t" l="l"/>
              <a:pathLst>
                <a:path h="671703" w="4090797">
                  <a:moveTo>
                    <a:pt x="0" y="671703"/>
                  </a:moveTo>
                  <a:lnTo>
                    <a:pt x="4090797" y="671703"/>
                  </a:lnTo>
                  <a:lnTo>
                    <a:pt x="4090797" y="0"/>
                  </a:lnTo>
                  <a:lnTo>
                    <a:pt x="0" y="0"/>
                  </a:lnTo>
                  <a:lnTo>
                    <a:pt x="0" y="671703"/>
                  </a:lnTo>
                  <a:close/>
                </a:path>
              </a:pathLst>
            </a:custGeom>
            <a:solidFill>
              <a:srgbClr val="FF914D"/>
            </a:solidFill>
          </p:spPr>
        </p:sp>
      </p:grpSp>
      <p:sp>
        <p:nvSpPr>
          <p:cNvPr name="Freeform 9" id="9"/>
          <p:cNvSpPr/>
          <p:nvPr/>
        </p:nvSpPr>
        <p:spPr>
          <a:xfrm flipH="false" flipV="false" rot="-5400000">
            <a:off x="12120564" y="5052657"/>
            <a:ext cx="10084834" cy="2269088"/>
          </a:xfrm>
          <a:custGeom>
            <a:avLst/>
            <a:gdLst/>
            <a:ahLst/>
            <a:cxnLst/>
            <a:rect r="r" b="b" t="t" l="l"/>
            <a:pathLst>
              <a:path h="2269088" w="10084834">
                <a:moveTo>
                  <a:pt x="0" y="0"/>
                </a:moveTo>
                <a:lnTo>
                  <a:pt x="10084834" y="0"/>
                </a:lnTo>
                <a:lnTo>
                  <a:pt x="10084834" y="2269088"/>
                </a:lnTo>
                <a:lnTo>
                  <a:pt x="0" y="226908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-10800000">
            <a:off x="15248496" y="1130884"/>
            <a:ext cx="3068079" cy="503739"/>
            <a:chOff x="0" y="0"/>
            <a:chExt cx="4090772" cy="671652"/>
          </a:xfrm>
        </p:grpSpPr>
        <p:sp>
          <p:nvSpPr>
            <p:cNvPr name="Freeform 11" id="11"/>
            <p:cNvSpPr/>
            <p:nvPr/>
          </p:nvSpPr>
          <p:spPr>
            <a:xfrm flipH="false" flipV="true" rot="0">
              <a:off x="0" y="0"/>
              <a:ext cx="4090797" cy="671703"/>
            </a:xfrm>
            <a:custGeom>
              <a:avLst/>
              <a:gdLst/>
              <a:ahLst/>
              <a:cxnLst/>
              <a:rect r="r" b="b" t="t" l="l"/>
              <a:pathLst>
                <a:path h="671703" w="4090797">
                  <a:moveTo>
                    <a:pt x="0" y="671703"/>
                  </a:moveTo>
                  <a:lnTo>
                    <a:pt x="4090797" y="671703"/>
                  </a:lnTo>
                  <a:lnTo>
                    <a:pt x="4090797" y="0"/>
                  </a:lnTo>
                  <a:lnTo>
                    <a:pt x="0" y="0"/>
                  </a:lnTo>
                  <a:lnTo>
                    <a:pt x="0" y="671703"/>
                  </a:lnTo>
                  <a:close/>
                </a:path>
              </a:pathLst>
            </a:custGeom>
            <a:solidFill>
              <a:srgbClr val="FF914D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5688825" y="96222"/>
            <a:ext cx="2423739" cy="924096"/>
            <a:chOff x="0" y="0"/>
            <a:chExt cx="2307438" cy="879754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307463" cy="879729"/>
            </a:xfrm>
            <a:custGeom>
              <a:avLst/>
              <a:gdLst/>
              <a:ahLst/>
              <a:cxnLst/>
              <a:rect r="r" b="b" t="t" l="l"/>
              <a:pathLst>
                <a:path h="879729" w="2307463">
                  <a:moveTo>
                    <a:pt x="0" y="0"/>
                  </a:moveTo>
                  <a:lnTo>
                    <a:pt x="2307463" y="0"/>
                  </a:lnTo>
                  <a:lnTo>
                    <a:pt x="2307463" y="879729"/>
                  </a:lnTo>
                  <a:lnTo>
                    <a:pt x="0" y="8797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-76294" r="1" b="-85995"/>
              </a:stretch>
            </a:blipFill>
          </p:spPr>
        </p:sp>
      </p:grpSp>
      <p:sp>
        <p:nvSpPr>
          <p:cNvPr name="Freeform 14" id="14"/>
          <p:cNvSpPr/>
          <p:nvPr/>
        </p:nvSpPr>
        <p:spPr>
          <a:xfrm flipH="false" flipV="false" rot="0">
            <a:off x="9857003" y="9407052"/>
            <a:ext cx="14979358" cy="908523"/>
          </a:xfrm>
          <a:custGeom>
            <a:avLst/>
            <a:gdLst/>
            <a:ahLst/>
            <a:cxnLst/>
            <a:rect r="r" b="b" t="t" l="l"/>
            <a:pathLst>
              <a:path h="908523" w="14979358">
                <a:moveTo>
                  <a:pt x="0" y="0"/>
                </a:moveTo>
                <a:lnTo>
                  <a:pt x="14979358" y="0"/>
                </a:lnTo>
                <a:lnTo>
                  <a:pt x="14979358" y="908523"/>
                </a:lnTo>
                <a:lnTo>
                  <a:pt x="0" y="90852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252268" y="89049"/>
            <a:ext cx="2497801" cy="1034663"/>
          </a:xfrm>
          <a:custGeom>
            <a:avLst/>
            <a:gdLst/>
            <a:ahLst/>
            <a:cxnLst/>
            <a:rect r="r" b="b" t="t" l="l"/>
            <a:pathLst>
              <a:path h="1034663" w="2497801">
                <a:moveTo>
                  <a:pt x="0" y="0"/>
                </a:moveTo>
                <a:lnTo>
                  <a:pt x="2497801" y="0"/>
                </a:lnTo>
                <a:lnTo>
                  <a:pt x="2497801" y="1034663"/>
                </a:lnTo>
                <a:lnTo>
                  <a:pt x="0" y="103466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5988" t="-27243" r="-4375" b="-52819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6236411" y="74654"/>
            <a:ext cx="5815177" cy="987762"/>
          </a:xfrm>
          <a:custGeom>
            <a:avLst/>
            <a:gdLst/>
            <a:ahLst/>
            <a:cxnLst/>
            <a:rect r="r" b="b" t="t" l="l"/>
            <a:pathLst>
              <a:path h="987762" w="5815177">
                <a:moveTo>
                  <a:pt x="0" y="0"/>
                </a:moveTo>
                <a:lnTo>
                  <a:pt x="5815178" y="0"/>
                </a:lnTo>
                <a:lnTo>
                  <a:pt x="5815178" y="987762"/>
                </a:lnTo>
                <a:lnTo>
                  <a:pt x="0" y="987762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-11062" t="-153011" r="-9149" b="-154810"/>
            </a:stretch>
          </a:blipFill>
        </p:spPr>
      </p:sp>
      <p:sp>
        <p:nvSpPr>
          <p:cNvPr id="20" name="TextBox 19"/>
          <p:cNvSpPr txBox="1"/>
          <p:nvPr/>
        </p:nvSpPr>
        <p:spPr>
          <a:xfrm>
            <a:off x="822960" y="1874520"/>
            <a:ext cx="14813280" cy="7315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4000" b="0" i="0">
                <a:solidFill>
                  <a:srgbClr val="000000"/>
                </a:solidFill>
                <a:latin typeface="Bahnschrift SemiBold"/>
                <a:ea typeface="Bahnschrift SemiBold"/>
                <a:cs typeface="Bahnschrift SemiBold"/>
              </a:rPr>
              <a:t>5. Feasibility &amp; Innovation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2578608"/>
            <a:ext cx="1481328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100" b="0" i="0">
                <a:solidFill>
                  <a:srgbClr val="5C5C5C"/>
                </a:solidFill>
                <a:latin typeface="Segoe UI"/>
                <a:ea typeface="Segoe UI"/>
                <a:cs typeface="Segoe UI"/>
              </a:rPr>
              <a:t>Technical feasibility: what is real today, and what is simulated</a:t>
            </a:r>
          </a:p>
        </p:txBody>
      </p:sp>
      <p:sp>
        <p:nvSpPr>
          <p:cNvPr id="22" name="Oval 21"/>
          <p:cNvSpPr/>
          <p:nvPr/>
        </p:nvSpPr>
        <p:spPr>
          <a:xfrm>
            <a:off x="822960" y="3063240"/>
            <a:ext cx="128016" cy="128016"/>
          </a:xfrm>
          <a:prstGeom prst="ellipse">
            <a:avLst/>
          </a:prstGeom>
          <a:solidFill>
            <a:srgbClr val="FFFFFF"/>
          </a:solidFill>
          <a:ln w="22225">
            <a:solidFill>
              <a:srgbClr val="FF91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3" name="Connector 22"/>
          <p:cNvCxnSpPr/>
          <p:nvPr/>
        </p:nvCxnSpPr>
        <p:spPr>
          <a:xfrm>
            <a:off x="950976" y="3127248"/>
            <a:ext cx="1335024" cy="0"/>
          </a:xfrm>
          <a:prstGeom prst="line">
            <a:avLst/>
          </a:prstGeom>
          <a:ln w="22225">
            <a:solidFill>
              <a:srgbClr val="FF91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822960" y="3493008"/>
            <a:ext cx="2377440" cy="347472"/>
          </a:xfrm>
          <a:prstGeom prst="roundRect">
            <a:avLst>
              <a:gd name="adj" fmla="val 50000"/>
            </a:avLst>
          </a:prstGeom>
          <a:solidFill>
            <a:srgbClr val="FF914D"/>
          </a:solidFill>
          <a:ln w="15875">
            <a:solidFill>
              <a:srgbClr val="FF91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>
            <a:noAutofit/>
          </a:bodyPr>
          <a:lstStyle/>
          <a:p>
            <a:pPr algn="ctr">
              <a:lnSpc>
                <a:spcPct val="100000"/>
              </a:lnSpc>
            </a:pPr>
            <a:r>
              <a:rPr sz="1700" b="0" i="0">
                <a:solidFill>
                  <a:srgbClr val="000000"/>
                </a:solidFill>
                <a:latin typeface="Segoe UI Semibold"/>
                <a:ea typeface="Segoe UI Semibold"/>
                <a:cs typeface="Segoe UI Semibold"/>
              </a:rPr>
              <a:t>Real and tested</a:t>
            </a:r>
          </a:p>
        </p:txBody>
      </p:sp>
      <p:sp>
        <p:nvSpPr>
          <p:cNvPr id="25" name="Oval 24"/>
          <p:cNvSpPr/>
          <p:nvPr/>
        </p:nvSpPr>
        <p:spPr>
          <a:xfrm>
            <a:off x="850392" y="4206240"/>
            <a:ext cx="164592" cy="164592"/>
          </a:xfrm>
          <a:prstGeom prst="ellipse">
            <a:avLst/>
          </a:prstGeom>
          <a:solidFill>
            <a:srgbClr val="FF91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88720" y="4069080"/>
            <a:ext cx="667512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000" b="0" i="0">
                <a:solidFill>
                  <a:srgbClr val="1A1A1A"/>
                </a:solidFill>
                <a:latin typeface="Segoe UI"/>
                <a:ea typeface="Segoe UI"/>
                <a:cs typeface="Segoe UI"/>
              </a:rPr>
              <a:t>ML-KEM-768 and ML-DSA-65 (pqcrypto)</a:t>
            </a:r>
          </a:p>
        </p:txBody>
      </p:sp>
      <p:sp>
        <p:nvSpPr>
          <p:cNvPr id="27" name="Oval 26"/>
          <p:cNvSpPr/>
          <p:nvPr/>
        </p:nvSpPr>
        <p:spPr>
          <a:xfrm>
            <a:off x="850392" y="4736592"/>
            <a:ext cx="164592" cy="164592"/>
          </a:xfrm>
          <a:prstGeom prst="ellipse">
            <a:avLst/>
          </a:prstGeom>
          <a:solidFill>
            <a:srgbClr val="FF91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188720" y="4599432"/>
            <a:ext cx="667512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000" b="0" i="0">
                <a:solidFill>
                  <a:srgbClr val="1A1A1A"/>
                </a:solidFill>
                <a:latin typeface="Segoe UI"/>
                <a:ea typeface="Segoe UI"/>
                <a:cs typeface="Segoe UI"/>
              </a:rPr>
              <a:t>AES-256-GCM, HKDF-SHA256</a:t>
            </a:r>
          </a:p>
        </p:txBody>
      </p:sp>
      <p:sp>
        <p:nvSpPr>
          <p:cNvPr id="29" name="Oval 28"/>
          <p:cNvSpPr/>
          <p:nvPr/>
        </p:nvSpPr>
        <p:spPr>
          <a:xfrm>
            <a:off x="850392" y="5266944"/>
            <a:ext cx="164592" cy="164592"/>
          </a:xfrm>
          <a:prstGeom prst="ellipse">
            <a:avLst/>
          </a:prstGeom>
          <a:solidFill>
            <a:srgbClr val="FF91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88720" y="5129784"/>
            <a:ext cx="667512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000" b="0" i="0">
                <a:solidFill>
                  <a:srgbClr val="1A1A1A"/>
                </a:solidFill>
                <a:latin typeface="Segoe UI"/>
                <a:ea typeface="Segoe UI"/>
                <a:cs typeface="Segoe UI"/>
              </a:rPr>
              <a:t>SHA-256 linked evidence chain</a:t>
            </a:r>
          </a:p>
        </p:txBody>
      </p:sp>
      <p:sp>
        <p:nvSpPr>
          <p:cNvPr id="31" name="Oval 30"/>
          <p:cNvSpPr/>
          <p:nvPr/>
        </p:nvSpPr>
        <p:spPr>
          <a:xfrm>
            <a:off x="850392" y="5797296"/>
            <a:ext cx="164592" cy="164592"/>
          </a:xfrm>
          <a:prstGeom prst="ellipse">
            <a:avLst/>
          </a:prstGeom>
          <a:solidFill>
            <a:srgbClr val="FF91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188720" y="5660136"/>
            <a:ext cx="667512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000" b="0" i="0">
                <a:solidFill>
                  <a:srgbClr val="1A1A1A"/>
                </a:solidFill>
                <a:latin typeface="Segoe UI"/>
                <a:ea typeface="Segoe UI"/>
                <a:cs typeface="Segoe UI"/>
              </a:rPr>
              <a:t>YOLO11n vision on a real webcam</a:t>
            </a:r>
          </a:p>
        </p:txBody>
      </p:sp>
      <p:sp>
        <p:nvSpPr>
          <p:cNvPr id="33" name="Oval 32"/>
          <p:cNvSpPr/>
          <p:nvPr/>
        </p:nvSpPr>
        <p:spPr>
          <a:xfrm>
            <a:off x="850392" y="6327648"/>
            <a:ext cx="164592" cy="164592"/>
          </a:xfrm>
          <a:prstGeom prst="ellipse">
            <a:avLst/>
          </a:prstGeom>
          <a:solidFill>
            <a:srgbClr val="FF91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188720" y="6190488"/>
            <a:ext cx="667512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000" b="0" i="0">
                <a:solidFill>
                  <a:srgbClr val="1A1A1A"/>
                </a:solidFill>
                <a:latin typeface="Segoe UI"/>
                <a:ea typeface="Segoe UI"/>
                <a:cs typeface="Segoe UI"/>
              </a:rPr>
              <a:t>trust engine and recovery engine</a:t>
            </a:r>
          </a:p>
        </p:txBody>
      </p:sp>
      <p:sp>
        <p:nvSpPr>
          <p:cNvPr id="35" name="Oval 34"/>
          <p:cNvSpPr/>
          <p:nvPr/>
        </p:nvSpPr>
        <p:spPr>
          <a:xfrm>
            <a:off x="850392" y="6858000"/>
            <a:ext cx="164592" cy="164592"/>
          </a:xfrm>
          <a:prstGeom prst="ellipse">
            <a:avLst/>
          </a:prstGeom>
          <a:solidFill>
            <a:srgbClr val="FF91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188720" y="6720840"/>
            <a:ext cx="667512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000" b="0" i="0">
                <a:solidFill>
                  <a:srgbClr val="1A1A1A"/>
                </a:solidFill>
                <a:latin typeface="Segoe UI"/>
                <a:ea typeface="Segoe UI"/>
                <a:cs typeface="Segoe UI"/>
              </a:rPr>
              <a:t>digital twin and quarantine enforcement</a:t>
            </a:r>
          </a:p>
        </p:txBody>
      </p:sp>
      <p:sp>
        <p:nvSpPr>
          <p:cNvPr id="37" name="Oval 36"/>
          <p:cNvSpPr/>
          <p:nvPr/>
        </p:nvSpPr>
        <p:spPr>
          <a:xfrm>
            <a:off x="850392" y="7388352"/>
            <a:ext cx="164592" cy="164592"/>
          </a:xfrm>
          <a:prstGeom prst="ellipse">
            <a:avLst/>
          </a:prstGeom>
          <a:solidFill>
            <a:srgbClr val="FF91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188720" y="7251192"/>
            <a:ext cx="667512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000" b="0" i="0">
                <a:solidFill>
                  <a:srgbClr val="1A1A1A"/>
                </a:solidFill>
                <a:latin typeface="Segoe UI"/>
                <a:ea typeface="Segoe UI"/>
                <a:cs typeface="Segoe UI"/>
              </a:rPr>
              <a:t>dashboard and browser camera preview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641080" y="3493008"/>
            <a:ext cx="1737360" cy="34747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FF91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>
            <a:noAutofit/>
          </a:bodyPr>
          <a:lstStyle/>
          <a:p>
            <a:pPr algn="ctr">
              <a:lnSpc>
                <a:spcPct val="100000"/>
              </a:lnSpc>
            </a:pPr>
            <a:r>
              <a:rPr sz="1700" b="0" i="0">
                <a:solidFill>
                  <a:srgbClr val="C2410C"/>
                </a:solidFill>
                <a:latin typeface="Segoe UI Semibold"/>
                <a:ea typeface="Segoe UI Semibold"/>
                <a:cs typeface="Segoe UI Semibold"/>
              </a:rPr>
              <a:t>Simulated</a:t>
            </a:r>
          </a:p>
        </p:txBody>
      </p:sp>
      <p:sp>
        <p:nvSpPr>
          <p:cNvPr id="40" name="Oval 39"/>
          <p:cNvSpPr/>
          <p:nvPr/>
        </p:nvSpPr>
        <p:spPr>
          <a:xfrm>
            <a:off x="8668512" y="4206240"/>
            <a:ext cx="164592" cy="16459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FF91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006840" y="4069080"/>
            <a:ext cx="667512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000" b="0" i="0">
                <a:solidFill>
                  <a:srgbClr val="1A1A1A"/>
                </a:solidFill>
                <a:latin typeface="Segoe UI"/>
                <a:ea typeface="Segoe UI"/>
                <a:cs typeface="Segoe UI"/>
              </a:rPr>
              <a:t>device telemetry (software agent, labelled)</a:t>
            </a:r>
          </a:p>
        </p:txBody>
      </p:sp>
      <p:sp>
        <p:nvSpPr>
          <p:cNvPr id="42" name="Oval 41"/>
          <p:cNvSpPr/>
          <p:nvPr/>
        </p:nvSpPr>
        <p:spPr>
          <a:xfrm>
            <a:off x="8668512" y="4736592"/>
            <a:ext cx="164592" cy="16459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FF91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006840" y="4599432"/>
            <a:ext cx="667512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000" b="0" i="0">
                <a:solidFill>
                  <a:srgbClr val="1A1A1A"/>
                </a:solidFill>
                <a:latin typeface="Segoe UI"/>
                <a:ea typeface="Segoe UI"/>
                <a:cs typeface="Segoe UI"/>
              </a:rPr>
              <a:t>attacks (attack_simulation, labelled)</a:t>
            </a:r>
          </a:p>
        </p:txBody>
      </p:sp>
      <p:sp>
        <p:nvSpPr>
          <p:cNvPr id="44" name="Oval 43"/>
          <p:cNvSpPr/>
          <p:nvPr/>
        </p:nvSpPr>
        <p:spPr>
          <a:xfrm>
            <a:off x="8668512" y="5266944"/>
            <a:ext cx="164592" cy="16459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FF91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006840" y="5129784"/>
            <a:ext cx="667512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000" b="0" i="0">
                <a:solidFill>
                  <a:srgbClr val="1A1A1A"/>
                </a:solidFill>
                <a:latin typeface="Segoe UI"/>
                <a:ea typeface="Segoe UI"/>
                <a:cs typeface="Segoe UI"/>
              </a:rPr>
              <a:t>ESP32 deployment</a:t>
            </a:r>
          </a:p>
        </p:txBody>
      </p:sp>
      <p:sp>
        <p:nvSpPr>
          <p:cNvPr id="46" name="Oval 45"/>
          <p:cNvSpPr/>
          <p:nvPr/>
        </p:nvSpPr>
        <p:spPr>
          <a:xfrm>
            <a:off x="8668512" y="5797296"/>
            <a:ext cx="164592" cy="16459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FF91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006840" y="5660136"/>
            <a:ext cx="667512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000" b="0" i="0">
                <a:solidFill>
                  <a:srgbClr val="1A1A1A"/>
                </a:solidFill>
                <a:latin typeface="Segoe UI"/>
                <a:ea typeface="Segoe UI"/>
                <a:cs typeface="Segoe UI"/>
              </a:rPr>
              <a:t>physical sensors and tamper switch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641080" y="6537960"/>
            <a:ext cx="6995160" cy="1920240"/>
          </a:xfrm>
          <a:prstGeom prst="rect">
            <a:avLst/>
          </a:prstGeom>
          <a:solidFill>
            <a:srgbClr val="F6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>
            <a:noAutofit/>
          </a:bodyPr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869680" y="6629400"/>
            <a:ext cx="6583680" cy="23774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800" b="0" i="0">
                <a:solidFill>
                  <a:srgbClr val="1A1A1A"/>
                </a:solidFill>
                <a:latin typeface="Segoe UI Semibold"/>
                <a:ea typeface="Segoe UI Semibold"/>
                <a:cs typeface="Segoe UI Semibold"/>
              </a:rPr>
              <a:t>Hardware is an adapter, not a redesign</a:t>
            </a:r>
          </a:p>
          <a:p>
            <a:pPr algn="l" marL="292608" indent="-292608">
              <a:lnSpc>
                <a:spcPct val="108000"/>
              </a:lnSpc>
              <a:spcAft>
                <a:spcPts val="400"/>
              </a:spcAft>
              <a:buClr>
                <a:srgbClr val="FF914D"/>
              </a:buClr>
              <a:buSzPct val="70000"/>
              <a:buFont typeface="Arial"/>
              <a:buChar char="■"/>
            </a:pPr>
            <a:r>
              <a:rPr sz="1800" b="0" i="0">
                <a:solidFill>
                  <a:srgbClr val="1A1A1A"/>
                </a:solidFill>
                <a:latin typeface="Segoe UI"/>
                <a:ea typeface="Segoe UI"/>
                <a:cs typeface="Segoe UI"/>
              </a:rPr>
              <a:t>same envelope, same gateway, same trust engine</a:t>
            </a:r>
          </a:p>
          <a:p>
            <a:pPr algn="l" marL="292608" indent="-292608">
              <a:lnSpc>
                <a:spcPct val="108000"/>
              </a:lnSpc>
              <a:spcAft>
                <a:spcPts val="400"/>
              </a:spcAft>
              <a:buClr>
                <a:srgbClr val="FF914D"/>
              </a:buClr>
              <a:buSzPct val="70000"/>
              <a:buFont typeface="Arial"/>
              <a:buChar char="■"/>
            </a:pPr>
            <a:r>
              <a:rPr sz="1800" b="0" i="0">
                <a:solidFill>
                  <a:srgbClr val="1A1A1A"/>
                </a:solidFill>
                <a:latin typeface="Segoe UI"/>
                <a:ea typeface="Segoe UI"/>
                <a:cs typeface="Segoe UI"/>
              </a:rPr>
              <a:t>7 byte-exact protocol test vectors</a:t>
            </a:r>
            <a:r>
              <a:rPr sz="1800" b="0" i="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(tests/vectors)</a:t>
            </a:r>
          </a:p>
          <a:p>
            <a:pPr algn="l" marL="292608" indent="-292608">
              <a:lnSpc>
                <a:spcPct val="108000"/>
              </a:lnSpc>
              <a:spcAft>
                <a:spcPts val="400"/>
              </a:spcAft>
              <a:buClr>
                <a:srgbClr val="FF914D"/>
              </a:buClr>
              <a:buSzPct val="70000"/>
              <a:buFont typeface="Arial"/>
              <a:buChar char="■"/>
            </a:pPr>
            <a:r>
              <a:rPr sz="1800" b="0" i="0">
                <a:solidFill>
                  <a:srgbClr val="1A1A1A"/>
                </a:solidFill>
                <a:latin typeface="Segoe UI"/>
                <a:ea typeface="Segoe UI"/>
                <a:cs typeface="Segoe UI"/>
              </a:rPr>
              <a:t>ESP32-CAM stream: a configuration change (not yet tried)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22960" y="9747504"/>
            <a:ext cx="822960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 i="0">
                <a:solidFill>
                  <a:srgbClr val="000000"/>
                </a:solidFill>
                <a:latin typeface="Segoe UI Semibold"/>
                <a:ea typeface="Segoe UI Semibold"/>
                <a:cs typeface="Segoe UI Semibold"/>
              </a:rPr>
              <a:t>Q-SHIELD</a:t>
            </a:r>
            <a:r>
              <a:rPr sz="1500" b="0" i="0">
                <a:solidFill>
                  <a:srgbClr val="000000"/>
                </a:solidFill>
                <a:latin typeface="Segoe UI"/>
                <a:ea typeface="Segoe UI"/>
                <a:cs typeface="Segoe UI"/>
              </a:rPr>
              <a:t>   continuous device trust with post-quantum-signed evidence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3350240" y="9747504"/>
            <a:ext cx="228600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500" b="0" i="0">
                <a:solidFill>
                  <a:srgbClr val="000000"/>
                </a:solidFill>
                <a:latin typeface="Segoe UI"/>
                <a:ea typeface="Segoe UI"/>
                <a:cs typeface="Segoe UI"/>
              </a:rPr>
              <a:t>20 / 24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name="Freeform 2" id="2"/>
          <p:cNvSpPr/>
          <p:nvPr/>
        </p:nvSpPr>
        <p:spPr>
          <a:xfrm flipH="false" flipV="false" rot="0">
            <a:off x="-350872" y="9407052"/>
            <a:ext cx="14979358" cy="908523"/>
          </a:xfrm>
          <a:custGeom>
            <a:avLst/>
            <a:gdLst/>
            <a:ahLst/>
            <a:cxnLst/>
            <a:rect r="r" b="b" t="t" l="l"/>
            <a:pathLst>
              <a:path h="908523" w="14979358">
                <a:moveTo>
                  <a:pt x="0" y="0"/>
                </a:moveTo>
                <a:lnTo>
                  <a:pt x="14979357" y="0"/>
                </a:lnTo>
                <a:lnTo>
                  <a:pt x="14979357" y="908523"/>
                </a:lnTo>
                <a:lnTo>
                  <a:pt x="0" y="90852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2273265" y="1130884"/>
            <a:ext cx="6870735" cy="543077"/>
            <a:chOff x="0" y="0"/>
            <a:chExt cx="9160980" cy="72410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9161018" cy="724154"/>
            </a:xfrm>
            <a:custGeom>
              <a:avLst/>
              <a:gdLst/>
              <a:ahLst/>
              <a:cxnLst/>
              <a:rect r="r" b="b" t="t" l="l"/>
              <a:pathLst>
                <a:path h="724154" w="9161018">
                  <a:moveTo>
                    <a:pt x="0" y="0"/>
                  </a:moveTo>
                  <a:lnTo>
                    <a:pt x="9161018" y="0"/>
                  </a:lnTo>
                  <a:lnTo>
                    <a:pt x="9161018" y="724154"/>
                  </a:lnTo>
                  <a:lnTo>
                    <a:pt x="0" y="72415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914D"/>
            </a:solidFill>
          </p:spPr>
        </p:sp>
      </p:grpSp>
      <p:grpSp>
        <p:nvGrpSpPr>
          <p:cNvPr name="Group 5" id="5"/>
          <p:cNvGrpSpPr/>
          <p:nvPr/>
        </p:nvGrpSpPr>
        <p:grpSpPr>
          <a:xfrm rot="-10800000">
            <a:off x="9124950" y="1130884"/>
            <a:ext cx="6870735" cy="543077"/>
            <a:chOff x="0" y="0"/>
            <a:chExt cx="9160980" cy="724103"/>
          </a:xfrm>
        </p:grpSpPr>
        <p:sp>
          <p:nvSpPr>
            <p:cNvPr name="Freeform 6" id="6"/>
            <p:cNvSpPr/>
            <p:nvPr/>
          </p:nvSpPr>
          <p:spPr>
            <a:xfrm flipH="false" flipV="true" rot="0">
              <a:off x="0" y="0"/>
              <a:ext cx="9161018" cy="724154"/>
            </a:xfrm>
            <a:custGeom>
              <a:avLst/>
              <a:gdLst/>
              <a:ahLst/>
              <a:cxnLst/>
              <a:rect r="r" b="b" t="t" l="l"/>
              <a:pathLst>
                <a:path h="724154" w="9161018">
                  <a:moveTo>
                    <a:pt x="0" y="724154"/>
                  </a:moveTo>
                  <a:lnTo>
                    <a:pt x="9161018" y="724154"/>
                  </a:lnTo>
                  <a:lnTo>
                    <a:pt x="9161018" y="0"/>
                  </a:lnTo>
                  <a:lnTo>
                    <a:pt x="0" y="0"/>
                  </a:lnTo>
                  <a:lnTo>
                    <a:pt x="0" y="724154"/>
                  </a:lnTo>
                  <a:close/>
                </a:path>
              </a:pathLst>
            </a:custGeom>
            <a:solidFill>
              <a:srgbClr val="FF914D"/>
            </a:solidFill>
          </p:spPr>
        </p:sp>
      </p:grpSp>
      <p:grpSp>
        <p:nvGrpSpPr>
          <p:cNvPr name="Group 7" id="7"/>
          <p:cNvGrpSpPr/>
          <p:nvPr/>
        </p:nvGrpSpPr>
        <p:grpSpPr>
          <a:xfrm rot="-10800000">
            <a:off x="-32871" y="1130884"/>
            <a:ext cx="3068079" cy="503739"/>
            <a:chOff x="0" y="0"/>
            <a:chExt cx="4090772" cy="671652"/>
          </a:xfrm>
        </p:grpSpPr>
        <p:sp>
          <p:nvSpPr>
            <p:cNvPr name="Freeform 8" id="8"/>
            <p:cNvSpPr/>
            <p:nvPr/>
          </p:nvSpPr>
          <p:spPr>
            <a:xfrm flipH="false" flipV="true" rot="0">
              <a:off x="0" y="0"/>
              <a:ext cx="4090797" cy="671703"/>
            </a:xfrm>
            <a:custGeom>
              <a:avLst/>
              <a:gdLst/>
              <a:ahLst/>
              <a:cxnLst/>
              <a:rect r="r" b="b" t="t" l="l"/>
              <a:pathLst>
                <a:path h="671703" w="4090797">
                  <a:moveTo>
                    <a:pt x="0" y="671703"/>
                  </a:moveTo>
                  <a:lnTo>
                    <a:pt x="4090797" y="671703"/>
                  </a:lnTo>
                  <a:lnTo>
                    <a:pt x="4090797" y="0"/>
                  </a:lnTo>
                  <a:lnTo>
                    <a:pt x="0" y="0"/>
                  </a:lnTo>
                  <a:lnTo>
                    <a:pt x="0" y="671703"/>
                  </a:lnTo>
                  <a:close/>
                </a:path>
              </a:pathLst>
            </a:custGeom>
            <a:solidFill>
              <a:srgbClr val="FF914D"/>
            </a:solidFill>
          </p:spPr>
        </p:sp>
      </p:grpSp>
      <p:sp>
        <p:nvSpPr>
          <p:cNvPr name="Freeform 9" id="9"/>
          <p:cNvSpPr/>
          <p:nvPr/>
        </p:nvSpPr>
        <p:spPr>
          <a:xfrm flipH="false" flipV="false" rot="-5400000">
            <a:off x="12120564" y="5052657"/>
            <a:ext cx="10084834" cy="2269088"/>
          </a:xfrm>
          <a:custGeom>
            <a:avLst/>
            <a:gdLst/>
            <a:ahLst/>
            <a:cxnLst/>
            <a:rect r="r" b="b" t="t" l="l"/>
            <a:pathLst>
              <a:path h="2269088" w="10084834">
                <a:moveTo>
                  <a:pt x="0" y="0"/>
                </a:moveTo>
                <a:lnTo>
                  <a:pt x="10084834" y="0"/>
                </a:lnTo>
                <a:lnTo>
                  <a:pt x="10084834" y="2269088"/>
                </a:lnTo>
                <a:lnTo>
                  <a:pt x="0" y="226908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-10800000">
            <a:off x="15248496" y="1130884"/>
            <a:ext cx="3068079" cy="503739"/>
            <a:chOff x="0" y="0"/>
            <a:chExt cx="4090772" cy="671652"/>
          </a:xfrm>
        </p:grpSpPr>
        <p:sp>
          <p:nvSpPr>
            <p:cNvPr name="Freeform 11" id="11"/>
            <p:cNvSpPr/>
            <p:nvPr/>
          </p:nvSpPr>
          <p:spPr>
            <a:xfrm flipH="false" flipV="true" rot="0">
              <a:off x="0" y="0"/>
              <a:ext cx="4090797" cy="671703"/>
            </a:xfrm>
            <a:custGeom>
              <a:avLst/>
              <a:gdLst/>
              <a:ahLst/>
              <a:cxnLst/>
              <a:rect r="r" b="b" t="t" l="l"/>
              <a:pathLst>
                <a:path h="671703" w="4090797">
                  <a:moveTo>
                    <a:pt x="0" y="671703"/>
                  </a:moveTo>
                  <a:lnTo>
                    <a:pt x="4090797" y="671703"/>
                  </a:lnTo>
                  <a:lnTo>
                    <a:pt x="4090797" y="0"/>
                  </a:lnTo>
                  <a:lnTo>
                    <a:pt x="0" y="0"/>
                  </a:lnTo>
                  <a:lnTo>
                    <a:pt x="0" y="671703"/>
                  </a:lnTo>
                  <a:close/>
                </a:path>
              </a:pathLst>
            </a:custGeom>
            <a:solidFill>
              <a:srgbClr val="FF914D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5688825" y="96222"/>
            <a:ext cx="2423739" cy="924096"/>
            <a:chOff x="0" y="0"/>
            <a:chExt cx="2307438" cy="879754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307463" cy="879729"/>
            </a:xfrm>
            <a:custGeom>
              <a:avLst/>
              <a:gdLst/>
              <a:ahLst/>
              <a:cxnLst/>
              <a:rect r="r" b="b" t="t" l="l"/>
              <a:pathLst>
                <a:path h="879729" w="2307463">
                  <a:moveTo>
                    <a:pt x="0" y="0"/>
                  </a:moveTo>
                  <a:lnTo>
                    <a:pt x="2307463" y="0"/>
                  </a:lnTo>
                  <a:lnTo>
                    <a:pt x="2307463" y="879729"/>
                  </a:lnTo>
                  <a:lnTo>
                    <a:pt x="0" y="8797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-76294" r="1" b="-85995"/>
              </a:stretch>
            </a:blipFill>
          </p:spPr>
        </p:sp>
      </p:grpSp>
      <p:sp>
        <p:nvSpPr>
          <p:cNvPr name="Freeform 14" id="14"/>
          <p:cNvSpPr/>
          <p:nvPr/>
        </p:nvSpPr>
        <p:spPr>
          <a:xfrm flipH="false" flipV="false" rot="0">
            <a:off x="9857003" y="9407052"/>
            <a:ext cx="14979358" cy="908523"/>
          </a:xfrm>
          <a:custGeom>
            <a:avLst/>
            <a:gdLst/>
            <a:ahLst/>
            <a:cxnLst/>
            <a:rect r="r" b="b" t="t" l="l"/>
            <a:pathLst>
              <a:path h="908523" w="14979358">
                <a:moveTo>
                  <a:pt x="0" y="0"/>
                </a:moveTo>
                <a:lnTo>
                  <a:pt x="14979358" y="0"/>
                </a:lnTo>
                <a:lnTo>
                  <a:pt x="14979358" y="908523"/>
                </a:lnTo>
                <a:lnTo>
                  <a:pt x="0" y="90852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252268" y="89049"/>
            <a:ext cx="2497801" cy="1034663"/>
          </a:xfrm>
          <a:custGeom>
            <a:avLst/>
            <a:gdLst/>
            <a:ahLst/>
            <a:cxnLst/>
            <a:rect r="r" b="b" t="t" l="l"/>
            <a:pathLst>
              <a:path h="1034663" w="2497801">
                <a:moveTo>
                  <a:pt x="0" y="0"/>
                </a:moveTo>
                <a:lnTo>
                  <a:pt x="2497801" y="0"/>
                </a:lnTo>
                <a:lnTo>
                  <a:pt x="2497801" y="1034663"/>
                </a:lnTo>
                <a:lnTo>
                  <a:pt x="0" y="103466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5988" t="-27243" r="-4375" b="-52819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6236411" y="74654"/>
            <a:ext cx="5815177" cy="987762"/>
          </a:xfrm>
          <a:custGeom>
            <a:avLst/>
            <a:gdLst/>
            <a:ahLst/>
            <a:cxnLst/>
            <a:rect r="r" b="b" t="t" l="l"/>
            <a:pathLst>
              <a:path h="987762" w="5815177">
                <a:moveTo>
                  <a:pt x="0" y="0"/>
                </a:moveTo>
                <a:lnTo>
                  <a:pt x="5815178" y="0"/>
                </a:lnTo>
                <a:lnTo>
                  <a:pt x="5815178" y="987762"/>
                </a:lnTo>
                <a:lnTo>
                  <a:pt x="0" y="987762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-11062" t="-153011" r="-9149" b="-154810"/>
            </a:stretch>
          </a:blipFill>
        </p:spPr>
      </p:sp>
      <p:sp>
        <p:nvSpPr>
          <p:cNvPr id="20" name="TextBox 19"/>
          <p:cNvSpPr txBox="1"/>
          <p:nvPr/>
        </p:nvSpPr>
        <p:spPr>
          <a:xfrm>
            <a:off x="822960" y="1810512"/>
            <a:ext cx="10972800" cy="3291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 i="0">
                <a:solidFill>
                  <a:srgbClr val="C2410C"/>
                </a:solidFill>
                <a:latin typeface="Segoe UI Semibold"/>
                <a:ea typeface="Segoe UI Semibold"/>
                <a:cs typeface="Segoe UI Semibold"/>
              </a:rPr>
              <a:t>5. Feasibility &amp; Innovation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2084832"/>
            <a:ext cx="14813280" cy="7315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4000" b="0" i="0">
                <a:solidFill>
                  <a:srgbClr val="000000"/>
                </a:solidFill>
                <a:latin typeface="Bahnschrift SemiBold"/>
                <a:ea typeface="Bahnschrift SemiBold"/>
                <a:cs typeface="Bahnschrift SemiBold"/>
              </a:rPr>
              <a:t>Performance and testing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2761488"/>
            <a:ext cx="1481328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100" b="0" i="0">
                <a:solidFill>
                  <a:srgbClr val="5C5C5C"/>
                </a:solidFill>
                <a:latin typeface="Segoe UI"/>
                <a:ea typeface="Segoe UI"/>
                <a:cs typeface="Segoe UI"/>
              </a:rPr>
              <a:t>Scalability and performance: measured numbers only</a:t>
            </a:r>
          </a:p>
        </p:txBody>
      </p:sp>
      <p:sp>
        <p:nvSpPr>
          <p:cNvPr id="23" name="Oval 22"/>
          <p:cNvSpPr/>
          <p:nvPr/>
        </p:nvSpPr>
        <p:spPr>
          <a:xfrm>
            <a:off x="822960" y="3246120"/>
            <a:ext cx="128016" cy="128016"/>
          </a:xfrm>
          <a:prstGeom prst="ellipse">
            <a:avLst/>
          </a:prstGeom>
          <a:solidFill>
            <a:srgbClr val="FFFFFF"/>
          </a:solidFill>
          <a:ln w="22225">
            <a:solidFill>
              <a:srgbClr val="FF91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4" name="Connector 23"/>
          <p:cNvCxnSpPr/>
          <p:nvPr/>
        </p:nvCxnSpPr>
        <p:spPr>
          <a:xfrm>
            <a:off x="950976" y="3310128"/>
            <a:ext cx="1335024" cy="0"/>
          </a:xfrm>
          <a:prstGeom prst="line">
            <a:avLst/>
          </a:prstGeom>
          <a:ln w="22225">
            <a:solidFill>
              <a:srgbClr val="FF91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822960" y="3429000"/>
            <a:ext cx="768096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900" b="0" i="0">
                <a:solidFill>
                  <a:srgbClr val="1A1A1A"/>
                </a:solidFill>
                <a:latin typeface="Segoe UI Semibold"/>
                <a:ea typeface="Segoe UI Semibold"/>
                <a:cs typeface="Segoe UI Semibold"/>
              </a:rPr>
              <a:t>Post-quantum operations, median ms (laptop CPU)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" y="4023360"/>
            <a:ext cx="3291840" cy="5029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0" i="0">
                <a:solidFill>
                  <a:srgbClr val="1A1A1A"/>
                </a:solidFill>
                <a:latin typeface="Segoe UI"/>
                <a:ea typeface="Segoe UI"/>
                <a:cs typeface="Segoe UI"/>
              </a:rPr>
              <a:t>ML-KEM-768 keygen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206240" y="4142232"/>
            <a:ext cx="27432" cy="274320"/>
          </a:xfrm>
          <a:prstGeom prst="rect">
            <a:avLst/>
          </a:prstGeom>
          <a:solidFill>
            <a:srgbClr val="FF91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>
            <a:noAutofit/>
          </a:bodyPr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325112" y="4023360"/>
            <a:ext cx="1371600" cy="5029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0" i="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0.06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" y="4590288"/>
            <a:ext cx="3291840" cy="5029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0" i="0">
                <a:solidFill>
                  <a:srgbClr val="1A1A1A"/>
                </a:solidFill>
                <a:latin typeface="Segoe UI"/>
                <a:ea typeface="Segoe UI"/>
                <a:cs typeface="Segoe UI"/>
              </a:rPr>
              <a:t>ML-KEM-768 encapsulate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206240" y="4709160"/>
            <a:ext cx="27432" cy="274320"/>
          </a:xfrm>
          <a:prstGeom prst="rect">
            <a:avLst/>
          </a:prstGeom>
          <a:solidFill>
            <a:srgbClr val="FF91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>
            <a:noAutofit/>
          </a:bodyPr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325112" y="4590288"/>
            <a:ext cx="1371600" cy="5029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0" i="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0.069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60" y="5157216"/>
            <a:ext cx="3291840" cy="5029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0" i="0">
                <a:solidFill>
                  <a:srgbClr val="1A1A1A"/>
                </a:solidFill>
                <a:latin typeface="Segoe UI"/>
                <a:ea typeface="Segoe UI"/>
                <a:cs typeface="Segoe UI"/>
              </a:rPr>
              <a:t>ML-KEM-768 decapsulate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206240" y="5276088"/>
            <a:ext cx="33284" cy="274320"/>
          </a:xfrm>
          <a:prstGeom prst="rect">
            <a:avLst/>
          </a:prstGeom>
          <a:solidFill>
            <a:srgbClr val="FF91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>
            <a:noAutofit/>
          </a:bodyPr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330964" y="5157216"/>
            <a:ext cx="1371600" cy="5029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0" i="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0.091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2960" y="5724144"/>
            <a:ext cx="3291840" cy="5029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0" i="0">
                <a:solidFill>
                  <a:srgbClr val="1A1A1A"/>
                </a:solidFill>
                <a:latin typeface="Segoe UI"/>
                <a:ea typeface="Segoe UI"/>
                <a:cs typeface="Segoe UI"/>
              </a:rPr>
              <a:t>ML-DSA-65 verify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206240" y="5843016"/>
            <a:ext cx="68763" cy="274320"/>
          </a:xfrm>
          <a:prstGeom prst="rect">
            <a:avLst/>
          </a:prstGeom>
          <a:solidFill>
            <a:srgbClr val="FF91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>
            <a:noAutofit/>
          </a:bodyPr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366443" y="5724144"/>
            <a:ext cx="1371600" cy="5029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0" i="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0.188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2960" y="6291072"/>
            <a:ext cx="3291840" cy="5029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0" i="0">
                <a:solidFill>
                  <a:srgbClr val="1A1A1A"/>
                </a:solidFill>
                <a:latin typeface="Segoe UI"/>
                <a:ea typeface="Segoe UI"/>
                <a:cs typeface="Segoe UI"/>
              </a:rPr>
              <a:t>ML-DSA-65 sign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206240" y="6409944"/>
            <a:ext cx="3445459" cy="274320"/>
          </a:xfrm>
          <a:prstGeom prst="rect">
            <a:avLst/>
          </a:prstGeom>
          <a:solidFill>
            <a:srgbClr val="FF91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>
            <a:noAutofit/>
          </a:bodyPr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743139" y="6291072"/>
            <a:ext cx="1371600" cy="5029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0" i="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9.42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2960" y="6858000"/>
            <a:ext cx="3291840" cy="5029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0" i="0">
                <a:solidFill>
                  <a:srgbClr val="1A1A1A"/>
                </a:solidFill>
                <a:latin typeface="Segoe UI"/>
                <a:ea typeface="Segoe UI"/>
                <a:cs typeface="Segoe UI"/>
              </a:rPr>
              <a:t>Full session handshake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206240" y="6976872"/>
            <a:ext cx="3657600" cy="274320"/>
          </a:xfrm>
          <a:prstGeom prst="rect">
            <a:avLst/>
          </a:prstGeom>
          <a:solidFill>
            <a:srgbClr val="FF91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>
            <a:noAutofit/>
          </a:bodyPr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955280" y="6858000"/>
            <a:ext cx="1371600" cy="5029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0" i="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10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4206240" y="3977640"/>
            <a:ext cx="0" cy="3447288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822960" y="7470648"/>
            <a:ext cx="7680960" cy="8229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 i="0">
                <a:solidFill>
                  <a:srgbClr val="5C5C5C"/>
                </a:solidFill>
                <a:latin typeface="Segoe UI"/>
                <a:ea typeface="Segoe UI"/>
                <a:cs typeface="Segoe UI"/>
              </a:rPr>
              <a:t>Key exchange is about 100 times cheaper than signing. i7-13700HX, Python bindings; nothing measured on an ESP32.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052560" y="3474720"/>
            <a:ext cx="3154680" cy="1417320"/>
          </a:xfrm>
          <a:prstGeom prst="rect">
            <a:avLst/>
          </a:prstGeom>
          <a:solidFill>
            <a:srgbClr val="F6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>
            <a:noAutofit/>
          </a:bodyPr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235440" y="3547872"/>
            <a:ext cx="2834640" cy="7772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4000" b="0" i="0">
                <a:solidFill>
                  <a:srgbClr val="000000"/>
                </a:solidFill>
                <a:latin typeface="Bahnschrift SemiBold"/>
                <a:ea typeface="Bahnschrift SemiBold"/>
                <a:cs typeface="Bahnschrift SemiBold"/>
              </a:rPr>
              <a:t>785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235440" y="4325112"/>
            <a:ext cx="283464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 i="0">
                <a:solidFill>
                  <a:srgbClr val="5C5C5C"/>
                </a:solidFill>
                <a:latin typeface="Segoe UI"/>
                <a:ea typeface="Segoe UI"/>
                <a:cs typeface="Segoe UI"/>
              </a:rPr>
              <a:t>Python tests passing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2390120" y="3474720"/>
            <a:ext cx="3154680" cy="1417320"/>
          </a:xfrm>
          <a:prstGeom prst="rect">
            <a:avLst/>
          </a:prstGeom>
          <a:solidFill>
            <a:srgbClr val="F6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>
            <a:noAutofit/>
          </a:bodyPr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2573000" y="3547872"/>
            <a:ext cx="2834640" cy="7772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4000" b="0" i="0">
                <a:solidFill>
                  <a:srgbClr val="000000"/>
                </a:solidFill>
                <a:latin typeface="Bahnschrift SemiBold"/>
                <a:ea typeface="Bahnschrift SemiBold"/>
                <a:cs typeface="Bahnschrift SemiBold"/>
              </a:rPr>
              <a:t>40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2573000" y="4325112"/>
            <a:ext cx="283464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 i="0">
                <a:solidFill>
                  <a:srgbClr val="5C5C5C"/>
                </a:solidFill>
                <a:latin typeface="Segoe UI"/>
                <a:ea typeface="Segoe UI"/>
                <a:cs typeface="Segoe UI"/>
              </a:rPr>
              <a:t>JavaScript tests passing</a:t>
            </a:r>
          </a:p>
        </p:txBody>
      </p:sp>
      <p:sp>
        <p:nvSpPr>
          <p:cNvPr id="52" name="Rectangle 51"/>
          <p:cNvSpPr/>
          <p:nvPr/>
        </p:nvSpPr>
        <p:spPr>
          <a:xfrm>
            <a:off x="9052560" y="5074920"/>
            <a:ext cx="3154680" cy="1417320"/>
          </a:xfrm>
          <a:prstGeom prst="rect">
            <a:avLst/>
          </a:prstGeom>
          <a:solidFill>
            <a:srgbClr val="F6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>
            <a:noAutofit/>
          </a:bodyPr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235440" y="5148072"/>
            <a:ext cx="2834640" cy="7772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4000" b="0" i="0">
                <a:solidFill>
                  <a:srgbClr val="000000"/>
                </a:solidFill>
                <a:latin typeface="Bahnschrift SemiBold"/>
                <a:ea typeface="Bahnschrift SemiBold"/>
                <a:cs typeface="Bahnschrift SemiBold"/>
              </a:rPr>
              <a:t>70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235440" y="5925312"/>
            <a:ext cx="283464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 i="0">
                <a:solidFill>
                  <a:srgbClr val="5C5C5C"/>
                </a:solidFill>
                <a:latin typeface="Segoe UI"/>
                <a:ea typeface="Segoe UI"/>
                <a:cs typeface="Segoe UI"/>
              </a:rPr>
              <a:t>NIST ACVP vectors agree</a:t>
            </a:r>
          </a:p>
        </p:txBody>
      </p:sp>
      <p:sp>
        <p:nvSpPr>
          <p:cNvPr id="55" name="Rectangle 54"/>
          <p:cNvSpPr/>
          <p:nvPr/>
        </p:nvSpPr>
        <p:spPr>
          <a:xfrm>
            <a:off x="12390120" y="5074920"/>
            <a:ext cx="3154680" cy="1417320"/>
          </a:xfrm>
          <a:prstGeom prst="rect">
            <a:avLst/>
          </a:prstGeom>
          <a:solidFill>
            <a:srgbClr val="F6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>
            <a:noAutofit/>
          </a:bodyPr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2573000" y="5148072"/>
            <a:ext cx="2834640" cy="7772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4000" b="0" i="0">
                <a:solidFill>
                  <a:srgbClr val="000000"/>
                </a:solidFill>
                <a:latin typeface="Bahnschrift SemiBold"/>
                <a:ea typeface="Bahnschrift SemiBold"/>
                <a:cs typeface="Bahnschrift SemiBold"/>
              </a:rPr>
              <a:t>53 µs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2573000" y="5925312"/>
            <a:ext cx="283464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 i="0">
                <a:solidFill>
                  <a:srgbClr val="5C5C5C"/>
                </a:solidFill>
                <a:latin typeface="Segoe UI"/>
                <a:ea typeface="Segoe UI"/>
                <a:cs typeface="Segoe UI"/>
              </a:rPr>
              <a:t>trust-engine update (mean)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052560" y="6766560"/>
            <a:ext cx="6583680" cy="23317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0" i="0">
                <a:solidFill>
                  <a:srgbClr val="1A1A1A"/>
                </a:solidFill>
                <a:latin typeface="Segoe UI Semibold"/>
                <a:ea typeface="Segoe UI Semibold"/>
                <a:cs typeface="Segoe UI Semibold"/>
              </a:rPr>
              <a:t>Tests by area</a:t>
            </a:r>
          </a:p>
          <a:p>
            <a:pPr algn="l">
              <a:lnSpc>
                <a:spcPct val="108000"/>
              </a:lnSpc>
              <a:spcAft>
                <a:spcPts val="800"/>
              </a:spcAft>
            </a:pPr>
            <a:r>
              <a:rPr sz="1600" b="0" i="0">
                <a:solidFill>
                  <a:srgbClr val="1A1A1A"/>
                </a:solidFill>
                <a:latin typeface="Segoe UI"/>
                <a:ea typeface="Segoe UI"/>
                <a:cs typeface="Segoe UI"/>
              </a:rPr>
              <a:t>trust 235, security 149, AI 135, full stack 111, PQC 74, integration 47, twin 18, evidence 15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 i="0">
                <a:solidFill>
                  <a:srgbClr val="1A1A1A"/>
                </a:solidFill>
                <a:latin typeface="Segoe UI Semibold"/>
                <a:ea typeface="Segoe UI Semibold"/>
                <a:cs typeface="Segoe UI Semibold"/>
              </a:rPr>
              <a:t>Scale, honestly: </a:t>
            </a:r>
            <a:r>
              <a:rPr sz="1600" b="0" i="0">
                <a:solidFill>
                  <a:srgbClr val="1A1A1A"/>
                </a:solidFill>
                <a:latin typeface="Segoe UI"/>
                <a:ea typeface="Segoe UI"/>
                <a:cs typeface="Segoe UI"/>
              </a:rPr>
              <a:t>one gateway on SQLite, one process; multi-gateway is not built.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22960" y="9747504"/>
            <a:ext cx="822960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 i="0">
                <a:solidFill>
                  <a:srgbClr val="000000"/>
                </a:solidFill>
                <a:latin typeface="Segoe UI Semibold"/>
                <a:ea typeface="Segoe UI Semibold"/>
                <a:cs typeface="Segoe UI Semibold"/>
              </a:rPr>
              <a:t>Q-SHIELD</a:t>
            </a:r>
            <a:r>
              <a:rPr sz="1500" b="0" i="0">
                <a:solidFill>
                  <a:srgbClr val="000000"/>
                </a:solidFill>
                <a:latin typeface="Segoe UI"/>
                <a:ea typeface="Segoe UI"/>
                <a:cs typeface="Segoe UI"/>
              </a:rPr>
              <a:t>   continuous device trust with post-quantum-signed evidence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3350240" y="9747504"/>
            <a:ext cx="228600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500" b="0" i="0">
                <a:solidFill>
                  <a:srgbClr val="000000"/>
                </a:solidFill>
                <a:latin typeface="Segoe UI"/>
                <a:ea typeface="Segoe UI"/>
                <a:cs typeface="Segoe UI"/>
              </a:rPr>
              <a:t>21 / 24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name="Freeform 2" id="2"/>
          <p:cNvSpPr/>
          <p:nvPr/>
        </p:nvSpPr>
        <p:spPr>
          <a:xfrm flipH="false" flipV="false" rot="0">
            <a:off x="-350872" y="9407052"/>
            <a:ext cx="14979358" cy="908523"/>
          </a:xfrm>
          <a:custGeom>
            <a:avLst/>
            <a:gdLst/>
            <a:ahLst/>
            <a:cxnLst/>
            <a:rect r="r" b="b" t="t" l="l"/>
            <a:pathLst>
              <a:path h="908523" w="14979358">
                <a:moveTo>
                  <a:pt x="0" y="0"/>
                </a:moveTo>
                <a:lnTo>
                  <a:pt x="14979357" y="0"/>
                </a:lnTo>
                <a:lnTo>
                  <a:pt x="14979357" y="908523"/>
                </a:lnTo>
                <a:lnTo>
                  <a:pt x="0" y="90852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2273265" y="1130884"/>
            <a:ext cx="6870735" cy="543077"/>
            <a:chOff x="0" y="0"/>
            <a:chExt cx="9160980" cy="72410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9161018" cy="724154"/>
            </a:xfrm>
            <a:custGeom>
              <a:avLst/>
              <a:gdLst/>
              <a:ahLst/>
              <a:cxnLst/>
              <a:rect r="r" b="b" t="t" l="l"/>
              <a:pathLst>
                <a:path h="724154" w="9161018">
                  <a:moveTo>
                    <a:pt x="0" y="0"/>
                  </a:moveTo>
                  <a:lnTo>
                    <a:pt x="9161018" y="0"/>
                  </a:lnTo>
                  <a:lnTo>
                    <a:pt x="9161018" y="724154"/>
                  </a:lnTo>
                  <a:lnTo>
                    <a:pt x="0" y="72415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914D"/>
            </a:solidFill>
          </p:spPr>
        </p:sp>
      </p:grpSp>
      <p:grpSp>
        <p:nvGrpSpPr>
          <p:cNvPr name="Group 5" id="5"/>
          <p:cNvGrpSpPr/>
          <p:nvPr/>
        </p:nvGrpSpPr>
        <p:grpSpPr>
          <a:xfrm rot="-10800000">
            <a:off x="9124950" y="1130884"/>
            <a:ext cx="6870735" cy="543077"/>
            <a:chOff x="0" y="0"/>
            <a:chExt cx="9160980" cy="724103"/>
          </a:xfrm>
        </p:grpSpPr>
        <p:sp>
          <p:nvSpPr>
            <p:cNvPr name="Freeform 6" id="6"/>
            <p:cNvSpPr/>
            <p:nvPr/>
          </p:nvSpPr>
          <p:spPr>
            <a:xfrm flipH="false" flipV="true" rot="0">
              <a:off x="0" y="0"/>
              <a:ext cx="9161018" cy="724154"/>
            </a:xfrm>
            <a:custGeom>
              <a:avLst/>
              <a:gdLst/>
              <a:ahLst/>
              <a:cxnLst/>
              <a:rect r="r" b="b" t="t" l="l"/>
              <a:pathLst>
                <a:path h="724154" w="9161018">
                  <a:moveTo>
                    <a:pt x="0" y="724154"/>
                  </a:moveTo>
                  <a:lnTo>
                    <a:pt x="9161018" y="724154"/>
                  </a:lnTo>
                  <a:lnTo>
                    <a:pt x="9161018" y="0"/>
                  </a:lnTo>
                  <a:lnTo>
                    <a:pt x="0" y="0"/>
                  </a:lnTo>
                  <a:lnTo>
                    <a:pt x="0" y="724154"/>
                  </a:lnTo>
                  <a:close/>
                </a:path>
              </a:pathLst>
            </a:custGeom>
            <a:solidFill>
              <a:srgbClr val="FF914D"/>
            </a:solidFill>
          </p:spPr>
        </p:sp>
      </p:grpSp>
      <p:grpSp>
        <p:nvGrpSpPr>
          <p:cNvPr name="Group 7" id="7"/>
          <p:cNvGrpSpPr/>
          <p:nvPr/>
        </p:nvGrpSpPr>
        <p:grpSpPr>
          <a:xfrm rot="-10800000">
            <a:off x="-32871" y="1130884"/>
            <a:ext cx="3068079" cy="503739"/>
            <a:chOff x="0" y="0"/>
            <a:chExt cx="4090772" cy="671652"/>
          </a:xfrm>
        </p:grpSpPr>
        <p:sp>
          <p:nvSpPr>
            <p:cNvPr name="Freeform 8" id="8"/>
            <p:cNvSpPr/>
            <p:nvPr/>
          </p:nvSpPr>
          <p:spPr>
            <a:xfrm flipH="false" flipV="true" rot="0">
              <a:off x="0" y="0"/>
              <a:ext cx="4090797" cy="671703"/>
            </a:xfrm>
            <a:custGeom>
              <a:avLst/>
              <a:gdLst/>
              <a:ahLst/>
              <a:cxnLst/>
              <a:rect r="r" b="b" t="t" l="l"/>
              <a:pathLst>
                <a:path h="671703" w="4090797">
                  <a:moveTo>
                    <a:pt x="0" y="671703"/>
                  </a:moveTo>
                  <a:lnTo>
                    <a:pt x="4090797" y="671703"/>
                  </a:lnTo>
                  <a:lnTo>
                    <a:pt x="4090797" y="0"/>
                  </a:lnTo>
                  <a:lnTo>
                    <a:pt x="0" y="0"/>
                  </a:lnTo>
                  <a:lnTo>
                    <a:pt x="0" y="671703"/>
                  </a:lnTo>
                  <a:close/>
                </a:path>
              </a:pathLst>
            </a:custGeom>
            <a:solidFill>
              <a:srgbClr val="FF914D"/>
            </a:solidFill>
          </p:spPr>
        </p:sp>
      </p:grpSp>
      <p:sp>
        <p:nvSpPr>
          <p:cNvPr name="Freeform 9" id="9"/>
          <p:cNvSpPr/>
          <p:nvPr/>
        </p:nvSpPr>
        <p:spPr>
          <a:xfrm flipH="false" flipV="false" rot="-5400000">
            <a:off x="12120564" y="5052657"/>
            <a:ext cx="10084834" cy="2269088"/>
          </a:xfrm>
          <a:custGeom>
            <a:avLst/>
            <a:gdLst/>
            <a:ahLst/>
            <a:cxnLst/>
            <a:rect r="r" b="b" t="t" l="l"/>
            <a:pathLst>
              <a:path h="2269088" w="10084834">
                <a:moveTo>
                  <a:pt x="0" y="0"/>
                </a:moveTo>
                <a:lnTo>
                  <a:pt x="10084834" y="0"/>
                </a:lnTo>
                <a:lnTo>
                  <a:pt x="10084834" y="2269088"/>
                </a:lnTo>
                <a:lnTo>
                  <a:pt x="0" y="226908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-10800000">
            <a:off x="15248496" y="1130884"/>
            <a:ext cx="3068079" cy="503739"/>
            <a:chOff x="0" y="0"/>
            <a:chExt cx="4090772" cy="671652"/>
          </a:xfrm>
        </p:grpSpPr>
        <p:sp>
          <p:nvSpPr>
            <p:cNvPr name="Freeform 11" id="11"/>
            <p:cNvSpPr/>
            <p:nvPr/>
          </p:nvSpPr>
          <p:spPr>
            <a:xfrm flipH="false" flipV="true" rot="0">
              <a:off x="0" y="0"/>
              <a:ext cx="4090797" cy="671703"/>
            </a:xfrm>
            <a:custGeom>
              <a:avLst/>
              <a:gdLst/>
              <a:ahLst/>
              <a:cxnLst/>
              <a:rect r="r" b="b" t="t" l="l"/>
              <a:pathLst>
                <a:path h="671703" w="4090797">
                  <a:moveTo>
                    <a:pt x="0" y="671703"/>
                  </a:moveTo>
                  <a:lnTo>
                    <a:pt x="4090797" y="671703"/>
                  </a:lnTo>
                  <a:lnTo>
                    <a:pt x="4090797" y="0"/>
                  </a:lnTo>
                  <a:lnTo>
                    <a:pt x="0" y="0"/>
                  </a:lnTo>
                  <a:lnTo>
                    <a:pt x="0" y="671703"/>
                  </a:lnTo>
                  <a:close/>
                </a:path>
              </a:pathLst>
            </a:custGeom>
            <a:solidFill>
              <a:srgbClr val="FF914D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5688825" y="96222"/>
            <a:ext cx="2423739" cy="924096"/>
            <a:chOff x="0" y="0"/>
            <a:chExt cx="2307438" cy="879754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307463" cy="879729"/>
            </a:xfrm>
            <a:custGeom>
              <a:avLst/>
              <a:gdLst/>
              <a:ahLst/>
              <a:cxnLst/>
              <a:rect r="r" b="b" t="t" l="l"/>
              <a:pathLst>
                <a:path h="879729" w="2307463">
                  <a:moveTo>
                    <a:pt x="0" y="0"/>
                  </a:moveTo>
                  <a:lnTo>
                    <a:pt x="2307463" y="0"/>
                  </a:lnTo>
                  <a:lnTo>
                    <a:pt x="2307463" y="879729"/>
                  </a:lnTo>
                  <a:lnTo>
                    <a:pt x="0" y="8797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-76294" r="1" b="-85995"/>
              </a:stretch>
            </a:blipFill>
          </p:spPr>
        </p:sp>
      </p:grpSp>
      <p:sp>
        <p:nvSpPr>
          <p:cNvPr name="Freeform 14" id="14"/>
          <p:cNvSpPr/>
          <p:nvPr/>
        </p:nvSpPr>
        <p:spPr>
          <a:xfrm flipH="false" flipV="false" rot="0">
            <a:off x="9857003" y="9407052"/>
            <a:ext cx="14979358" cy="908523"/>
          </a:xfrm>
          <a:custGeom>
            <a:avLst/>
            <a:gdLst/>
            <a:ahLst/>
            <a:cxnLst/>
            <a:rect r="r" b="b" t="t" l="l"/>
            <a:pathLst>
              <a:path h="908523" w="14979358">
                <a:moveTo>
                  <a:pt x="0" y="0"/>
                </a:moveTo>
                <a:lnTo>
                  <a:pt x="14979358" y="0"/>
                </a:lnTo>
                <a:lnTo>
                  <a:pt x="14979358" y="908523"/>
                </a:lnTo>
                <a:lnTo>
                  <a:pt x="0" y="90852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252268" y="89049"/>
            <a:ext cx="2497801" cy="1034663"/>
          </a:xfrm>
          <a:custGeom>
            <a:avLst/>
            <a:gdLst/>
            <a:ahLst/>
            <a:cxnLst/>
            <a:rect r="r" b="b" t="t" l="l"/>
            <a:pathLst>
              <a:path h="1034663" w="2497801">
                <a:moveTo>
                  <a:pt x="0" y="0"/>
                </a:moveTo>
                <a:lnTo>
                  <a:pt x="2497801" y="0"/>
                </a:lnTo>
                <a:lnTo>
                  <a:pt x="2497801" y="1034663"/>
                </a:lnTo>
                <a:lnTo>
                  <a:pt x="0" y="103466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5988" t="-27243" r="-4375" b="-52819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6236411" y="74654"/>
            <a:ext cx="5815177" cy="987762"/>
          </a:xfrm>
          <a:custGeom>
            <a:avLst/>
            <a:gdLst/>
            <a:ahLst/>
            <a:cxnLst/>
            <a:rect r="r" b="b" t="t" l="l"/>
            <a:pathLst>
              <a:path h="987762" w="5815177">
                <a:moveTo>
                  <a:pt x="0" y="0"/>
                </a:moveTo>
                <a:lnTo>
                  <a:pt x="5815178" y="0"/>
                </a:lnTo>
                <a:lnTo>
                  <a:pt x="5815178" y="987762"/>
                </a:lnTo>
                <a:lnTo>
                  <a:pt x="0" y="987762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-11062" t="-153011" r="-9149" b="-154810"/>
            </a:stretch>
          </a:blipFill>
        </p:spPr>
      </p:sp>
      <p:sp>
        <p:nvSpPr>
          <p:cNvPr id="20" name="TextBox 19"/>
          <p:cNvSpPr txBox="1"/>
          <p:nvPr/>
        </p:nvSpPr>
        <p:spPr>
          <a:xfrm>
            <a:off x="822960" y="1810512"/>
            <a:ext cx="10972800" cy="3291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 i="0">
                <a:solidFill>
                  <a:srgbClr val="C2410C"/>
                </a:solidFill>
                <a:latin typeface="Segoe UI Semibold"/>
                <a:ea typeface="Segoe UI Semibold"/>
                <a:cs typeface="Segoe UI Semibold"/>
              </a:rPr>
              <a:t>5. Feasibility &amp; Innovation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2084832"/>
            <a:ext cx="14813280" cy="7315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4000" b="0" i="0">
                <a:solidFill>
                  <a:srgbClr val="000000"/>
                </a:solidFill>
                <a:latin typeface="Bahnschrift SemiBold"/>
                <a:ea typeface="Bahnschrift SemiBold"/>
                <a:cs typeface="Bahnschrift SemiBold"/>
              </a:rPr>
              <a:t>Innovation / USP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2761488"/>
            <a:ext cx="1481328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100" b="0" i="0">
                <a:solidFill>
                  <a:srgbClr val="5C5C5C"/>
                </a:solidFill>
                <a:latin typeface="Segoe UI"/>
                <a:ea typeface="Segoe UI"/>
                <a:cs typeface="Segoe UI"/>
              </a:rPr>
              <a:t>What Q-SHIELD does that one-time authentication cannot</a:t>
            </a:r>
          </a:p>
        </p:txBody>
      </p:sp>
      <p:sp>
        <p:nvSpPr>
          <p:cNvPr id="23" name="Oval 22"/>
          <p:cNvSpPr/>
          <p:nvPr/>
        </p:nvSpPr>
        <p:spPr>
          <a:xfrm>
            <a:off x="822960" y="3246120"/>
            <a:ext cx="128016" cy="128016"/>
          </a:xfrm>
          <a:prstGeom prst="ellipse">
            <a:avLst/>
          </a:prstGeom>
          <a:solidFill>
            <a:srgbClr val="FFFFFF"/>
          </a:solidFill>
          <a:ln w="22225">
            <a:solidFill>
              <a:srgbClr val="FF91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4" name="Connector 23"/>
          <p:cNvCxnSpPr/>
          <p:nvPr/>
        </p:nvCxnSpPr>
        <p:spPr>
          <a:xfrm>
            <a:off x="950976" y="3310128"/>
            <a:ext cx="1335024" cy="0"/>
          </a:xfrm>
          <a:prstGeom prst="line">
            <a:avLst/>
          </a:prstGeom>
          <a:ln w="22225">
            <a:solidFill>
              <a:srgbClr val="FF91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1097280" y="3931920"/>
            <a:ext cx="0" cy="4206240"/>
          </a:xfrm>
          <a:prstGeom prst="line">
            <a:avLst/>
          </a:prstGeom>
          <a:ln w="25400">
            <a:solidFill>
              <a:srgbClr val="FF91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Oval 25"/>
          <p:cNvSpPr/>
          <p:nvPr/>
        </p:nvSpPr>
        <p:spPr>
          <a:xfrm>
            <a:off x="941832" y="3776472"/>
            <a:ext cx="310896" cy="310896"/>
          </a:xfrm>
          <a:prstGeom prst="ellipse">
            <a:avLst/>
          </a:prstGeom>
          <a:solidFill>
            <a:srgbClr val="FFFFFF"/>
          </a:solidFill>
          <a:ln w="25400">
            <a:solidFill>
              <a:srgbClr val="FF91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554480" y="3657600"/>
            <a:ext cx="8778240" cy="10058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300" b="0" i="0">
                <a:solidFill>
                  <a:srgbClr val="1A1A1A"/>
                </a:solidFill>
                <a:latin typeface="Segoe UI Semibold"/>
                <a:ea typeface="Segoe UI Semibold"/>
                <a:cs typeface="Segoe UI Semibold"/>
              </a:rPr>
              <a:t>Continuous, explainable trust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5C5C5C"/>
                </a:solidFill>
                <a:latin typeface="Segoe UI"/>
                <a:ea typeface="Segoe UI"/>
                <a:cs typeface="Segoe UI"/>
              </a:rPr>
              <a:t>every score change lists the reasons that sum to it</a:t>
            </a:r>
          </a:p>
        </p:txBody>
      </p:sp>
      <p:sp>
        <p:nvSpPr>
          <p:cNvPr id="28" name="Oval 27"/>
          <p:cNvSpPr/>
          <p:nvPr/>
        </p:nvSpPr>
        <p:spPr>
          <a:xfrm>
            <a:off x="941832" y="4828032"/>
            <a:ext cx="310896" cy="310896"/>
          </a:xfrm>
          <a:prstGeom prst="ellipse">
            <a:avLst/>
          </a:prstGeom>
          <a:solidFill>
            <a:srgbClr val="FFFFFF"/>
          </a:solidFill>
          <a:ln w="25400">
            <a:solidFill>
              <a:srgbClr val="FF91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554480" y="4709160"/>
            <a:ext cx="8778240" cy="10058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300" b="0" i="0">
                <a:solidFill>
                  <a:srgbClr val="1A1A1A"/>
                </a:solidFill>
                <a:latin typeface="Segoe UI Semibold"/>
                <a:ea typeface="Segoe UI Semibold"/>
                <a:cs typeface="Segoe UI Semibold"/>
              </a:rPr>
              <a:t>Authenticity is not trust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5C5C5C"/>
                </a:solidFill>
                <a:latin typeface="Segoe UI"/>
                <a:ea typeface="Segoe UI"/>
                <a:cs typeface="Segoe UI"/>
              </a:rPr>
              <a:t>signatures decide what counts; they never add points</a:t>
            </a:r>
          </a:p>
        </p:txBody>
      </p:sp>
      <p:sp>
        <p:nvSpPr>
          <p:cNvPr id="30" name="Oval 29"/>
          <p:cNvSpPr/>
          <p:nvPr/>
        </p:nvSpPr>
        <p:spPr>
          <a:xfrm>
            <a:off x="941832" y="5879592"/>
            <a:ext cx="310896" cy="310896"/>
          </a:xfrm>
          <a:prstGeom prst="ellipse">
            <a:avLst/>
          </a:prstGeom>
          <a:solidFill>
            <a:srgbClr val="FF914D"/>
          </a:solidFill>
          <a:ln w="25400">
            <a:solidFill>
              <a:srgbClr val="FF91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554480" y="5760720"/>
            <a:ext cx="8778240" cy="10058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300" b="0" i="0">
                <a:solidFill>
                  <a:srgbClr val="1A1A1A"/>
                </a:solidFill>
                <a:latin typeface="Segoe UI Semibold"/>
                <a:ea typeface="Segoe UI Semibold"/>
                <a:cs typeface="Segoe UI Semibold"/>
              </a:rPr>
              <a:t>Camera as a security boundary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5C5C5C"/>
                </a:solidFill>
                <a:latin typeface="Segoe UI"/>
                <a:ea typeface="Segoe UI"/>
                <a:cs typeface="Segoe UI"/>
              </a:rPr>
              <a:t>covered, frozen or turned is signed evidence</a:t>
            </a:r>
          </a:p>
        </p:txBody>
      </p:sp>
      <p:sp>
        <p:nvSpPr>
          <p:cNvPr id="32" name="Oval 31"/>
          <p:cNvSpPr/>
          <p:nvPr/>
        </p:nvSpPr>
        <p:spPr>
          <a:xfrm>
            <a:off x="941832" y="6931152"/>
            <a:ext cx="310896" cy="310896"/>
          </a:xfrm>
          <a:prstGeom prst="ellipse">
            <a:avLst/>
          </a:prstGeom>
          <a:solidFill>
            <a:srgbClr val="FF914D"/>
          </a:solidFill>
          <a:ln w="25400">
            <a:solidFill>
              <a:srgbClr val="FF91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554480" y="6812280"/>
            <a:ext cx="8778240" cy="10058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300" b="0" i="0">
                <a:solidFill>
                  <a:srgbClr val="1A1A1A"/>
                </a:solidFill>
                <a:latin typeface="Segoe UI Semibold"/>
                <a:ea typeface="Segoe UI Semibold"/>
                <a:cs typeface="Segoe UI Semibold"/>
              </a:rPr>
              <a:t>Bounded griefing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5C5C5C"/>
                </a:solidFill>
                <a:latin typeface="Segoe UI"/>
                <a:ea typeface="Segoe UI"/>
                <a:cs typeface="Segoe UI"/>
              </a:rPr>
              <a:t>forged traffic is capped at 25 points: it can never quarantine</a:t>
            </a:r>
          </a:p>
        </p:txBody>
      </p:sp>
      <p:sp>
        <p:nvSpPr>
          <p:cNvPr id="34" name="Oval 33"/>
          <p:cNvSpPr/>
          <p:nvPr/>
        </p:nvSpPr>
        <p:spPr>
          <a:xfrm>
            <a:off x="941832" y="7982712"/>
            <a:ext cx="310896" cy="310896"/>
          </a:xfrm>
          <a:prstGeom prst="ellipse">
            <a:avLst/>
          </a:prstGeom>
          <a:solidFill>
            <a:srgbClr val="FFFFFF"/>
          </a:solidFill>
          <a:ln w="25400">
            <a:solidFill>
              <a:srgbClr val="FF91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554480" y="7863840"/>
            <a:ext cx="8778240" cy="10058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300" b="0" i="0">
                <a:solidFill>
                  <a:srgbClr val="1A1A1A"/>
                </a:solidFill>
                <a:latin typeface="Segoe UI Semibold"/>
                <a:ea typeface="Segoe UI Semibold"/>
                <a:cs typeface="Segoe UI Semibold"/>
              </a:rPr>
              <a:t>Earned recovery, signed evidence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5C5C5C"/>
                </a:solidFill>
                <a:latin typeface="Segoe UI"/>
                <a:ea typeface="Segoe UI"/>
                <a:cs typeface="Segoe UI"/>
              </a:rPr>
              <a:t>post-quantum signatures on every decision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0607040" y="3657600"/>
            <a:ext cx="5029200" cy="3246120"/>
          </a:xfrm>
          <a:prstGeom prst="rect">
            <a:avLst/>
          </a:prstGeom>
          <a:solidFill>
            <a:srgbClr val="F6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>
            <a:noAutofit/>
          </a:bodyPr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835640" y="3794760"/>
            <a:ext cx="4663440" cy="4937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  <a:spcAft>
                <a:spcPts val="800"/>
              </a:spcAft>
            </a:pPr>
            <a:r>
              <a:rPr sz="1800" b="0" i="0">
                <a:solidFill>
                  <a:srgbClr val="1A1A1A"/>
                </a:solidFill>
                <a:latin typeface="Segoe UI Semibold"/>
                <a:ea typeface="Segoe UI Semibold"/>
                <a:cs typeface="Segoe UI Semibold"/>
              </a:rPr>
              <a:t>The novelty is the loop</a:t>
            </a:r>
          </a:p>
          <a:p>
            <a:pPr algn="l">
              <a:lnSpc>
                <a:spcPct val="108000"/>
              </a:lnSpc>
              <a:spcAft>
                <a:spcPts val="1200"/>
              </a:spcAft>
            </a:pPr>
            <a:r>
              <a:rPr sz="1600" b="0" i="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observe → verify → score → enforce → recover → prove</a:t>
            </a:r>
          </a:p>
          <a:p>
            <a:pPr algn="l">
              <a:lnSpc>
                <a:spcPct val="108000"/>
              </a:lnSpc>
              <a:spcAft>
                <a:spcPts val="1200"/>
              </a:spcAft>
            </a:pPr>
            <a:r>
              <a:rPr sz="1800" b="0" i="0">
                <a:solidFill>
                  <a:srgbClr val="1A1A1A"/>
                </a:solidFill>
                <a:latin typeface="Segoe UI"/>
                <a:ea typeface="Segoe UI"/>
                <a:cs typeface="Segoe UI"/>
              </a:rPr>
              <a:t>Each mechanism is standard. Their integration around one device's continuous trust is the contribution.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 i="0">
                <a:solidFill>
                  <a:srgbClr val="5C5C5C"/>
                </a:solidFill>
                <a:latin typeface="Segoe UI"/>
                <a:ea typeface="Segoe UI"/>
                <a:cs typeface="Segoe UI"/>
              </a:rPr>
              <a:t>A prior-art survey has not been done; we claim an integration, not a new algorithm.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2960" y="9747504"/>
            <a:ext cx="822960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 i="0">
                <a:solidFill>
                  <a:srgbClr val="000000"/>
                </a:solidFill>
                <a:latin typeface="Segoe UI Semibold"/>
                <a:ea typeface="Segoe UI Semibold"/>
                <a:cs typeface="Segoe UI Semibold"/>
              </a:rPr>
              <a:t>Q-SHIELD</a:t>
            </a:r>
            <a:r>
              <a:rPr sz="1500" b="0" i="0">
                <a:solidFill>
                  <a:srgbClr val="000000"/>
                </a:solidFill>
                <a:latin typeface="Segoe UI"/>
                <a:ea typeface="Segoe UI"/>
                <a:cs typeface="Segoe UI"/>
              </a:rPr>
              <a:t>   continuous device trust with post-quantum-signed evidence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3350240" y="9747504"/>
            <a:ext cx="228600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500" b="0" i="0">
                <a:solidFill>
                  <a:srgbClr val="000000"/>
                </a:solidFill>
                <a:latin typeface="Segoe UI"/>
                <a:ea typeface="Segoe UI"/>
                <a:cs typeface="Segoe UI"/>
              </a:rPr>
              <a:t>22 / 24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name="Freeform 2" id="2"/>
          <p:cNvSpPr/>
          <p:nvPr/>
        </p:nvSpPr>
        <p:spPr>
          <a:xfrm flipH="false" flipV="false" rot="0">
            <a:off x="-350872" y="9397527"/>
            <a:ext cx="14979358" cy="908523"/>
          </a:xfrm>
          <a:custGeom>
            <a:avLst/>
            <a:gdLst/>
            <a:ahLst/>
            <a:cxnLst/>
            <a:rect r="r" b="b" t="t" l="l"/>
            <a:pathLst>
              <a:path h="908523" w="14979358">
                <a:moveTo>
                  <a:pt x="0" y="0"/>
                </a:moveTo>
                <a:lnTo>
                  <a:pt x="14979357" y="0"/>
                </a:lnTo>
                <a:lnTo>
                  <a:pt x="14979357" y="908523"/>
                </a:lnTo>
                <a:lnTo>
                  <a:pt x="0" y="90852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2273265" y="1130884"/>
            <a:ext cx="6870735" cy="543077"/>
            <a:chOff x="0" y="0"/>
            <a:chExt cx="9160980" cy="72410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9161018" cy="724154"/>
            </a:xfrm>
            <a:custGeom>
              <a:avLst/>
              <a:gdLst/>
              <a:ahLst/>
              <a:cxnLst/>
              <a:rect r="r" b="b" t="t" l="l"/>
              <a:pathLst>
                <a:path h="724154" w="9161018">
                  <a:moveTo>
                    <a:pt x="0" y="0"/>
                  </a:moveTo>
                  <a:lnTo>
                    <a:pt x="9161018" y="0"/>
                  </a:lnTo>
                  <a:lnTo>
                    <a:pt x="9161018" y="724154"/>
                  </a:lnTo>
                  <a:lnTo>
                    <a:pt x="0" y="72415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914D"/>
            </a:solidFill>
          </p:spPr>
        </p:sp>
      </p:grpSp>
      <p:grpSp>
        <p:nvGrpSpPr>
          <p:cNvPr name="Group 5" id="5"/>
          <p:cNvGrpSpPr/>
          <p:nvPr/>
        </p:nvGrpSpPr>
        <p:grpSpPr>
          <a:xfrm rot="-10800000">
            <a:off x="9124950" y="1130884"/>
            <a:ext cx="6870735" cy="543077"/>
            <a:chOff x="0" y="0"/>
            <a:chExt cx="9160980" cy="724103"/>
          </a:xfrm>
        </p:grpSpPr>
        <p:sp>
          <p:nvSpPr>
            <p:cNvPr name="Freeform 6" id="6"/>
            <p:cNvSpPr/>
            <p:nvPr/>
          </p:nvSpPr>
          <p:spPr>
            <a:xfrm flipH="false" flipV="true" rot="0">
              <a:off x="0" y="0"/>
              <a:ext cx="9161018" cy="724154"/>
            </a:xfrm>
            <a:custGeom>
              <a:avLst/>
              <a:gdLst/>
              <a:ahLst/>
              <a:cxnLst/>
              <a:rect r="r" b="b" t="t" l="l"/>
              <a:pathLst>
                <a:path h="724154" w="9161018">
                  <a:moveTo>
                    <a:pt x="0" y="724154"/>
                  </a:moveTo>
                  <a:lnTo>
                    <a:pt x="9161018" y="724154"/>
                  </a:lnTo>
                  <a:lnTo>
                    <a:pt x="9161018" y="0"/>
                  </a:lnTo>
                  <a:lnTo>
                    <a:pt x="0" y="0"/>
                  </a:lnTo>
                  <a:lnTo>
                    <a:pt x="0" y="724154"/>
                  </a:lnTo>
                  <a:close/>
                </a:path>
              </a:pathLst>
            </a:custGeom>
            <a:solidFill>
              <a:srgbClr val="FF914D"/>
            </a:solidFill>
          </p:spPr>
        </p:sp>
      </p:grpSp>
      <p:grpSp>
        <p:nvGrpSpPr>
          <p:cNvPr name="Group 7" id="7"/>
          <p:cNvGrpSpPr/>
          <p:nvPr/>
        </p:nvGrpSpPr>
        <p:grpSpPr>
          <a:xfrm rot="-10800000">
            <a:off x="-32871" y="1130884"/>
            <a:ext cx="3068079" cy="503739"/>
            <a:chOff x="0" y="0"/>
            <a:chExt cx="4090772" cy="671652"/>
          </a:xfrm>
        </p:grpSpPr>
        <p:sp>
          <p:nvSpPr>
            <p:cNvPr name="Freeform 8" id="8"/>
            <p:cNvSpPr/>
            <p:nvPr/>
          </p:nvSpPr>
          <p:spPr>
            <a:xfrm flipH="false" flipV="true" rot="0">
              <a:off x="0" y="0"/>
              <a:ext cx="4090797" cy="671703"/>
            </a:xfrm>
            <a:custGeom>
              <a:avLst/>
              <a:gdLst/>
              <a:ahLst/>
              <a:cxnLst/>
              <a:rect r="r" b="b" t="t" l="l"/>
              <a:pathLst>
                <a:path h="671703" w="4090797">
                  <a:moveTo>
                    <a:pt x="0" y="671703"/>
                  </a:moveTo>
                  <a:lnTo>
                    <a:pt x="4090797" y="671703"/>
                  </a:lnTo>
                  <a:lnTo>
                    <a:pt x="4090797" y="0"/>
                  </a:lnTo>
                  <a:lnTo>
                    <a:pt x="0" y="0"/>
                  </a:lnTo>
                  <a:lnTo>
                    <a:pt x="0" y="671703"/>
                  </a:lnTo>
                  <a:close/>
                </a:path>
              </a:pathLst>
            </a:custGeom>
            <a:solidFill>
              <a:srgbClr val="FF914D"/>
            </a:solidFill>
          </p:spPr>
        </p:sp>
      </p:grpSp>
      <p:sp>
        <p:nvSpPr>
          <p:cNvPr name="Freeform 9" id="9"/>
          <p:cNvSpPr/>
          <p:nvPr/>
        </p:nvSpPr>
        <p:spPr>
          <a:xfrm flipH="false" flipV="false" rot="-5400000">
            <a:off x="12120564" y="5052657"/>
            <a:ext cx="10084834" cy="2269088"/>
          </a:xfrm>
          <a:custGeom>
            <a:avLst/>
            <a:gdLst/>
            <a:ahLst/>
            <a:cxnLst/>
            <a:rect r="r" b="b" t="t" l="l"/>
            <a:pathLst>
              <a:path h="2269088" w="10084834">
                <a:moveTo>
                  <a:pt x="0" y="0"/>
                </a:moveTo>
                <a:lnTo>
                  <a:pt x="10084834" y="0"/>
                </a:lnTo>
                <a:lnTo>
                  <a:pt x="10084834" y="2269088"/>
                </a:lnTo>
                <a:lnTo>
                  <a:pt x="0" y="226908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-10800000">
            <a:off x="15248496" y="1130884"/>
            <a:ext cx="3068079" cy="503739"/>
            <a:chOff x="0" y="0"/>
            <a:chExt cx="4090772" cy="671652"/>
          </a:xfrm>
        </p:grpSpPr>
        <p:sp>
          <p:nvSpPr>
            <p:cNvPr name="Freeform 11" id="11"/>
            <p:cNvSpPr/>
            <p:nvPr/>
          </p:nvSpPr>
          <p:spPr>
            <a:xfrm flipH="false" flipV="true" rot="0">
              <a:off x="0" y="0"/>
              <a:ext cx="4090797" cy="671703"/>
            </a:xfrm>
            <a:custGeom>
              <a:avLst/>
              <a:gdLst/>
              <a:ahLst/>
              <a:cxnLst/>
              <a:rect r="r" b="b" t="t" l="l"/>
              <a:pathLst>
                <a:path h="671703" w="4090797">
                  <a:moveTo>
                    <a:pt x="0" y="671703"/>
                  </a:moveTo>
                  <a:lnTo>
                    <a:pt x="4090797" y="671703"/>
                  </a:lnTo>
                  <a:lnTo>
                    <a:pt x="4090797" y="0"/>
                  </a:lnTo>
                  <a:lnTo>
                    <a:pt x="0" y="0"/>
                  </a:lnTo>
                  <a:lnTo>
                    <a:pt x="0" y="671703"/>
                  </a:lnTo>
                  <a:close/>
                </a:path>
              </a:pathLst>
            </a:custGeom>
            <a:solidFill>
              <a:srgbClr val="FF914D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5688825" y="96222"/>
            <a:ext cx="2423739" cy="924096"/>
            <a:chOff x="0" y="0"/>
            <a:chExt cx="2307438" cy="879754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307463" cy="879729"/>
            </a:xfrm>
            <a:custGeom>
              <a:avLst/>
              <a:gdLst/>
              <a:ahLst/>
              <a:cxnLst/>
              <a:rect r="r" b="b" t="t" l="l"/>
              <a:pathLst>
                <a:path h="879729" w="2307463">
                  <a:moveTo>
                    <a:pt x="0" y="0"/>
                  </a:moveTo>
                  <a:lnTo>
                    <a:pt x="2307463" y="0"/>
                  </a:lnTo>
                  <a:lnTo>
                    <a:pt x="2307463" y="879729"/>
                  </a:lnTo>
                  <a:lnTo>
                    <a:pt x="0" y="8797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-76294" r="1" b="-85995"/>
              </a:stretch>
            </a:blipFill>
          </p:spPr>
        </p:sp>
      </p:grpSp>
      <p:sp>
        <p:nvSpPr>
          <p:cNvPr name="Freeform 14" id="14"/>
          <p:cNvSpPr/>
          <p:nvPr/>
        </p:nvSpPr>
        <p:spPr>
          <a:xfrm flipH="false" flipV="false" rot="0">
            <a:off x="9857003" y="9404671"/>
            <a:ext cx="14979358" cy="908523"/>
          </a:xfrm>
          <a:custGeom>
            <a:avLst/>
            <a:gdLst/>
            <a:ahLst/>
            <a:cxnLst/>
            <a:rect r="r" b="b" t="t" l="l"/>
            <a:pathLst>
              <a:path h="908523" w="14979358">
                <a:moveTo>
                  <a:pt x="0" y="0"/>
                </a:moveTo>
                <a:lnTo>
                  <a:pt x="14979358" y="0"/>
                </a:lnTo>
                <a:lnTo>
                  <a:pt x="14979358" y="908523"/>
                </a:lnTo>
                <a:lnTo>
                  <a:pt x="0" y="90852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252268" y="89049"/>
            <a:ext cx="2497801" cy="1034663"/>
          </a:xfrm>
          <a:custGeom>
            <a:avLst/>
            <a:gdLst/>
            <a:ahLst/>
            <a:cxnLst/>
            <a:rect r="r" b="b" t="t" l="l"/>
            <a:pathLst>
              <a:path h="1034663" w="2497801">
                <a:moveTo>
                  <a:pt x="0" y="0"/>
                </a:moveTo>
                <a:lnTo>
                  <a:pt x="2497801" y="0"/>
                </a:lnTo>
                <a:lnTo>
                  <a:pt x="2497801" y="1034663"/>
                </a:lnTo>
                <a:lnTo>
                  <a:pt x="0" y="103466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5988" t="-27243" r="-4375" b="-52819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6236411" y="74654"/>
            <a:ext cx="5815177" cy="987762"/>
          </a:xfrm>
          <a:custGeom>
            <a:avLst/>
            <a:gdLst/>
            <a:ahLst/>
            <a:cxnLst/>
            <a:rect r="r" b="b" t="t" l="l"/>
            <a:pathLst>
              <a:path h="987762" w="5815177">
                <a:moveTo>
                  <a:pt x="0" y="0"/>
                </a:moveTo>
                <a:lnTo>
                  <a:pt x="5815178" y="0"/>
                </a:lnTo>
                <a:lnTo>
                  <a:pt x="5815178" y="987762"/>
                </a:lnTo>
                <a:lnTo>
                  <a:pt x="0" y="987762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-11062" t="-153011" r="-9149" b="-154810"/>
            </a:stretch>
          </a:blipFill>
        </p:spPr>
      </p:sp>
      <p:sp>
        <p:nvSpPr>
          <p:cNvPr id="21" name="TextBox 20"/>
          <p:cNvSpPr txBox="1"/>
          <p:nvPr/>
        </p:nvSpPr>
        <p:spPr>
          <a:xfrm>
            <a:off x="822960" y="1874520"/>
            <a:ext cx="14813280" cy="7315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4000" b="0" i="0">
                <a:solidFill>
                  <a:srgbClr val="000000"/>
                </a:solidFill>
                <a:latin typeface="Bahnschrift SemiBold"/>
                <a:ea typeface="Bahnschrift SemiBold"/>
                <a:cs typeface="Bahnschrift SemiBold"/>
              </a:rPr>
              <a:t>6. Expected Outcome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2578608"/>
            <a:ext cx="1481328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100" b="0" i="0">
                <a:solidFill>
                  <a:srgbClr val="5C5C5C"/>
                </a:solidFill>
                <a:latin typeface="Segoe UI"/>
                <a:ea typeface="Segoe UI"/>
                <a:cs typeface="Segoe UI"/>
              </a:rPr>
              <a:t>Expected results / prototype: the live demo, end to end</a:t>
            </a:r>
          </a:p>
        </p:txBody>
      </p:sp>
      <p:sp>
        <p:nvSpPr>
          <p:cNvPr id="23" name="Oval 22"/>
          <p:cNvSpPr/>
          <p:nvPr/>
        </p:nvSpPr>
        <p:spPr>
          <a:xfrm>
            <a:off x="822960" y="3063240"/>
            <a:ext cx="128016" cy="128016"/>
          </a:xfrm>
          <a:prstGeom prst="ellipse">
            <a:avLst/>
          </a:prstGeom>
          <a:solidFill>
            <a:srgbClr val="FFFFFF"/>
          </a:solidFill>
          <a:ln w="22225">
            <a:solidFill>
              <a:srgbClr val="FF91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4" name="Connector 23"/>
          <p:cNvCxnSpPr/>
          <p:nvPr/>
        </p:nvCxnSpPr>
        <p:spPr>
          <a:xfrm>
            <a:off x="950976" y="3127248"/>
            <a:ext cx="1335024" cy="0"/>
          </a:xfrm>
          <a:prstGeom prst="line">
            <a:avLst/>
          </a:prstGeom>
          <a:ln w="22225">
            <a:solidFill>
              <a:srgbClr val="FF91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822960" y="3520440"/>
            <a:ext cx="3108960" cy="7315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>
            <a:noAutofit/>
          </a:bodyPr>
          <a:lstStyle/>
          <a:p>
            <a:pPr algn="ctr">
              <a:lnSpc>
                <a:spcPct val="100000"/>
              </a:lnSpc>
            </a:pPr>
            <a:r>
              <a:rPr sz="1700" b="0" i="0">
                <a:solidFill>
                  <a:srgbClr val="1A1A1A"/>
                </a:solidFill>
                <a:latin typeface="Segoe UI Semibold"/>
                <a:ea typeface="Segoe UI Semibold"/>
                <a:cs typeface="Segoe UI Semibold"/>
              </a:rPr>
              <a:t>Forged observation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3977640" y="3886200"/>
            <a:ext cx="502920" cy="0"/>
          </a:xfrm>
          <a:prstGeom prst="line">
            <a:avLst/>
          </a:prstGeom>
          <a:ln w="22225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4526280" y="3520440"/>
            <a:ext cx="2743200" cy="731520"/>
          </a:xfrm>
          <a:prstGeom prst="roundRect">
            <a:avLst>
              <a:gd name="adj" fmla="val 12000"/>
            </a:avLst>
          </a:prstGeom>
          <a:solidFill>
            <a:srgbClr val="F6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>
            <a:noAutofit/>
          </a:bodyPr>
          <a:lstStyle/>
          <a:p>
            <a:pPr algn="ctr">
              <a:lnSpc>
                <a:spcPct val="100000"/>
              </a:lnSpc>
            </a:pPr>
            <a:r>
              <a:rPr sz="1700" b="0" i="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REJECTED  401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22960" y="4434840"/>
            <a:ext cx="3108960" cy="7315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>
            <a:noAutofit/>
          </a:bodyPr>
          <a:lstStyle/>
          <a:p>
            <a:pPr algn="ctr">
              <a:lnSpc>
                <a:spcPct val="100000"/>
              </a:lnSpc>
            </a:pPr>
            <a:r>
              <a:rPr sz="1700" b="0" i="0">
                <a:solidFill>
                  <a:srgbClr val="1A1A1A"/>
                </a:solidFill>
                <a:latin typeface="Segoe UI Semibold"/>
                <a:ea typeface="Segoe UI Semibold"/>
                <a:cs typeface="Segoe UI Semibold"/>
              </a:rPr>
              <a:t>Replayed observation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3977640" y="4800600"/>
            <a:ext cx="502920" cy="0"/>
          </a:xfrm>
          <a:prstGeom prst="line">
            <a:avLst/>
          </a:prstGeom>
          <a:ln w="22225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4526280" y="4434840"/>
            <a:ext cx="2743200" cy="731520"/>
          </a:xfrm>
          <a:prstGeom prst="roundRect">
            <a:avLst>
              <a:gd name="adj" fmla="val 12000"/>
            </a:avLst>
          </a:prstGeom>
          <a:solidFill>
            <a:srgbClr val="F6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>
            <a:noAutofit/>
          </a:bodyPr>
          <a:lstStyle/>
          <a:p>
            <a:pPr algn="ctr">
              <a:lnSpc>
                <a:spcPct val="100000"/>
              </a:lnSpc>
            </a:pPr>
            <a:r>
              <a:rPr sz="1700" b="0" i="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REJECTED  409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22960" y="5440680"/>
            <a:ext cx="3108960" cy="7315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>
            <a:noAutofit/>
          </a:bodyPr>
          <a:lstStyle/>
          <a:p>
            <a:pPr algn="ctr">
              <a:lnSpc>
                <a:spcPct val="100000"/>
              </a:lnSpc>
            </a:pPr>
            <a:r>
              <a:rPr sz="1700" b="0" i="0">
                <a:solidFill>
                  <a:srgbClr val="1A1A1A"/>
                </a:solidFill>
                <a:latin typeface="Segoe UI Semibold"/>
                <a:ea typeface="Segoe UI Semibold"/>
                <a:cs typeface="Segoe UI Semibold"/>
              </a:rPr>
              <a:t>Physical tamper</a:t>
            </a:r>
          </a:p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5C5C5C"/>
                </a:solidFill>
                <a:latin typeface="Segoe UI"/>
                <a:ea typeface="Segoe UI"/>
                <a:cs typeface="Segoe UI"/>
              </a:rPr>
              <a:t>HMAC report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22960" y="6355080"/>
            <a:ext cx="3108960" cy="731520"/>
          </a:xfrm>
          <a:prstGeom prst="roundRect">
            <a:avLst>
              <a:gd name="adj" fmla="val 12000"/>
            </a:avLst>
          </a:prstGeom>
          <a:solidFill>
            <a:srgbClr val="FFE9DB"/>
          </a:solidFill>
          <a:ln w="19050">
            <a:solidFill>
              <a:srgbClr val="FF91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>
            <a:noAutofit/>
          </a:bodyPr>
          <a:lstStyle/>
          <a:p>
            <a:pPr algn="ctr">
              <a:lnSpc>
                <a:spcPct val="100000"/>
              </a:lnSpc>
            </a:pPr>
            <a:r>
              <a:rPr sz="1700" b="0" i="0">
                <a:solidFill>
                  <a:srgbClr val="1A1A1A"/>
                </a:solidFill>
                <a:latin typeface="Segoe UI Semibold"/>
                <a:ea typeface="Segoe UI Semibold"/>
                <a:cs typeface="Segoe UI Semibold"/>
              </a:rPr>
              <a:t>Visual evidence</a:t>
            </a:r>
          </a:p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5C5C5C"/>
                </a:solidFill>
                <a:latin typeface="Segoe UI"/>
                <a:ea typeface="Segoe UI"/>
                <a:cs typeface="Segoe UI"/>
              </a:rPr>
              <a:t>ML-DSA-65 signed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3977640" y="5806440"/>
            <a:ext cx="274320" cy="0"/>
          </a:xfrm>
          <a:prstGeom prst="line">
            <a:avLst/>
          </a:prstGeom>
          <a:ln w="2222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4251960" y="5806440"/>
            <a:ext cx="0" cy="457200"/>
          </a:xfrm>
          <a:prstGeom prst="line">
            <a:avLst/>
          </a:prstGeom>
          <a:ln w="2222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3977640" y="6720840"/>
            <a:ext cx="274320" cy="0"/>
          </a:xfrm>
          <a:prstGeom prst="line">
            <a:avLst/>
          </a:prstGeom>
          <a:ln w="2222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V="1">
            <a:off x="4251960" y="6263640"/>
            <a:ext cx="0" cy="457200"/>
          </a:xfrm>
          <a:prstGeom prst="line">
            <a:avLst/>
          </a:prstGeom>
          <a:ln w="2222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4251960" y="6263640"/>
            <a:ext cx="228600" cy="0"/>
          </a:xfrm>
          <a:prstGeom prst="line">
            <a:avLst/>
          </a:prstGeom>
          <a:ln w="22225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/>
          <p:cNvSpPr/>
          <p:nvPr/>
        </p:nvSpPr>
        <p:spPr>
          <a:xfrm>
            <a:off x="4526280" y="5897880"/>
            <a:ext cx="2743200" cy="7315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>
            <a:noAutofit/>
          </a:bodyPr>
          <a:lstStyle/>
          <a:p>
            <a:pPr algn="ctr">
              <a:lnSpc>
                <a:spcPct val="100000"/>
              </a:lnSpc>
            </a:pPr>
            <a:r>
              <a:rPr sz="1700" b="0" i="0">
                <a:solidFill>
                  <a:srgbClr val="1A1A1A"/>
                </a:solidFill>
                <a:latin typeface="Segoe UI Semibold"/>
                <a:ea typeface="Segoe UI Semibold"/>
                <a:cs typeface="Segoe UI Semibold"/>
              </a:rPr>
              <a:t>Correlation</a:t>
            </a:r>
          </a:p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5C5C5C"/>
                </a:solidFill>
                <a:latin typeface="Segoe UI"/>
                <a:ea typeface="Segoe UI"/>
                <a:cs typeface="Segoe UI"/>
              </a:rPr>
              <a:t>within 60 s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5897880" y="6665976"/>
            <a:ext cx="0" cy="512064"/>
          </a:xfrm>
          <a:prstGeom prst="line">
            <a:avLst/>
          </a:prstGeom>
          <a:ln w="22225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ounded Rectangle 39"/>
          <p:cNvSpPr/>
          <p:nvPr/>
        </p:nvSpPr>
        <p:spPr>
          <a:xfrm>
            <a:off x="4526280" y="7223760"/>
            <a:ext cx="2743200" cy="777240"/>
          </a:xfrm>
          <a:prstGeom prst="roundRect">
            <a:avLst>
              <a:gd name="adj" fmla="val 12000"/>
            </a:avLst>
          </a:prstGeom>
          <a:solidFill>
            <a:srgbClr val="FF914D"/>
          </a:solidFill>
          <a:ln w="19050">
            <a:solidFill>
              <a:srgbClr val="FF91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>
            <a:noAutofit/>
          </a:bodyPr>
          <a:lstStyle/>
          <a:p>
            <a:pPr algn="ctr">
              <a:lnSpc>
                <a:spcPct val="100000"/>
              </a:lnSpc>
            </a:pPr>
            <a:r>
              <a:rPr sz="1800" b="0" i="0">
                <a:solidFill>
                  <a:srgbClr val="1A1A1A"/>
                </a:solidFill>
                <a:latin typeface="Segoe UI Semibold"/>
                <a:ea typeface="Segoe UI Semibold"/>
                <a:cs typeface="Segoe UI Semibold"/>
              </a:rPr>
              <a:t>QUARANTINE</a:t>
            </a:r>
          </a:p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000000"/>
                </a:solidFill>
                <a:latin typeface="Segoe UI"/>
                <a:ea typeface="Segoe UI"/>
                <a:cs typeface="Segoe UI"/>
              </a:rPr>
              <a:t>score 30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2960" y="8229600"/>
            <a:ext cx="6949440" cy="8686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 i="0">
                <a:solidFill>
                  <a:srgbClr val="5C5C5C"/>
                </a:solidFill>
                <a:latin typeface="Segoe UI"/>
                <a:ea typeface="Segoe UI"/>
                <a:cs typeface="Segoe UI"/>
              </a:rPr>
              <a:t>Real HTTP against the real gateway. Attacks are simulated and labelled; the webcam detections are real.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732520" y="5852160"/>
            <a:ext cx="6766560" cy="2240280"/>
          </a:xfrm>
          <a:prstGeom prst="rect">
            <a:avLst/>
          </a:prstGeom>
          <a:solidFill>
            <a:srgbClr val="F6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>
            <a:noAutofit/>
          </a:bodyPr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8732520" y="4507992"/>
            <a:ext cx="6766560" cy="1344168"/>
          </a:xfrm>
          <a:prstGeom prst="rect">
            <a:avLst/>
          </a:prstGeom>
          <a:solidFill>
            <a:srgbClr val="FFE9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>
            <a:noAutofit/>
          </a:bodyPr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138160" y="7909560"/>
            <a:ext cx="50292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400" b="0" i="0">
                <a:solidFill>
                  <a:srgbClr val="5C5C5C"/>
                </a:solidFill>
                <a:latin typeface="Consolas"/>
                <a:ea typeface="Consolas"/>
                <a:cs typeface="Consolas"/>
              </a:rPr>
              <a:t>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138160" y="5669280"/>
            <a:ext cx="50292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400" b="0" i="0">
                <a:solidFill>
                  <a:srgbClr val="5C5C5C"/>
                </a:solidFill>
                <a:latin typeface="Consolas"/>
                <a:ea typeface="Consolas"/>
                <a:cs typeface="Consolas"/>
              </a:rPr>
              <a:t>50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138160" y="4325112"/>
            <a:ext cx="50292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400" b="0" i="0">
                <a:solidFill>
                  <a:srgbClr val="5C5C5C"/>
                </a:solidFill>
                <a:latin typeface="Consolas"/>
                <a:ea typeface="Consolas"/>
                <a:cs typeface="Consolas"/>
              </a:rPr>
              <a:t>80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823960" y="589788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400" b="0" i="0">
                <a:solidFill>
                  <a:srgbClr val="5C5C5C"/>
                </a:solidFill>
                <a:latin typeface="Segoe UI"/>
                <a:ea typeface="Segoe UI"/>
                <a:cs typeface="Segoe UI"/>
              </a:rPr>
              <a:t>quarantine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823960" y="4553712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400" b="0" i="0">
                <a:solidFill>
                  <a:srgbClr val="C2410C"/>
                </a:solidFill>
                <a:latin typeface="Segoe UI"/>
                <a:ea typeface="Segoe UI"/>
                <a:cs typeface="Segoe UI"/>
              </a:rPr>
              <a:t>suspicious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8732520" y="3611880"/>
            <a:ext cx="966651" cy="448056"/>
          </a:xfrm>
          <a:prstGeom prst="line">
            <a:avLst/>
          </a:prstGeom>
          <a:ln w="285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9699171" y="4059936"/>
            <a:ext cx="966652" cy="448056"/>
          </a:xfrm>
          <a:prstGeom prst="line">
            <a:avLst/>
          </a:prstGeom>
          <a:ln w="285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10665823" y="4507992"/>
            <a:ext cx="966651" cy="358445"/>
          </a:xfrm>
          <a:prstGeom prst="line">
            <a:avLst/>
          </a:prstGeom>
          <a:ln w="285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11632474" y="4866437"/>
            <a:ext cx="966652" cy="1881835"/>
          </a:xfrm>
          <a:prstGeom prst="line">
            <a:avLst/>
          </a:prstGeom>
          <a:ln w="285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12599126" y="6748272"/>
            <a:ext cx="966651" cy="0"/>
          </a:xfrm>
          <a:prstGeom prst="line">
            <a:avLst/>
          </a:prstGeom>
          <a:ln w="285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V="1">
            <a:off x="13565777" y="4507992"/>
            <a:ext cx="966652" cy="2240280"/>
          </a:xfrm>
          <a:prstGeom prst="line">
            <a:avLst/>
          </a:prstGeom>
          <a:ln w="285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V="1">
            <a:off x="14532429" y="4283964"/>
            <a:ext cx="966651" cy="224028"/>
          </a:xfrm>
          <a:prstGeom prst="line">
            <a:avLst/>
          </a:prstGeom>
          <a:ln w="285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Oval 55"/>
          <p:cNvSpPr/>
          <p:nvPr/>
        </p:nvSpPr>
        <p:spPr>
          <a:xfrm>
            <a:off x="8622792" y="3502152"/>
            <a:ext cx="219456" cy="21945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275320" y="3108960"/>
            <a:ext cx="91440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500" b="0" i="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100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092440" y="8183880"/>
            <a:ext cx="1280160" cy="6400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95000"/>
              </a:lnSpc>
              <a:spcAft>
                <a:spcPts val="400"/>
              </a:spcAft>
            </a:pPr>
            <a:r>
              <a:rPr sz="1300" b="0" i="0">
                <a:solidFill>
                  <a:srgbClr val="5C5C5C"/>
                </a:solidFill>
                <a:latin typeface="Segoe UI"/>
                <a:ea typeface="Segoe UI"/>
                <a:cs typeface="Segoe UI"/>
              </a:rPr>
              <a:t>join</a:t>
            </a:r>
          </a:p>
        </p:txBody>
      </p:sp>
      <p:sp>
        <p:nvSpPr>
          <p:cNvPr id="59" name="Oval 58"/>
          <p:cNvSpPr/>
          <p:nvPr/>
        </p:nvSpPr>
        <p:spPr>
          <a:xfrm>
            <a:off x="9589443" y="3950208"/>
            <a:ext cx="219456" cy="21945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9241971" y="3557016"/>
            <a:ext cx="91440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500" b="0" i="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90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059091" y="8183880"/>
            <a:ext cx="1280160" cy="6400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95000"/>
              </a:lnSpc>
              <a:spcAft>
                <a:spcPts val="400"/>
              </a:spcAft>
            </a:pPr>
            <a:r>
              <a:rPr sz="1300" b="0" i="0">
                <a:solidFill>
                  <a:srgbClr val="5C5C5C"/>
                </a:solidFill>
                <a:latin typeface="Segoe UI"/>
                <a:ea typeface="Segoe UI"/>
                <a:cs typeface="Segoe UI"/>
              </a:rPr>
              <a:t>webcam</a:t>
            </a:r>
          </a:p>
        </p:txBody>
      </p:sp>
      <p:sp>
        <p:nvSpPr>
          <p:cNvPr id="62" name="Oval 61"/>
          <p:cNvSpPr/>
          <p:nvPr/>
        </p:nvSpPr>
        <p:spPr>
          <a:xfrm>
            <a:off x="10556095" y="4398264"/>
            <a:ext cx="219456" cy="21945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0208623" y="4005072"/>
            <a:ext cx="91440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500" b="0" i="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80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0025743" y="8183880"/>
            <a:ext cx="1280160" cy="6400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95000"/>
              </a:lnSpc>
              <a:spcAft>
                <a:spcPts val="400"/>
              </a:spcAft>
            </a:pPr>
            <a:r>
              <a:rPr sz="1300" b="0" i="0">
                <a:solidFill>
                  <a:srgbClr val="5C5C5C"/>
                </a:solidFill>
                <a:latin typeface="Segoe UI"/>
                <a:ea typeface="Segoe UI"/>
                <a:cs typeface="Segoe UI"/>
              </a:rPr>
              <a:t>forged</a:t>
            </a:r>
          </a:p>
        </p:txBody>
      </p:sp>
      <p:sp>
        <p:nvSpPr>
          <p:cNvPr id="65" name="Oval 64"/>
          <p:cNvSpPr/>
          <p:nvPr/>
        </p:nvSpPr>
        <p:spPr>
          <a:xfrm>
            <a:off x="11522746" y="4756709"/>
            <a:ext cx="219456" cy="21945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1175274" y="4363517"/>
            <a:ext cx="91440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500" b="0" i="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72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0992394" y="8183880"/>
            <a:ext cx="1280160" cy="6400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95000"/>
              </a:lnSpc>
              <a:spcAft>
                <a:spcPts val="400"/>
              </a:spcAft>
            </a:pPr>
            <a:r>
              <a:rPr sz="1300" b="0" i="0">
                <a:solidFill>
                  <a:srgbClr val="5C5C5C"/>
                </a:solidFill>
                <a:latin typeface="Segoe UI"/>
                <a:ea typeface="Segoe UI"/>
                <a:cs typeface="Segoe UI"/>
              </a:rPr>
              <a:t>replay</a:t>
            </a:r>
          </a:p>
        </p:txBody>
      </p:sp>
      <p:sp>
        <p:nvSpPr>
          <p:cNvPr id="68" name="Oval 67"/>
          <p:cNvSpPr/>
          <p:nvPr/>
        </p:nvSpPr>
        <p:spPr>
          <a:xfrm>
            <a:off x="12489398" y="6638544"/>
            <a:ext cx="219456" cy="219456"/>
          </a:xfrm>
          <a:prstGeom prst="ellipse">
            <a:avLst/>
          </a:prstGeom>
          <a:solidFill>
            <a:srgbClr val="FF914D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12141926" y="6885432"/>
            <a:ext cx="91440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500" b="0" i="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30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1959046" y="8183880"/>
            <a:ext cx="1280160" cy="6400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95000"/>
              </a:lnSpc>
              <a:spcAft>
                <a:spcPts val="400"/>
              </a:spcAft>
            </a:pPr>
            <a:r>
              <a:rPr sz="1300" b="0" i="0">
                <a:solidFill>
                  <a:srgbClr val="5C5C5C"/>
                </a:solidFill>
                <a:latin typeface="Segoe UI"/>
                <a:ea typeface="Segoe UI"/>
                <a:cs typeface="Segoe UI"/>
              </a:rPr>
              <a:t>tamper +
visual</a:t>
            </a:r>
          </a:p>
        </p:txBody>
      </p:sp>
      <p:sp>
        <p:nvSpPr>
          <p:cNvPr id="71" name="Oval 70"/>
          <p:cNvSpPr/>
          <p:nvPr/>
        </p:nvSpPr>
        <p:spPr>
          <a:xfrm>
            <a:off x="13456049" y="6638544"/>
            <a:ext cx="219456" cy="219456"/>
          </a:xfrm>
          <a:prstGeom prst="ellipse">
            <a:avLst/>
          </a:prstGeom>
          <a:solidFill>
            <a:srgbClr val="FF914D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13108577" y="6885432"/>
            <a:ext cx="91440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500" b="0" i="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30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2925697" y="8183880"/>
            <a:ext cx="1280160" cy="6400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95000"/>
              </a:lnSpc>
              <a:spcAft>
                <a:spcPts val="400"/>
              </a:spcAft>
            </a:pPr>
            <a:r>
              <a:rPr sz="1300" b="0" i="0">
                <a:solidFill>
                  <a:srgbClr val="5C5C5C"/>
                </a:solidFill>
                <a:latin typeface="Segoe UI"/>
                <a:ea typeface="Segoe UI"/>
                <a:cs typeface="Segoe UI"/>
              </a:rPr>
              <a:t>verified</a:t>
            </a:r>
          </a:p>
        </p:txBody>
      </p:sp>
      <p:sp>
        <p:nvSpPr>
          <p:cNvPr id="74" name="Oval 73"/>
          <p:cNvSpPr/>
          <p:nvPr/>
        </p:nvSpPr>
        <p:spPr>
          <a:xfrm>
            <a:off x="14422701" y="4398264"/>
            <a:ext cx="219456" cy="21945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14075229" y="4005072"/>
            <a:ext cx="91440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500" b="0" i="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80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3892349" y="8183880"/>
            <a:ext cx="1280160" cy="6400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95000"/>
              </a:lnSpc>
              <a:spcAft>
                <a:spcPts val="400"/>
              </a:spcAft>
            </a:pPr>
            <a:r>
              <a:rPr sz="1300" b="0" i="0">
                <a:solidFill>
                  <a:srgbClr val="5C5C5C"/>
                </a:solidFill>
                <a:latin typeface="Segoe UI"/>
                <a:ea typeface="Segoe UI"/>
                <a:cs typeface="Segoe UI"/>
              </a:rPr>
              <a:t>recovered</a:t>
            </a:r>
          </a:p>
        </p:txBody>
      </p:sp>
      <p:sp>
        <p:nvSpPr>
          <p:cNvPr id="77" name="Oval 76"/>
          <p:cNvSpPr/>
          <p:nvPr/>
        </p:nvSpPr>
        <p:spPr>
          <a:xfrm>
            <a:off x="15389352" y="4174236"/>
            <a:ext cx="219456" cy="21945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15041880" y="3781044"/>
            <a:ext cx="91440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500" b="0" i="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85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4859000" y="8183880"/>
            <a:ext cx="1280160" cy="6400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95000"/>
              </a:lnSpc>
              <a:spcAft>
                <a:spcPts val="400"/>
              </a:spcAft>
            </a:pPr>
            <a:r>
              <a:rPr sz="1300" b="0" i="0">
                <a:solidFill>
                  <a:srgbClr val="5C5C5C"/>
                </a:solidFill>
                <a:latin typeface="Segoe UI"/>
                <a:ea typeface="Segoe UI"/>
                <a:cs typeface="Segoe UI"/>
              </a:rPr>
              <a:t>trusted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732520" y="8823960"/>
            <a:ext cx="676656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400" b="0" i="0">
                <a:solidFill>
                  <a:srgbClr val="5C5C5C"/>
                </a:solidFill>
                <a:latin typeface="Segoe UI"/>
                <a:ea typeface="Segoe UI"/>
                <a:cs typeface="Segoe UI"/>
              </a:rPr>
              <a:t>Live run on the USB webcam, 2026-10-02; recovery shown in announced time-lapse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822960" y="9747504"/>
            <a:ext cx="822960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 i="0">
                <a:solidFill>
                  <a:srgbClr val="000000"/>
                </a:solidFill>
                <a:latin typeface="Segoe UI Semibold"/>
                <a:ea typeface="Segoe UI Semibold"/>
                <a:cs typeface="Segoe UI Semibold"/>
              </a:rPr>
              <a:t>Q-SHIELD</a:t>
            </a:r>
            <a:r>
              <a:rPr sz="1500" b="0" i="0">
                <a:solidFill>
                  <a:srgbClr val="000000"/>
                </a:solidFill>
                <a:latin typeface="Segoe UI"/>
                <a:ea typeface="Segoe UI"/>
                <a:cs typeface="Segoe UI"/>
              </a:rPr>
              <a:t>   continuous device trust with post-quantum-signed evidence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3350240" y="9747504"/>
            <a:ext cx="228600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500" b="0" i="0">
                <a:solidFill>
                  <a:srgbClr val="000000"/>
                </a:solidFill>
                <a:latin typeface="Segoe UI"/>
                <a:ea typeface="Segoe UI"/>
                <a:cs typeface="Segoe UI"/>
              </a:rPr>
              <a:t>23 / 24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name="Freeform 2" id="2"/>
          <p:cNvSpPr/>
          <p:nvPr/>
        </p:nvSpPr>
        <p:spPr>
          <a:xfrm flipH="false" flipV="false" rot="0">
            <a:off x="-350872" y="9397527"/>
            <a:ext cx="14979358" cy="908523"/>
          </a:xfrm>
          <a:custGeom>
            <a:avLst/>
            <a:gdLst/>
            <a:ahLst/>
            <a:cxnLst/>
            <a:rect r="r" b="b" t="t" l="l"/>
            <a:pathLst>
              <a:path h="908523" w="14979358">
                <a:moveTo>
                  <a:pt x="0" y="0"/>
                </a:moveTo>
                <a:lnTo>
                  <a:pt x="14979357" y="0"/>
                </a:lnTo>
                <a:lnTo>
                  <a:pt x="14979357" y="908523"/>
                </a:lnTo>
                <a:lnTo>
                  <a:pt x="0" y="90852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2273265" y="1130884"/>
            <a:ext cx="6870735" cy="543077"/>
            <a:chOff x="0" y="0"/>
            <a:chExt cx="9160980" cy="72410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9161018" cy="724154"/>
            </a:xfrm>
            <a:custGeom>
              <a:avLst/>
              <a:gdLst/>
              <a:ahLst/>
              <a:cxnLst/>
              <a:rect r="r" b="b" t="t" l="l"/>
              <a:pathLst>
                <a:path h="724154" w="9161018">
                  <a:moveTo>
                    <a:pt x="0" y="0"/>
                  </a:moveTo>
                  <a:lnTo>
                    <a:pt x="9161018" y="0"/>
                  </a:lnTo>
                  <a:lnTo>
                    <a:pt x="9161018" y="724154"/>
                  </a:lnTo>
                  <a:lnTo>
                    <a:pt x="0" y="72415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914D"/>
            </a:solidFill>
          </p:spPr>
        </p:sp>
      </p:grpSp>
      <p:grpSp>
        <p:nvGrpSpPr>
          <p:cNvPr name="Group 5" id="5"/>
          <p:cNvGrpSpPr/>
          <p:nvPr/>
        </p:nvGrpSpPr>
        <p:grpSpPr>
          <a:xfrm rot="-10800000">
            <a:off x="9124950" y="1130884"/>
            <a:ext cx="6870735" cy="543077"/>
            <a:chOff x="0" y="0"/>
            <a:chExt cx="9160980" cy="724103"/>
          </a:xfrm>
        </p:grpSpPr>
        <p:sp>
          <p:nvSpPr>
            <p:cNvPr name="Freeform 6" id="6"/>
            <p:cNvSpPr/>
            <p:nvPr/>
          </p:nvSpPr>
          <p:spPr>
            <a:xfrm flipH="false" flipV="true" rot="0">
              <a:off x="0" y="0"/>
              <a:ext cx="9161018" cy="724154"/>
            </a:xfrm>
            <a:custGeom>
              <a:avLst/>
              <a:gdLst/>
              <a:ahLst/>
              <a:cxnLst/>
              <a:rect r="r" b="b" t="t" l="l"/>
              <a:pathLst>
                <a:path h="724154" w="9161018">
                  <a:moveTo>
                    <a:pt x="0" y="724154"/>
                  </a:moveTo>
                  <a:lnTo>
                    <a:pt x="9161018" y="724154"/>
                  </a:lnTo>
                  <a:lnTo>
                    <a:pt x="9161018" y="0"/>
                  </a:lnTo>
                  <a:lnTo>
                    <a:pt x="0" y="0"/>
                  </a:lnTo>
                  <a:lnTo>
                    <a:pt x="0" y="724154"/>
                  </a:lnTo>
                  <a:close/>
                </a:path>
              </a:pathLst>
            </a:custGeom>
            <a:solidFill>
              <a:srgbClr val="FF914D"/>
            </a:solidFill>
          </p:spPr>
        </p:sp>
      </p:grpSp>
      <p:grpSp>
        <p:nvGrpSpPr>
          <p:cNvPr name="Group 7" id="7"/>
          <p:cNvGrpSpPr/>
          <p:nvPr/>
        </p:nvGrpSpPr>
        <p:grpSpPr>
          <a:xfrm rot="-10800000">
            <a:off x="-32871" y="1130884"/>
            <a:ext cx="3068079" cy="503739"/>
            <a:chOff x="0" y="0"/>
            <a:chExt cx="4090772" cy="671652"/>
          </a:xfrm>
        </p:grpSpPr>
        <p:sp>
          <p:nvSpPr>
            <p:cNvPr name="Freeform 8" id="8"/>
            <p:cNvSpPr/>
            <p:nvPr/>
          </p:nvSpPr>
          <p:spPr>
            <a:xfrm flipH="false" flipV="true" rot="0">
              <a:off x="0" y="0"/>
              <a:ext cx="4090797" cy="671703"/>
            </a:xfrm>
            <a:custGeom>
              <a:avLst/>
              <a:gdLst/>
              <a:ahLst/>
              <a:cxnLst/>
              <a:rect r="r" b="b" t="t" l="l"/>
              <a:pathLst>
                <a:path h="671703" w="4090797">
                  <a:moveTo>
                    <a:pt x="0" y="671703"/>
                  </a:moveTo>
                  <a:lnTo>
                    <a:pt x="4090797" y="671703"/>
                  </a:lnTo>
                  <a:lnTo>
                    <a:pt x="4090797" y="0"/>
                  </a:lnTo>
                  <a:lnTo>
                    <a:pt x="0" y="0"/>
                  </a:lnTo>
                  <a:lnTo>
                    <a:pt x="0" y="671703"/>
                  </a:lnTo>
                  <a:close/>
                </a:path>
              </a:pathLst>
            </a:custGeom>
            <a:solidFill>
              <a:srgbClr val="FF914D"/>
            </a:solidFill>
          </p:spPr>
        </p:sp>
      </p:grpSp>
      <p:sp>
        <p:nvSpPr>
          <p:cNvPr name="Freeform 9" id="9"/>
          <p:cNvSpPr/>
          <p:nvPr/>
        </p:nvSpPr>
        <p:spPr>
          <a:xfrm flipH="false" flipV="false" rot="-5400000">
            <a:off x="12120564" y="5052657"/>
            <a:ext cx="10084834" cy="2269088"/>
          </a:xfrm>
          <a:custGeom>
            <a:avLst/>
            <a:gdLst/>
            <a:ahLst/>
            <a:cxnLst/>
            <a:rect r="r" b="b" t="t" l="l"/>
            <a:pathLst>
              <a:path h="2269088" w="10084834">
                <a:moveTo>
                  <a:pt x="0" y="0"/>
                </a:moveTo>
                <a:lnTo>
                  <a:pt x="10084834" y="0"/>
                </a:lnTo>
                <a:lnTo>
                  <a:pt x="10084834" y="2269088"/>
                </a:lnTo>
                <a:lnTo>
                  <a:pt x="0" y="226908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-10800000">
            <a:off x="15248496" y="1130884"/>
            <a:ext cx="3068079" cy="503739"/>
            <a:chOff x="0" y="0"/>
            <a:chExt cx="4090772" cy="671652"/>
          </a:xfrm>
        </p:grpSpPr>
        <p:sp>
          <p:nvSpPr>
            <p:cNvPr name="Freeform 11" id="11"/>
            <p:cNvSpPr/>
            <p:nvPr/>
          </p:nvSpPr>
          <p:spPr>
            <a:xfrm flipH="false" flipV="true" rot="0">
              <a:off x="0" y="0"/>
              <a:ext cx="4090797" cy="671703"/>
            </a:xfrm>
            <a:custGeom>
              <a:avLst/>
              <a:gdLst/>
              <a:ahLst/>
              <a:cxnLst/>
              <a:rect r="r" b="b" t="t" l="l"/>
              <a:pathLst>
                <a:path h="671703" w="4090797">
                  <a:moveTo>
                    <a:pt x="0" y="671703"/>
                  </a:moveTo>
                  <a:lnTo>
                    <a:pt x="4090797" y="671703"/>
                  </a:lnTo>
                  <a:lnTo>
                    <a:pt x="4090797" y="0"/>
                  </a:lnTo>
                  <a:lnTo>
                    <a:pt x="0" y="0"/>
                  </a:lnTo>
                  <a:lnTo>
                    <a:pt x="0" y="671703"/>
                  </a:lnTo>
                  <a:close/>
                </a:path>
              </a:pathLst>
            </a:custGeom>
            <a:solidFill>
              <a:srgbClr val="FF914D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5688825" y="96222"/>
            <a:ext cx="2423739" cy="924096"/>
            <a:chOff x="0" y="0"/>
            <a:chExt cx="2307438" cy="879754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307463" cy="879729"/>
            </a:xfrm>
            <a:custGeom>
              <a:avLst/>
              <a:gdLst/>
              <a:ahLst/>
              <a:cxnLst/>
              <a:rect r="r" b="b" t="t" l="l"/>
              <a:pathLst>
                <a:path h="879729" w="2307463">
                  <a:moveTo>
                    <a:pt x="0" y="0"/>
                  </a:moveTo>
                  <a:lnTo>
                    <a:pt x="2307463" y="0"/>
                  </a:lnTo>
                  <a:lnTo>
                    <a:pt x="2307463" y="879729"/>
                  </a:lnTo>
                  <a:lnTo>
                    <a:pt x="0" y="8797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-76294" r="1" b="-85995"/>
              </a:stretch>
            </a:blipFill>
          </p:spPr>
        </p:sp>
      </p:grpSp>
      <p:sp>
        <p:nvSpPr>
          <p:cNvPr name="Freeform 14" id="14"/>
          <p:cNvSpPr/>
          <p:nvPr/>
        </p:nvSpPr>
        <p:spPr>
          <a:xfrm flipH="false" flipV="false" rot="0">
            <a:off x="9857003" y="9404671"/>
            <a:ext cx="14979358" cy="908523"/>
          </a:xfrm>
          <a:custGeom>
            <a:avLst/>
            <a:gdLst/>
            <a:ahLst/>
            <a:cxnLst/>
            <a:rect r="r" b="b" t="t" l="l"/>
            <a:pathLst>
              <a:path h="908523" w="14979358">
                <a:moveTo>
                  <a:pt x="0" y="0"/>
                </a:moveTo>
                <a:lnTo>
                  <a:pt x="14979358" y="0"/>
                </a:lnTo>
                <a:lnTo>
                  <a:pt x="14979358" y="908523"/>
                </a:lnTo>
                <a:lnTo>
                  <a:pt x="0" y="90852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252268" y="89049"/>
            <a:ext cx="2497801" cy="1034663"/>
          </a:xfrm>
          <a:custGeom>
            <a:avLst/>
            <a:gdLst/>
            <a:ahLst/>
            <a:cxnLst/>
            <a:rect r="r" b="b" t="t" l="l"/>
            <a:pathLst>
              <a:path h="1034663" w="2497801">
                <a:moveTo>
                  <a:pt x="0" y="0"/>
                </a:moveTo>
                <a:lnTo>
                  <a:pt x="2497801" y="0"/>
                </a:lnTo>
                <a:lnTo>
                  <a:pt x="2497801" y="1034663"/>
                </a:lnTo>
                <a:lnTo>
                  <a:pt x="0" y="103466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5988" t="-27243" r="-4375" b="-52819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6236411" y="74654"/>
            <a:ext cx="5815177" cy="987762"/>
          </a:xfrm>
          <a:custGeom>
            <a:avLst/>
            <a:gdLst/>
            <a:ahLst/>
            <a:cxnLst/>
            <a:rect r="r" b="b" t="t" l="l"/>
            <a:pathLst>
              <a:path h="987762" w="5815177">
                <a:moveTo>
                  <a:pt x="0" y="0"/>
                </a:moveTo>
                <a:lnTo>
                  <a:pt x="5815178" y="0"/>
                </a:lnTo>
                <a:lnTo>
                  <a:pt x="5815178" y="987762"/>
                </a:lnTo>
                <a:lnTo>
                  <a:pt x="0" y="987762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-11062" t="-153011" r="-9149" b="-154810"/>
            </a:stretch>
          </a:blipFill>
        </p:spPr>
      </p:sp>
      <p:sp>
        <p:nvSpPr>
          <p:cNvPr id="21" name="TextBox 20"/>
          <p:cNvSpPr txBox="1"/>
          <p:nvPr/>
        </p:nvSpPr>
        <p:spPr>
          <a:xfrm>
            <a:off x="822960" y="1810512"/>
            <a:ext cx="10972800" cy="3291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 i="0">
                <a:solidFill>
                  <a:srgbClr val="C2410C"/>
                </a:solidFill>
                <a:latin typeface="Segoe UI Semibold"/>
                <a:ea typeface="Segoe UI Semibold"/>
                <a:cs typeface="Segoe UI Semibold"/>
              </a:rPr>
              <a:t>6. Expected Outcome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2084832"/>
            <a:ext cx="14813280" cy="7315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4000" b="0" i="0">
                <a:solidFill>
                  <a:srgbClr val="000000"/>
                </a:solidFill>
                <a:latin typeface="Bahnschrift SemiBold"/>
                <a:ea typeface="Bahnschrift SemiBold"/>
                <a:cs typeface="Bahnschrift SemiBold"/>
              </a:rPr>
              <a:t>Real-world impact and future scope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2761488"/>
            <a:ext cx="1481328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100" b="0" i="0">
                <a:solidFill>
                  <a:srgbClr val="5C5C5C"/>
                </a:solidFill>
                <a:latin typeface="Segoe UI"/>
                <a:ea typeface="Segoe UI"/>
                <a:cs typeface="Segoe UI"/>
              </a:rPr>
              <a:t>What is still missing, what comes next, and why it matters</a:t>
            </a:r>
          </a:p>
        </p:txBody>
      </p:sp>
      <p:sp>
        <p:nvSpPr>
          <p:cNvPr id="24" name="Oval 23"/>
          <p:cNvSpPr/>
          <p:nvPr/>
        </p:nvSpPr>
        <p:spPr>
          <a:xfrm>
            <a:off x="822960" y="3246120"/>
            <a:ext cx="128016" cy="128016"/>
          </a:xfrm>
          <a:prstGeom prst="ellipse">
            <a:avLst/>
          </a:prstGeom>
          <a:solidFill>
            <a:srgbClr val="FFFFFF"/>
          </a:solidFill>
          <a:ln w="22225">
            <a:solidFill>
              <a:srgbClr val="FF91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5" name="Connector 24"/>
          <p:cNvCxnSpPr/>
          <p:nvPr/>
        </p:nvCxnSpPr>
        <p:spPr>
          <a:xfrm>
            <a:off x="950976" y="3310128"/>
            <a:ext cx="1335024" cy="0"/>
          </a:xfrm>
          <a:prstGeom prst="line">
            <a:avLst/>
          </a:prstGeom>
          <a:ln w="22225">
            <a:solidFill>
              <a:srgbClr val="FF91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822960" y="3429000"/>
            <a:ext cx="493776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100" b="0" i="0">
                <a:solidFill>
                  <a:srgbClr val="1A1A1A"/>
                </a:solidFill>
                <a:latin typeface="Segoe UI Semibold"/>
                <a:ea typeface="Segoe UI Semibold"/>
                <a:cs typeface="Segoe UI Semibold"/>
              </a:rPr>
              <a:t>Honest boundaries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" y="3931920"/>
            <a:ext cx="4937760" cy="42062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292608" indent="-292608">
              <a:lnSpc>
                <a:spcPct val="108000"/>
              </a:lnSpc>
              <a:spcAft>
                <a:spcPts val="500"/>
              </a:spcAft>
              <a:buClr>
                <a:srgbClr val="5C5C5C"/>
              </a:buClr>
              <a:buSzPct val="70000"/>
              <a:buFont typeface="Arial"/>
              <a:buChar char="■"/>
            </a:pPr>
            <a:r>
              <a:rPr sz="1700" b="0" i="0">
                <a:solidFill>
                  <a:srgbClr val="1A1A1A"/>
                </a:solidFill>
                <a:latin typeface="Segoe UI"/>
                <a:ea typeface="Segoe UI"/>
                <a:cs typeface="Segoe UI"/>
              </a:rPr>
              <a:t>device telemetry simulated; ESP32 never compiled</a:t>
            </a:r>
          </a:p>
          <a:p>
            <a:pPr algn="l" marL="292608" indent="-292608">
              <a:lnSpc>
                <a:spcPct val="108000"/>
              </a:lnSpc>
              <a:spcAft>
                <a:spcPts val="500"/>
              </a:spcAft>
              <a:buClr>
                <a:srgbClr val="5C5C5C"/>
              </a:buClr>
              <a:buSzPct val="70000"/>
              <a:buFont typeface="Arial"/>
              <a:buChar char="■"/>
            </a:pPr>
            <a:r>
              <a:rPr sz="1700" b="0" i="0">
                <a:solidFill>
                  <a:srgbClr val="1A1A1A"/>
                </a:solidFill>
                <a:latin typeface="Segoe UI"/>
                <a:ea typeface="Segoe UI"/>
                <a:cs typeface="Segoe UI"/>
              </a:rPr>
              <a:t>device path HMAC-SHA256, not post-quantum</a:t>
            </a:r>
          </a:p>
          <a:p>
            <a:pPr algn="l" marL="292608" indent="-292608">
              <a:lnSpc>
                <a:spcPct val="108000"/>
              </a:lnSpc>
              <a:spcAft>
                <a:spcPts val="500"/>
              </a:spcAft>
              <a:buClr>
                <a:srgbClr val="5C5C5C"/>
              </a:buClr>
              <a:buSzPct val="70000"/>
              <a:buFont typeface="Arial"/>
              <a:buChar char="■"/>
            </a:pPr>
            <a:r>
              <a:rPr sz="1700" b="0" i="0">
                <a:solidFill>
                  <a:srgbClr val="1A1A1A"/>
                </a:solidFill>
                <a:latin typeface="Segoe UI"/>
                <a:ea typeface="Segoe UI"/>
                <a:cs typeface="Segoe UI"/>
              </a:rPr>
              <a:t>no hardware attestation</a:t>
            </a:r>
          </a:p>
          <a:p>
            <a:pPr algn="l" marL="292608" indent="-292608">
              <a:lnSpc>
                <a:spcPct val="108000"/>
              </a:lnSpc>
              <a:spcAft>
                <a:spcPts val="500"/>
              </a:spcAft>
              <a:buClr>
                <a:srgbClr val="5C5C5C"/>
              </a:buClr>
              <a:buSzPct val="70000"/>
              <a:buFont typeface="Arial"/>
              <a:buChar char="■"/>
            </a:pPr>
            <a:r>
              <a:rPr sz="1700" b="0" i="0">
                <a:solidFill>
                  <a:srgbClr val="1A1A1A"/>
                </a:solidFill>
                <a:latin typeface="Segoe UI"/>
                <a:ea typeface="Segoe UI"/>
                <a:cs typeface="Segoe UI"/>
              </a:rPr>
              <a:t>camera thresholds unvalidated; proximity is not a distance</a:t>
            </a:r>
          </a:p>
          <a:p>
            <a:pPr algn="l" marL="292608" indent="-292608">
              <a:lnSpc>
                <a:spcPct val="108000"/>
              </a:lnSpc>
              <a:spcAft>
                <a:spcPts val="500"/>
              </a:spcAft>
              <a:buClr>
                <a:srgbClr val="5C5C5C"/>
              </a:buClr>
              <a:buSzPct val="70000"/>
              <a:buFont typeface="Arial"/>
              <a:buChar char="■"/>
            </a:pPr>
            <a:r>
              <a:rPr sz="1700" b="0" i="0">
                <a:solidFill>
                  <a:srgbClr val="1A1A1A"/>
                </a:solidFill>
                <a:latin typeface="Segoe UI"/>
                <a:ea typeface="Segoe UI"/>
                <a:cs typeface="Segoe UI"/>
              </a:rPr>
              <a:t>evidence chain not anchored externally</a:t>
            </a:r>
          </a:p>
          <a:p>
            <a:pPr algn="l" marL="292608" indent="-292608">
              <a:lnSpc>
                <a:spcPct val="108000"/>
              </a:lnSpc>
              <a:spcAft>
                <a:spcPts val="500"/>
              </a:spcAft>
              <a:buClr>
                <a:srgbClr val="5C5C5C"/>
              </a:buClr>
              <a:buSzPct val="70000"/>
              <a:buFont typeface="Arial"/>
              <a:buChar char="■"/>
            </a:pPr>
            <a:r>
              <a:rPr sz="1700" b="0" i="0">
                <a:solidFill>
                  <a:srgbClr val="1A1A1A"/>
                </a:solidFill>
                <a:latin typeface="Segoe UI"/>
                <a:ea typeface="Segoe UI"/>
                <a:cs typeface="Segoe UI"/>
              </a:rPr>
              <a:t>single gateway; trust parameters uncalibrated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080760" y="3429000"/>
            <a:ext cx="475488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100" b="0" i="0">
                <a:solidFill>
                  <a:srgbClr val="1A1A1A"/>
                </a:solidFill>
                <a:latin typeface="Segoe UI Semibold"/>
                <a:ea typeface="Segoe UI Semibold"/>
                <a:cs typeface="Segoe UI Semibold"/>
              </a:rPr>
              <a:t>Next, with hardware</a:t>
            </a:r>
          </a:p>
        </p:txBody>
      </p:sp>
      <p:sp>
        <p:nvSpPr>
          <p:cNvPr id="29" name="Oval 28"/>
          <p:cNvSpPr/>
          <p:nvPr/>
        </p:nvSpPr>
        <p:spPr>
          <a:xfrm>
            <a:off x="6080760" y="3977640"/>
            <a:ext cx="457200" cy="457200"/>
          </a:xfrm>
          <a:prstGeom prst="ellipse">
            <a:avLst/>
          </a:prstGeom>
          <a:solidFill>
            <a:srgbClr val="FF914D"/>
          </a:solidFill>
          <a:ln w="19050">
            <a:solidFill>
              <a:srgbClr val="FF91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>
            <a:noAutofit/>
          </a:bodyPr>
          <a:lstStyle/>
          <a:p>
            <a:pPr algn="ctr">
              <a:lnSpc>
                <a:spcPct val="100000"/>
              </a:lnSpc>
            </a:pPr>
            <a:r>
              <a:rPr sz="1500" b="0" i="0">
                <a:solidFill>
                  <a:srgbClr val="1A1A1A"/>
                </a:solidFill>
                <a:latin typeface="Segoe UI Semibold"/>
                <a:ea typeface="Segoe UI Semibold"/>
                <a:cs typeface="Segoe UI Semibold"/>
              </a:rPr>
              <a:t>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75120" y="3959352"/>
            <a:ext cx="4206240" cy="685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700" b="0" i="0">
                <a:solidFill>
                  <a:srgbClr val="1A1A1A"/>
                </a:solidFill>
                <a:latin typeface="Segoe UI"/>
                <a:ea typeface="Segoe UI"/>
                <a:cs typeface="Segoe UI"/>
              </a:rPr>
              <a:t>compile and flash; match the 7 test vectors</a:t>
            </a:r>
          </a:p>
        </p:txBody>
      </p:sp>
      <p:sp>
        <p:nvSpPr>
          <p:cNvPr id="31" name="Oval 30"/>
          <p:cNvSpPr/>
          <p:nvPr/>
        </p:nvSpPr>
        <p:spPr>
          <a:xfrm>
            <a:off x="6080760" y="4727448"/>
            <a:ext cx="457200" cy="457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FF91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>
            <a:noAutofit/>
          </a:bodyPr>
          <a:lstStyle/>
          <a:p>
            <a:pPr algn="ctr">
              <a:lnSpc>
                <a:spcPct val="100000"/>
              </a:lnSpc>
            </a:pPr>
            <a:r>
              <a:rPr sz="1500" b="0" i="0">
                <a:solidFill>
                  <a:srgbClr val="1A1A1A"/>
                </a:solidFill>
                <a:latin typeface="Segoe UI Semibold"/>
                <a:ea typeface="Segoe UI Semibold"/>
                <a:cs typeface="Segoe UI Semibold"/>
              </a:rPr>
              <a:t>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75120" y="4709160"/>
            <a:ext cx="4206240" cy="685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700" b="0" i="0">
                <a:solidFill>
                  <a:srgbClr val="1A1A1A"/>
                </a:solidFill>
                <a:latin typeface="Segoe UI"/>
                <a:ea typeface="Segoe UI"/>
                <a:cs typeface="Segoe UI"/>
              </a:rPr>
              <a:t>wire the reed switch, then BME280 and MPU6050</a:t>
            </a:r>
          </a:p>
        </p:txBody>
      </p:sp>
      <p:sp>
        <p:nvSpPr>
          <p:cNvPr id="33" name="Oval 32"/>
          <p:cNvSpPr/>
          <p:nvPr/>
        </p:nvSpPr>
        <p:spPr>
          <a:xfrm>
            <a:off x="6080760" y="5477256"/>
            <a:ext cx="457200" cy="457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FF91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>
            <a:noAutofit/>
          </a:bodyPr>
          <a:lstStyle/>
          <a:p>
            <a:pPr algn="ctr">
              <a:lnSpc>
                <a:spcPct val="100000"/>
              </a:lnSpc>
            </a:pPr>
            <a:r>
              <a:rPr sz="1500" b="0" i="0">
                <a:solidFill>
                  <a:srgbClr val="1A1A1A"/>
                </a:solidFill>
                <a:latin typeface="Segoe UI Semibold"/>
                <a:ea typeface="Segoe UI Semibold"/>
                <a:cs typeface="Segoe UI Semibold"/>
              </a:rPr>
              <a:t>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75120" y="5458968"/>
            <a:ext cx="4206240" cy="685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700" b="0" i="0">
                <a:solidFill>
                  <a:srgbClr val="1A1A1A"/>
                </a:solidFill>
                <a:latin typeface="Segoe UI"/>
                <a:ea typeface="Segoe UI"/>
                <a:cs typeface="Segoe UI"/>
              </a:rPr>
              <a:t>stage camera tests: cover, turn, unplug, approach</a:t>
            </a:r>
          </a:p>
        </p:txBody>
      </p:sp>
      <p:sp>
        <p:nvSpPr>
          <p:cNvPr id="35" name="Oval 34"/>
          <p:cNvSpPr/>
          <p:nvPr/>
        </p:nvSpPr>
        <p:spPr>
          <a:xfrm>
            <a:off x="6080760" y="6227064"/>
            <a:ext cx="457200" cy="457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FF91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>
            <a:noAutofit/>
          </a:bodyPr>
          <a:lstStyle/>
          <a:p>
            <a:pPr algn="ctr">
              <a:lnSpc>
                <a:spcPct val="100000"/>
              </a:lnSpc>
            </a:pPr>
            <a:r>
              <a:rPr sz="1500" b="0" i="0">
                <a:solidFill>
                  <a:srgbClr val="1A1A1A"/>
                </a:solidFill>
                <a:latin typeface="Segoe UI Semibold"/>
                <a:ea typeface="Segoe UI Semibold"/>
                <a:cs typeface="Segoe UI Semibold"/>
              </a:rPr>
              <a:t>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675120" y="6208776"/>
            <a:ext cx="4206240" cy="685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700" b="0" i="0">
                <a:solidFill>
                  <a:srgbClr val="1A1A1A"/>
                </a:solidFill>
                <a:latin typeface="Segoe UI"/>
                <a:ea typeface="Segoe UI"/>
                <a:cs typeface="Segoe UI"/>
              </a:rPr>
              <a:t>measure, then calibrate thresholds</a:t>
            </a:r>
          </a:p>
        </p:txBody>
      </p:sp>
      <p:sp>
        <p:nvSpPr>
          <p:cNvPr id="37" name="Oval 36"/>
          <p:cNvSpPr/>
          <p:nvPr/>
        </p:nvSpPr>
        <p:spPr>
          <a:xfrm>
            <a:off x="6080760" y="6976872"/>
            <a:ext cx="457200" cy="457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FF91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>
            <a:noAutofit/>
          </a:bodyPr>
          <a:lstStyle/>
          <a:p>
            <a:pPr algn="ctr">
              <a:lnSpc>
                <a:spcPct val="100000"/>
              </a:lnSpc>
            </a:pPr>
            <a:r>
              <a:rPr sz="1500" b="0" i="0">
                <a:solidFill>
                  <a:srgbClr val="1A1A1A"/>
                </a:solidFill>
                <a:latin typeface="Segoe UI Semibold"/>
                <a:ea typeface="Segoe UI Semibold"/>
                <a:cs typeface="Segoe UI Semibold"/>
              </a:rP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75120" y="6958584"/>
            <a:ext cx="4206240" cy="685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700" b="0" i="0">
                <a:solidFill>
                  <a:srgbClr val="1A1A1A"/>
                </a:solidFill>
                <a:latin typeface="Segoe UI"/>
                <a:ea typeface="Segoe UI"/>
                <a:cs typeface="Segoe UI"/>
              </a:rPr>
              <a:t>anchor the evidence head externally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3429000"/>
            <a:ext cx="429768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100" b="0" i="0">
                <a:solidFill>
                  <a:srgbClr val="1A1A1A"/>
                </a:solidFill>
                <a:latin typeface="Segoe UI Semibold"/>
                <a:ea typeface="Segoe UI Semibold"/>
                <a:cs typeface="Segoe UI Semibold"/>
              </a:rPr>
              <a:t>Impact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338560" y="3931920"/>
            <a:ext cx="4297680" cy="42062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292608" indent="-292608">
              <a:lnSpc>
                <a:spcPct val="108000"/>
              </a:lnSpc>
              <a:spcAft>
                <a:spcPts val="800"/>
              </a:spcAft>
              <a:buClr>
                <a:srgbClr val="FF914D"/>
              </a:buClr>
              <a:buSzPct val="70000"/>
              <a:buFont typeface="Arial"/>
              <a:buChar char="■"/>
            </a:pPr>
            <a:r>
              <a:rPr sz="1700" b="0" i="0">
                <a:solidFill>
                  <a:srgbClr val="1A1A1A"/>
                </a:solidFill>
                <a:latin typeface="Segoe UI"/>
                <a:ea typeface="Segoe UI"/>
                <a:cs typeface="Segoe UI"/>
              </a:rPr>
              <a:t>labs, server rooms and critical sites get devices that must keep earning trust</a:t>
            </a:r>
          </a:p>
          <a:p>
            <a:pPr algn="l" marL="292608" indent="-292608">
              <a:lnSpc>
                <a:spcPct val="108000"/>
              </a:lnSpc>
              <a:spcAft>
                <a:spcPts val="800"/>
              </a:spcAft>
              <a:buClr>
                <a:srgbClr val="FF914D"/>
              </a:buClr>
              <a:buSzPct val="70000"/>
              <a:buFont typeface="Arial"/>
              <a:buChar char="■"/>
            </a:pPr>
            <a:r>
              <a:rPr sz="1700" b="0" i="0">
                <a:solidFill>
                  <a:srgbClr val="1A1A1A"/>
                </a:solidFill>
                <a:latin typeface="Segoe UI"/>
                <a:ea typeface="Segoe UI"/>
                <a:cs typeface="Segoe UI"/>
              </a:rPr>
              <a:t>incidents arrive with a signed, explainable trail</a:t>
            </a:r>
          </a:p>
          <a:p>
            <a:pPr algn="l" marL="292608" indent="-292608">
              <a:lnSpc>
                <a:spcPct val="108000"/>
              </a:lnSpc>
              <a:spcAft>
                <a:spcPts val="800"/>
              </a:spcAft>
              <a:buClr>
                <a:srgbClr val="FF914D"/>
              </a:buClr>
              <a:buSzPct val="70000"/>
              <a:buFont typeface="Arial"/>
              <a:buChar char="■"/>
            </a:pPr>
            <a:r>
              <a:rPr sz="1700" b="0" i="0">
                <a:solidFill>
                  <a:srgbClr val="1A1A1A"/>
                </a:solidFill>
                <a:latin typeface="Segoe UI"/>
                <a:ea typeface="Segoe UI"/>
                <a:cs typeface="Segoe UI"/>
              </a:rPr>
              <a:t>evidence stays unforgeable into the quantum era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822960" y="8183880"/>
            <a:ext cx="14813280" cy="0"/>
          </a:xfrm>
          <a:prstGeom prst="line">
            <a:avLst/>
          </a:prstGeom>
          <a:ln w="25400">
            <a:solidFill>
              <a:srgbClr val="FF91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822960" y="8302752"/>
            <a:ext cx="14813280" cy="7772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3000" b="0" i="0">
                <a:solidFill>
                  <a:srgbClr val="000000"/>
                </a:solidFill>
                <a:latin typeface="Bahnschrift SemiBold"/>
                <a:ea typeface="Bahnschrift SemiBold"/>
                <a:cs typeface="Bahnschrift SemiBold"/>
              </a:rPr>
              <a:t>Authenticate once.  Verify continuously.  Recover only with evidence.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22960" y="9747504"/>
            <a:ext cx="822960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 i="0">
                <a:solidFill>
                  <a:srgbClr val="000000"/>
                </a:solidFill>
                <a:latin typeface="Segoe UI Semibold"/>
                <a:ea typeface="Segoe UI Semibold"/>
                <a:cs typeface="Segoe UI Semibold"/>
              </a:rPr>
              <a:t>Q-SHIELD</a:t>
            </a:r>
            <a:r>
              <a:rPr sz="1500" b="0" i="0">
                <a:solidFill>
                  <a:srgbClr val="000000"/>
                </a:solidFill>
                <a:latin typeface="Segoe UI"/>
                <a:ea typeface="Segoe UI"/>
                <a:cs typeface="Segoe UI"/>
              </a:rPr>
              <a:t>   continuous device trust with post-quantum-signed evidence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3350240" y="9747504"/>
            <a:ext cx="228600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500" b="0" i="0">
                <a:solidFill>
                  <a:srgbClr val="000000"/>
                </a:solidFill>
                <a:latin typeface="Segoe UI"/>
                <a:ea typeface="Segoe UI"/>
                <a:cs typeface="Segoe UI"/>
              </a:rPr>
              <a:t>24 / 24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DAHUTjJQEdw</dc:identifier>
  <dcterms:modified xsi:type="dcterms:W3CDTF">2011-08-01T06:04:30Z</dcterms:modified>
  <cp:revision>1</cp:revision>
  <dc:title>Quant-A-Maze 3.O Hackathon</dc:title>
</cp:coreProperties>
</file>